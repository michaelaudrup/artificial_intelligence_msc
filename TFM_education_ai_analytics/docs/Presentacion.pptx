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1" r:id="rId2"/>
    <p:sldId id="2566" r:id="rId3"/>
    <p:sldId id="2615" r:id="rId4"/>
    <p:sldId id="2616" r:id="rId5"/>
    <p:sldId id="2574" r:id="rId6"/>
    <p:sldId id="2618" r:id="rId7"/>
    <p:sldId id="2565" r:id="rId8"/>
    <p:sldId id="2582" r:id="rId9"/>
    <p:sldId id="2581" r:id="rId10"/>
    <p:sldId id="2620" r:id="rId11"/>
    <p:sldId id="2586" r:id="rId12"/>
    <p:sldId id="2587" r:id="rId13"/>
    <p:sldId id="2622" r:id="rId14"/>
    <p:sldId id="2623" r:id="rId15"/>
    <p:sldId id="2578" r:id="rId16"/>
    <p:sldId id="2590" r:id="rId17"/>
    <p:sldId id="2592" r:id="rId18"/>
    <p:sldId id="2595" r:id="rId19"/>
    <p:sldId id="2602" r:id="rId20"/>
    <p:sldId id="2601" r:id="rId21"/>
    <p:sldId id="2603" r:id="rId22"/>
    <p:sldId id="2604" r:id="rId23"/>
    <p:sldId id="2607" r:id="rId24"/>
    <p:sldId id="2606" r:id="rId25"/>
    <p:sldId id="2608" r:id="rId26"/>
    <p:sldId id="2609" r:id="rId27"/>
    <p:sldId id="2613" r:id="rId28"/>
    <p:sldId id="2610" r:id="rId29"/>
    <p:sldId id="2614" r:id="rId3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tección Temprana de Riesgo Académico en Plataformas Educativas mediante IA: Análisis y Acciones Pedagógicas" id="{B83AB2A9-3BE6-45D0-83A0-0386E310C711}">
          <p14:sldIdLst>
            <p14:sldId id="2561"/>
            <p14:sldId id="2566"/>
            <p14:sldId id="2615"/>
            <p14:sldId id="2616"/>
          </p14:sldIdLst>
        </p14:section>
        <p14:section name="La invención del teléfono y su impacto en la comunicación tecnológica" id="{8044E65B-1EB6-40D2-B3BF-E2D45B47C29B}">
          <p14:sldIdLst>
            <p14:sldId id="2574"/>
            <p14:sldId id="2618"/>
            <p14:sldId id="2565"/>
            <p14:sldId id="2582"/>
            <p14:sldId id="2581"/>
            <p14:sldId id="2620"/>
            <p14:sldId id="2586"/>
            <p14:sldId id="2587"/>
            <p14:sldId id="2622"/>
            <p14:sldId id="2623"/>
            <p14:sldId id="2578"/>
            <p14:sldId id="2590"/>
            <p14:sldId id="2592"/>
            <p14:sldId id="2595"/>
            <p14:sldId id="2602"/>
            <p14:sldId id="2601"/>
            <p14:sldId id="2603"/>
            <p14:sldId id="2604"/>
            <p14:sldId id="2607"/>
            <p14:sldId id="2606"/>
            <p14:sldId id="2608"/>
            <p14:sldId id="2609"/>
            <p14:sldId id="2613"/>
            <p14:sldId id="2610"/>
            <p14:sldId id="2614"/>
          </p14:sldIdLst>
        </p14:section>
        <p14:section name="Conclusión: La innovación tecnológica impulsa la transformación educativa" id="{E0A5E6EE-19DE-4B0A-8638-4E1BDC7A996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00"/>
    <a:srgbClr val="FADCC6"/>
    <a:srgbClr val="EBFFEB"/>
    <a:srgbClr val="F6E1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76" autoAdjust="0"/>
    <p:restoredTop sz="94660"/>
  </p:normalViewPr>
  <p:slideViewPr>
    <p:cSldViewPr snapToGrid="0">
      <p:cViewPr varScale="1">
        <p:scale>
          <a:sx n="93" d="100"/>
          <a:sy n="93" d="100"/>
        </p:scale>
        <p:origin x="90" y="34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0EA2CF-8675-4B45-92D8-2862B26C5079}"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B3AEF2F1-CAE8-4C24-9A0C-F305772E9E19}">
      <dgm:prSet/>
      <dgm:spPr/>
      <dgm:t>
        <a:bodyPr/>
        <a:lstStyle/>
        <a:p>
          <a:pPr>
            <a:lnSpc>
              <a:spcPct val="100000"/>
            </a:lnSpc>
            <a:defRPr b="1"/>
          </a:pPr>
          <a:r>
            <a:rPr lang="en-US" dirty="0"/>
            <a:t>DIMENSIÓN DEL ESTUDIANTE</a:t>
          </a:r>
        </a:p>
      </dgm:t>
    </dgm:pt>
    <dgm:pt modelId="{C8F818BD-760C-4C75-A83D-F1DED5C9992A}" type="parTrans" cxnId="{67FA8420-C945-434D-A124-F52CDBE9954B}">
      <dgm:prSet/>
      <dgm:spPr/>
      <dgm:t>
        <a:bodyPr/>
        <a:lstStyle/>
        <a:p>
          <a:endParaRPr lang="en-US"/>
        </a:p>
      </dgm:t>
    </dgm:pt>
    <dgm:pt modelId="{BA67193D-BB51-4954-B9D2-0D331602B48D}" type="sibTrans" cxnId="{67FA8420-C945-434D-A124-F52CDBE9954B}">
      <dgm:prSet/>
      <dgm:spPr/>
      <dgm:t>
        <a:bodyPr/>
        <a:lstStyle/>
        <a:p>
          <a:pPr>
            <a:lnSpc>
              <a:spcPct val="100000"/>
            </a:lnSpc>
            <a:defRPr b="1"/>
          </a:pPr>
          <a:endParaRPr lang="en-US"/>
        </a:p>
      </dgm:t>
    </dgm:pt>
    <dgm:pt modelId="{53F3420D-1AA4-4CBE-A6E1-3E5DE14CC31E}">
      <dgm:prSet/>
      <dgm:spPr/>
      <dgm:t>
        <a:bodyPr/>
        <a:lstStyle/>
        <a:p>
          <a:pPr>
            <a:lnSpc>
              <a:spcPct val="100000"/>
            </a:lnSpc>
          </a:pPr>
          <a:r>
            <a:rPr lang="en-US" dirty="0"/>
            <a:t>Datos </a:t>
          </a:r>
          <a:r>
            <a:rPr lang="en-US" dirty="0" err="1"/>
            <a:t>sociodemograficos</a:t>
          </a:r>
          <a:r>
            <a:rPr lang="en-US" dirty="0"/>
            <a:t> del </a:t>
          </a:r>
          <a:r>
            <a:rPr lang="en-US" dirty="0" err="1"/>
            <a:t>estudiante</a:t>
          </a:r>
          <a:r>
            <a:rPr lang="en-US" dirty="0"/>
            <a:t>, </a:t>
          </a:r>
          <a:r>
            <a:rPr lang="en-US" dirty="0" err="1"/>
            <a:t>nivel</a:t>
          </a:r>
          <a:r>
            <a:rPr lang="en-US" dirty="0"/>
            <a:t> </a:t>
          </a:r>
          <a:r>
            <a:rPr lang="en-US" dirty="0" err="1"/>
            <a:t>educativo</a:t>
          </a:r>
          <a:r>
            <a:rPr lang="en-US" dirty="0"/>
            <a:t>, </a:t>
          </a:r>
          <a:r>
            <a:rPr lang="en-US" dirty="0" err="1"/>
            <a:t>nivel</a:t>
          </a:r>
          <a:r>
            <a:rPr lang="en-US" dirty="0"/>
            <a:t> de </a:t>
          </a:r>
          <a:r>
            <a:rPr lang="en-US" dirty="0" err="1"/>
            <a:t>riqueza</a:t>
          </a:r>
          <a:r>
            <a:rPr lang="en-US" dirty="0"/>
            <a:t>, </a:t>
          </a:r>
          <a:r>
            <a:rPr lang="en-US" dirty="0" err="1"/>
            <a:t>fecha</a:t>
          </a:r>
          <a:r>
            <a:rPr lang="en-US" dirty="0"/>
            <a:t> de </a:t>
          </a:r>
          <a:r>
            <a:rPr lang="en-US" dirty="0" err="1"/>
            <a:t>registro</a:t>
          </a:r>
          <a:r>
            <a:rPr lang="en-US" dirty="0"/>
            <a:t>, etc. </a:t>
          </a:r>
        </a:p>
      </dgm:t>
    </dgm:pt>
    <dgm:pt modelId="{A08562C9-C794-4875-8AC5-358B51E3B6C3}" type="parTrans" cxnId="{A08CB99E-3F6D-4BB1-9DC7-053C47E0503C}">
      <dgm:prSet/>
      <dgm:spPr/>
      <dgm:t>
        <a:bodyPr/>
        <a:lstStyle/>
        <a:p>
          <a:endParaRPr lang="en-US"/>
        </a:p>
      </dgm:t>
    </dgm:pt>
    <dgm:pt modelId="{050BF479-A151-495A-AEA6-196F5D1B4489}" type="sibTrans" cxnId="{A08CB99E-3F6D-4BB1-9DC7-053C47E0503C}">
      <dgm:prSet/>
      <dgm:spPr/>
      <dgm:t>
        <a:bodyPr/>
        <a:lstStyle/>
        <a:p>
          <a:endParaRPr lang="en-US"/>
        </a:p>
      </dgm:t>
    </dgm:pt>
    <dgm:pt modelId="{363AA52B-4F31-4610-A6A3-287190AE6AE5}">
      <dgm:prSet/>
      <dgm:spPr/>
      <dgm:t>
        <a:bodyPr/>
        <a:lstStyle/>
        <a:p>
          <a:pPr>
            <a:lnSpc>
              <a:spcPct val="100000"/>
            </a:lnSpc>
            <a:defRPr b="1"/>
          </a:pPr>
          <a:r>
            <a:rPr lang="en-US" dirty="0"/>
            <a:t>DIMENSIÓN DE ACTIVIDADES</a:t>
          </a:r>
        </a:p>
      </dgm:t>
    </dgm:pt>
    <dgm:pt modelId="{E3A154B7-7E8F-4E16-AB98-600A9A9D2E3C}" type="parTrans" cxnId="{9700DB67-AF69-4391-A8BC-35E854232AE2}">
      <dgm:prSet/>
      <dgm:spPr/>
      <dgm:t>
        <a:bodyPr/>
        <a:lstStyle/>
        <a:p>
          <a:endParaRPr lang="en-US"/>
        </a:p>
      </dgm:t>
    </dgm:pt>
    <dgm:pt modelId="{B4A65063-EA17-47D0-BA8C-002514107E87}" type="sibTrans" cxnId="{9700DB67-AF69-4391-A8BC-35E854232AE2}">
      <dgm:prSet/>
      <dgm:spPr/>
      <dgm:t>
        <a:bodyPr/>
        <a:lstStyle/>
        <a:p>
          <a:pPr>
            <a:lnSpc>
              <a:spcPct val="100000"/>
            </a:lnSpc>
            <a:defRPr b="1"/>
          </a:pPr>
          <a:endParaRPr lang="en-US"/>
        </a:p>
      </dgm:t>
    </dgm:pt>
    <dgm:pt modelId="{E0CC3486-A0DB-4535-887E-092989D4D4B6}">
      <dgm:prSet custT="1"/>
      <dgm:spPr/>
      <dgm:t>
        <a:bodyPr/>
        <a:lstStyle/>
        <a:p>
          <a:pPr>
            <a:lnSpc>
              <a:spcPct val="100000"/>
            </a:lnSpc>
          </a:pPr>
          <a:r>
            <a:rPr lang="en-US" sz="1400" dirty="0" err="1"/>
            <a:t>Entregas</a:t>
          </a:r>
          <a:r>
            <a:rPr lang="en-US" sz="1400" dirty="0"/>
            <a:t> de </a:t>
          </a:r>
          <a:r>
            <a:rPr lang="en-US" sz="1400" dirty="0" err="1"/>
            <a:t>actividades</a:t>
          </a:r>
          <a:r>
            <a:rPr lang="en-US" sz="1400" dirty="0"/>
            <a:t> y </a:t>
          </a:r>
          <a:r>
            <a:rPr lang="en-US" sz="1400" dirty="0" err="1"/>
            <a:t>evaluaciones</a:t>
          </a:r>
          <a:r>
            <a:rPr lang="en-US" sz="1400" dirty="0"/>
            <a:t> de </a:t>
          </a:r>
          <a:r>
            <a:rPr lang="en-US" sz="1400" dirty="0" err="1"/>
            <a:t>estas</a:t>
          </a:r>
          <a:r>
            <a:rPr lang="en-US" sz="1400" dirty="0"/>
            <a:t> </a:t>
          </a:r>
          <a:r>
            <a:rPr lang="en-US" sz="1400" dirty="0" err="1"/>
            <a:t>mismas</a:t>
          </a:r>
          <a:r>
            <a:rPr lang="en-US" sz="1400" dirty="0"/>
            <a:t>. </a:t>
          </a:r>
          <a:r>
            <a:rPr lang="en-US" sz="1400" dirty="0" err="1"/>
            <a:t>Responde</a:t>
          </a:r>
          <a:r>
            <a:rPr lang="en-US" sz="1400" dirty="0"/>
            <a:t> a las </a:t>
          </a:r>
          <a:r>
            <a:rPr lang="en-US" sz="1400" dirty="0" err="1"/>
            <a:t>preguntas</a:t>
          </a:r>
          <a:r>
            <a:rPr lang="en-US" sz="1400" dirty="0"/>
            <a:t>:</a:t>
          </a:r>
        </a:p>
        <a:p>
          <a:pPr>
            <a:lnSpc>
              <a:spcPct val="100000"/>
            </a:lnSpc>
          </a:pPr>
          <a:endParaRPr lang="en-US" sz="900" dirty="0"/>
        </a:p>
        <a:p>
          <a:pPr>
            <a:lnSpc>
              <a:spcPct val="100000"/>
            </a:lnSpc>
          </a:pPr>
          <a:r>
            <a:rPr lang="en-US" sz="1400" dirty="0"/>
            <a:t>¿</a:t>
          </a:r>
          <a:r>
            <a:rPr lang="en-US" sz="1400" dirty="0" err="1"/>
            <a:t>Que</a:t>
          </a:r>
          <a:r>
            <a:rPr lang="en-US" sz="1400" dirty="0"/>
            <a:t> </a:t>
          </a:r>
          <a:r>
            <a:rPr lang="en-US" sz="1400" dirty="0" err="1"/>
            <a:t>actividades</a:t>
          </a:r>
          <a:r>
            <a:rPr lang="en-US" sz="1400" dirty="0"/>
            <a:t> </a:t>
          </a:r>
          <a:r>
            <a:rPr lang="en-US" sz="1400" dirty="0" err="1"/>
            <a:t>entrego</a:t>
          </a:r>
          <a:r>
            <a:rPr lang="en-US" sz="1400" dirty="0"/>
            <a:t>? ¿Cuando? ¿</a:t>
          </a:r>
          <a:r>
            <a:rPr lang="en-US" sz="1400" dirty="0" err="1"/>
            <a:t>que</a:t>
          </a:r>
          <a:r>
            <a:rPr lang="en-US" sz="1400" dirty="0"/>
            <a:t> </a:t>
          </a:r>
          <a:r>
            <a:rPr lang="en-US" sz="1400" dirty="0" err="1"/>
            <a:t>calificación</a:t>
          </a:r>
          <a:r>
            <a:rPr lang="en-US" sz="1400" dirty="0"/>
            <a:t> </a:t>
          </a:r>
          <a:r>
            <a:rPr lang="en-US" sz="1400" dirty="0" err="1"/>
            <a:t>obtuvo</a:t>
          </a:r>
          <a:r>
            <a:rPr lang="en-US" sz="1400" dirty="0"/>
            <a:t>? ¿</a:t>
          </a:r>
          <a:r>
            <a:rPr lang="en-US" sz="1400" dirty="0" err="1"/>
            <a:t>tiene</a:t>
          </a:r>
          <a:r>
            <a:rPr lang="en-US" sz="1400" dirty="0"/>
            <a:t> </a:t>
          </a:r>
          <a:r>
            <a:rPr lang="en-US" sz="1400" dirty="0" err="1"/>
            <a:t>actividades</a:t>
          </a:r>
          <a:r>
            <a:rPr lang="en-US" sz="1400" dirty="0"/>
            <a:t> sin </a:t>
          </a:r>
          <a:r>
            <a:rPr lang="en-US" sz="1400" dirty="0" err="1"/>
            <a:t>entregar</a:t>
          </a:r>
          <a:r>
            <a:rPr lang="en-US" sz="1400" dirty="0"/>
            <a:t>? </a:t>
          </a:r>
        </a:p>
      </dgm:t>
    </dgm:pt>
    <dgm:pt modelId="{A239FE88-9051-4D3C-85D8-D17E388723A3}" type="parTrans" cxnId="{9FBF96A1-1DE1-40D7-AE92-2917B088ACFF}">
      <dgm:prSet/>
      <dgm:spPr/>
      <dgm:t>
        <a:bodyPr/>
        <a:lstStyle/>
        <a:p>
          <a:endParaRPr lang="en-US"/>
        </a:p>
      </dgm:t>
    </dgm:pt>
    <dgm:pt modelId="{93C1752F-D329-4CDE-B2BB-E1412DB4A2ED}" type="sibTrans" cxnId="{9FBF96A1-1DE1-40D7-AE92-2917B088ACFF}">
      <dgm:prSet/>
      <dgm:spPr/>
      <dgm:t>
        <a:bodyPr/>
        <a:lstStyle/>
        <a:p>
          <a:endParaRPr lang="en-US"/>
        </a:p>
      </dgm:t>
    </dgm:pt>
    <dgm:pt modelId="{5F268330-F99F-4BBC-A109-372831170167}">
      <dgm:prSet/>
      <dgm:spPr/>
      <dgm:t>
        <a:bodyPr/>
        <a:lstStyle/>
        <a:p>
          <a:pPr>
            <a:lnSpc>
              <a:spcPct val="100000"/>
            </a:lnSpc>
            <a:defRPr b="1"/>
          </a:pPr>
          <a:r>
            <a:rPr lang="en-US" dirty="0"/>
            <a:t>DIMENSIÓN DE COMPORTAMIENTO</a:t>
          </a:r>
        </a:p>
      </dgm:t>
    </dgm:pt>
    <dgm:pt modelId="{B8B3F374-F4DF-48A7-9CA1-553692E0459C}" type="parTrans" cxnId="{3B32B34D-74C2-47F2-95BD-7D9A25A2B55C}">
      <dgm:prSet/>
      <dgm:spPr/>
      <dgm:t>
        <a:bodyPr/>
        <a:lstStyle/>
        <a:p>
          <a:endParaRPr lang="en-US"/>
        </a:p>
      </dgm:t>
    </dgm:pt>
    <dgm:pt modelId="{537486E3-AACA-4CCB-8EB2-BC417772A038}" type="sibTrans" cxnId="{3B32B34D-74C2-47F2-95BD-7D9A25A2B55C}">
      <dgm:prSet/>
      <dgm:spPr/>
      <dgm:t>
        <a:bodyPr/>
        <a:lstStyle/>
        <a:p>
          <a:endParaRPr lang="en-US"/>
        </a:p>
      </dgm:t>
    </dgm:pt>
    <dgm:pt modelId="{E327427A-9ABE-4B3D-9FC1-69E6B6AC0941}">
      <dgm:prSet/>
      <dgm:spPr/>
      <dgm:t>
        <a:bodyPr/>
        <a:lstStyle/>
        <a:p>
          <a:pPr>
            <a:lnSpc>
              <a:spcPct val="100000"/>
            </a:lnSpc>
            <a:buNone/>
          </a:pPr>
          <a:r>
            <a:rPr lang="en-US" dirty="0" err="1"/>
            <a:t>Comportamiento</a:t>
          </a:r>
          <a:r>
            <a:rPr lang="en-US" dirty="0"/>
            <a:t> del </a:t>
          </a:r>
          <a:r>
            <a:rPr lang="en-US" dirty="0" err="1"/>
            <a:t>estudiante</a:t>
          </a:r>
          <a:r>
            <a:rPr lang="en-US" dirty="0"/>
            <a:t>, </a:t>
          </a:r>
          <a:r>
            <a:rPr lang="en-US" dirty="0" err="1"/>
            <a:t>responde</a:t>
          </a:r>
          <a:r>
            <a:rPr lang="en-US" dirty="0"/>
            <a:t> a las </a:t>
          </a:r>
          <a:r>
            <a:rPr lang="en-US" dirty="0" err="1"/>
            <a:t>preguntas</a:t>
          </a:r>
          <a:r>
            <a:rPr lang="en-US" dirty="0"/>
            <a:t>:</a:t>
          </a:r>
        </a:p>
        <a:p>
          <a:pPr>
            <a:lnSpc>
              <a:spcPct val="100000"/>
            </a:lnSpc>
            <a:buFont typeface="Arial" panose="020B0604020202020204" pitchFamily="34" charset="0"/>
            <a:buChar char="•"/>
          </a:pPr>
          <a:r>
            <a:rPr lang="en-US" dirty="0"/>
            <a:t>¿A </a:t>
          </a:r>
          <a:r>
            <a:rPr lang="en-US" dirty="0" err="1"/>
            <a:t>que</a:t>
          </a:r>
          <a:r>
            <a:rPr lang="en-US" dirty="0"/>
            <a:t> </a:t>
          </a:r>
          <a:r>
            <a:rPr lang="en-US" dirty="0" err="1"/>
            <a:t>hace</a:t>
          </a:r>
          <a:r>
            <a:rPr lang="en-US" dirty="0"/>
            <a:t> </a:t>
          </a:r>
          <a:r>
            <a:rPr lang="en-US" dirty="0" err="1"/>
            <a:t>clic</a:t>
          </a:r>
          <a:r>
            <a:rPr lang="en-US" dirty="0"/>
            <a:t> </a:t>
          </a:r>
          <a:r>
            <a:rPr lang="en-US" dirty="0" err="1"/>
            <a:t>el</a:t>
          </a:r>
          <a:r>
            <a:rPr lang="en-US" dirty="0"/>
            <a:t> </a:t>
          </a:r>
          <a:r>
            <a:rPr lang="en-US" dirty="0" err="1"/>
            <a:t>estudiante</a:t>
          </a:r>
          <a:r>
            <a:rPr lang="en-US" dirty="0"/>
            <a:t>?</a:t>
          </a:r>
          <a:br>
            <a:rPr lang="en-US" dirty="0"/>
          </a:br>
          <a:r>
            <a:rPr lang="en-US" dirty="0"/>
            <a:t>¿</a:t>
          </a:r>
          <a:r>
            <a:rPr lang="en-US" dirty="0" err="1"/>
            <a:t>Cuántas</a:t>
          </a:r>
          <a:r>
            <a:rPr lang="en-US" dirty="0"/>
            <a:t> </a:t>
          </a:r>
          <a:r>
            <a:rPr lang="en-US" dirty="0" err="1"/>
            <a:t>veces</a:t>
          </a:r>
          <a:r>
            <a:rPr lang="en-US" dirty="0"/>
            <a:t>? ¿En </a:t>
          </a:r>
          <a:r>
            <a:rPr lang="en-US" dirty="0" err="1"/>
            <a:t>que</a:t>
          </a:r>
          <a:r>
            <a:rPr lang="en-US" dirty="0"/>
            <a:t> </a:t>
          </a:r>
          <a:r>
            <a:rPr lang="en-US" dirty="0" err="1"/>
            <a:t>semana</a:t>
          </a:r>
          <a:r>
            <a:rPr lang="en-US" dirty="0"/>
            <a:t>? </a:t>
          </a:r>
        </a:p>
      </dgm:t>
    </dgm:pt>
    <dgm:pt modelId="{BDF16290-CD1C-4B3F-BE2D-FBBA0E8B5525}" type="parTrans" cxnId="{456A8078-2E33-4DA6-859D-D597AC4F3479}">
      <dgm:prSet/>
      <dgm:spPr/>
      <dgm:t>
        <a:bodyPr/>
        <a:lstStyle/>
        <a:p>
          <a:endParaRPr lang="en-US"/>
        </a:p>
      </dgm:t>
    </dgm:pt>
    <dgm:pt modelId="{925C193A-8B46-4CC5-BF4C-1846AD8BD485}" type="sibTrans" cxnId="{456A8078-2E33-4DA6-859D-D597AC4F3479}">
      <dgm:prSet/>
      <dgm:spPr/>
      <dgm:t>
        <a:bodyPr/>
        <a:lstStyle/>
        <a:p>
          <a:endParaRPr lang="en-US"/>
        </a:p>
      </dgm:t>
    </dgm:pt>
    <dgm:pt modelId="{3A6062C9-FE7D-4711-B371-E8B8D2F07F09}" type="pres">
      <dgm:prSet presAssocID="{D20EA2CF-8675-4B45-92D8-2862B26C5079}" presName="Name0" presStyleCnt="0">
        <dgm:presLayoutVars>
          <dgm:dir/>
          <dgm:resizeHandles val="exact"/>
        </dgm:presLayoutVars>
      </dgm:prSet>
      <dgm:spPr/>
    </dgm:pt>
    <dgm:pt modelId="{B915BB12-7A1D-4FFD-AC09-2969B761EAFE}" type="pres">
      <dgm:prSet presAssocID="{B3AEF2F1-CAE8-4C24-9A0C-F305772E9E19}" presName="compNode" presStyleCnt="0"/>
      <dgm:spPr/>
    </dgm:pt>
    <dgm:pt modelId="{CD0AA5C6-46C1-406A-91A8-003DFA5B89ED}" type="pres">
      <dgm:prSet presAssocID="{B3AEF2F1-CAE8-4C24-9A0C-F305772E9E19}" presName="pictRect" presStyleLbl="revTx" presStyleIdx="0" presStyleCnt="6">
        <dgm:presLayoutVars>
          <dgm:chMax val="0"/>
          <dgm:bulletEnabled/>
        </dgm:presLayoutVars>
      </dgm:prSet>
      <dgm:spPr/>
    </dgm:pt>
    <dgm:pt modelId="{0572F2B0-A83E-4C19-968A-A68E67C08D5B}" type="pres">
      <dgm:prSet presAssocID="{B3AEF2F1-CAE8-4C24-9A0C-F305772E9E19}" presName="textRect" presStyleLbl="revTx" presStyleIdx="1" presStyleCnt="6">
        <dgm:presLayoutVars>
          <dgm:bulletEnabled/>
        </dgm:presLayoutVars>
      </dgm:prSet>
      <dgm:spPr/>
    </dgm:pt>
    <dgm:pt modelId="{B14C3901-58D8-41A0-B7D6-19CE5A36D930}" type="pres">
      <dgm:prSet presAssocID="{BA67193D-BB51-4954-B9D2-0D331602B48D}" presName="sibTrans" presStyleLbl="sibTrans2D1" presStyleIdx="0" presStyleCnt="0"/>
      <dgm:spPr/>
    </dgm:pt>
    <dgm:pt modelId="{C2E082EE-8D62-47E9-9E57-96D3529F2CFE}" type="pres">
      <dgm:prSet presAssocID="{363AA52B-4F31-4610-A6A3-287190AE6AE5}" presName="compNode" presStyleCnt="0"/>
      <dgm:spPr/>
    </dgm:pt>
    <dgm:pt modelId="{E4911E8C-10BF-4AF5-9BA2-1B50DA185650}" type="pres">
      <dgm:prSet presAssocID="{363AA52B-4F31-4610-A6A3-287190AE6AE5}" presName="pictRect" presStyleLbl="revTx" presStyleIdx="2" presStyleCnt="6">
        <dgm:presLayoutVars>
          <dgm:chMax val="0"/>
          <dgm:bulletEnabled/>
        </dgm:presLayoutVars>
      </dgm:prSet>
      <dgm:spPr/>
    </dgm:pt>
    <dgm:pt modelId="{6AE71D0D-0E63-4E65-8463-36D0FA97F10C}" type="pres">
      <dgm:prSet presAssocID="{363AA52B-4F31-4610-A6A3-287190AE6AE5}" presName="textRect" presStyleLbl="revTx" presStyleIdx="3" presStyleCnt="6">
        <dgm:presLayoutVars>
          <dgm:bulletEnabled/>
        </dgm:presLayoutVars>
      </dgm:prSet>
      <dgm:spPr/>
    </dgm:pt>
    <dgm:pt modelId="{18BB212F-AC75-4660-9260-94D9FC8EDF69}" type="pres">
      <dgm:prSet presAssocID="{B4A65063-EA17-47D0-BA8C-002514107E87}" presName="sibTrans" presStyleLbl="sibTrans2D1" presStyleIdx="0" presStyleCnt="0"/>
      <dgm:spPr/>
    </dgm:pt>
    <dgm:pt modelId="{22BA45DC-CF83-4B13-B7AC-4B28AA06E870}" type="pres">
      <dgm:prSet presAssocID="{5F268330-F99F-4BBC-A109-372831170167}" presName="compNode" presStyleCnt="0"/>
      <dgm:spPr/>
    </dgm:pt>
    <dgm:pt modelId="{8CBFB98A-4848-4E78-8362-E005ED1A9BBC}" type="pres">
      <dgm:prSet presAssocID="{5F268330-F99F-4BBC-A109-372831170167}" presName="pictRect" presStyleLbl="revTx" presStyleIdx="4" presStyleCnt="6">
        <dgm:presLayoutVars>
          <dgm:chMax val="0"/>
          <dgm:bulletEnabled/>
        </dgm:presLayoutVars>
      </dgm:prSet>
      <dgm:spPr/>
    </dgm:pt>
    <dgm:pt modelId="{BE8D1F48-FEBA-449E-9B8A-926096C28902}" type="pres">
      <dgm:prSet presAssocID="{5F268330-F99F-4BBC-A109-372831170167}" presName="textRect" presStyleLbl="revTx" presStyleIdx="5" presStyleCnt="6">
        <dgm:presLayoutVars>
          <dgm:bulletEnabled/>
        </dgm:presLayoutVars>
      </dgm:prSet>
      <dgm:spPr/>
    </dgm:pt>
  </dgm:ptLst>
  <dgm:cxnLst>
    <dgm:cxn modelId="{C3EDBF00-1388-4D29-BBDC-B49007586F92}" type="presOf" srcId="{E0CC3486-A0DB-4535-887E-092989D4D4B6}" destId="{6AE71D0D-0E63-4E65-8463-36D0FA97F10C}" srcOrd="0" destOrd="0" presId="urn:microsoft.com/office/officeart/2024/3/layout/hArchList1"/>
    <dgm:cxn modelId="{6C882A1F-D16E-435C-A371-C8F60F768A3F}" type="presOf" srcId="{363AA52B-4F31-4610-A6A3-287190AE6AE5}" destId="{E4911E8C-10BF-4AF5-9BA2-1B50DA185650}" srcOrd="0" destOrd="0" presId="urn:microsoft.com/office/officeart/2024/3/layout/hArchList1"/>
    <dgm:cxn modelId="{67FA8420-C945-434D-A124-F52CDBE9954B}" srcId="{D20EA2CF-8675-4B45-92D8-2862B26C5079}" destId="{B3AEF2F1-CAE8-4C24-9A0C-F305772E9E19}" srcOrd="0" destOrd="0" parTransId="{C8F818BD-760C-4C75-A83D-F1DED5C9992A}" sibTransId="{BA67193D-BB51-4954-B9D2-0D331602B48D}"/>
    <dgm:cxn modelId="{6ECFCD47-2D53-4EEC-AE32-4F9621D8B701}" type="presOf" srcId="{53F3420D-1AA4-4CBE-A6E1-3E5DE14CC31E}" destId="{0572F2B0-A83E-4C19-968A-A68E67C08D5B}" srcOrd="0" destOrd="0" presId="urn:microsoft.com/office/officeart/2024/3/layout/hArchList1"/>
    <dgm:cxn modelId="{9700DB67-AF69-4391-A8BC-35E854232AE2}" srcId="{D20EA2CF-8675-4B45-92D8-2862B26C5079}" destId="{363AA52B-4F31-4610-A6A3-287190AE6AE5}" srcOrd="1" destOrd="0" parTransId="{E3A154B7-7E8F-4E16-AB98-600A9A9D2E3C}" sibTransId="{B4A65063-EA17-47D0-BA8C-002514107E87}"/>
    <dgm:cxn modelId="{7697FF48-7257-4CAB-94FD-DDCBCD4F77BC}" type="presOf" srcId="{5F268330-F99F-4BBC-A109-372831170167}" destId="{8CBFB98A-4848-4E78-8362-E005ED1A9BBC}" srcOrd="0" destOrd="0" presId="urn:microsoft.com/office/officeart/2024/3/layout/hArchList1"/>
    <dgm:cxn modelId="{3B32B34D-74C2-47F2-95BD-7D9A25A2B55C}" srcId="{D20EA2CF-8675-4B45-92D8-2862B26C5079}" destId="{5F268330-F99F-4BBC-A109-372831170167}" srcOrd="2" destOrd="0" parTransId="{B8B3F374-F4DF-48A7-9CA1-553692E0459C}" sibTransId="{537486E3-AACA-4CCB-8EB2-BC417772A038}"/>
    <dgm:cxn modelId="{456A8078-2E33-4DA6-859D-D597AC4F3479}" srcId="{5F268330-F99F-4BBC-A109-372831170167}" destId="{E327427A-9ABE-4B3D-9FC1-69E6B6AC0941}" srcOrd="0" destOrd="0" parTransId="{BDF16290-CD1C-4B3F-BE2D-FBBA0E8B5525}" sibTransId="{925C193A-8B46-4CC5-BF4C-1846AD8BD485}"/>
    <dgm:cxn modelId="{8BBD4890-F942-437D-87D2-3BD37D07E24D}" type="presOf" srcId="{D20EA2CF-8675-4B45-92D8-2862B26C5079}" destId="{3A6062C9-FE7D-4711-B371-E8B8D2F07F09}" srcOrd="0" destOrd="0" presId="urn:microsoft.com/office/officeart/2024/3/layout/hArchList1"/>
    <dgm:cxn modelId="{A1C7DE96-2E00-43A7-A5D8-CF820281583D}" type="presOf" srcId="{B4A65063-EA17-47D0-BA8C-002514107E87}" destId="{18BB212F-AC75-4660-9260-94D9FC8EDF69}" srcOrd="0" destOrd="0" presId="urn:microsoft.com/office/officeart/2024/3/layout/hArchList1"/>
    <dgm:cxn modelId="{06146897-DF70-4C41-AD53-E09E61286294}" type="presOf" srcId="{BA67193D-BB51-4954-B9D2-0D331602B48D}" destId="{B14C3901-58D8-41A0-B7D6-19CE5A36D930}" srcOrd="0" destOrd="0" presId="urn:microsoft.com/office/officeart/2024/3/layout/hArchList1"/>
    <dgm:cxn modelId="{A08CB99E-3F6D-4BB1-9DC7-053C47E0503C}" srcId="{B3AEF2F1-CAE8-4C24-9A0C-F305772E9E19}" destId="{53F3420D-1AA4-4CBE-A6E1-3E5DE14CC31E}" srcOrd="0" destOrd="0" parTransId="{A08562C9-C794-4875-8AC5-358B51E3B6C3}" sibTransId="{050BF479-A151-495A-AEA6-196F5D1B4489}"/>
    <dgm:cxn modelId="{9FBF96A1-1DE1-40D7-AE92-2917B088ACFF}" srcId="{363AA52B-4F31-4610-A6A3-287190AE6AE5}" destId="{E0CC3486-A0DB-4535-887E-092989D4D4B6}" srcOrd="0" destOrd="0" parTransId="{A239FE88-9051-4D3C-85D8-D17E388723A3}" sibTransId="{93C1752F-D329-4CDE-B2BB-E1412DB4A2ED}"/>
    <dgm:cxn modelId="{4A6051A5-B337-41C2-BFD0-B53E6D962D85}" type="presOf" srcId="{E327427A-9ABE-4B3D-9FC1-69E6B6AC0941}" destId="{BE8D1F48-FEBA-449E-9B8A-926096C28902}" srcOrd="0" destOrd="0" presId="urn:microsoft.com/office/officeart/2024/3/layout/hArchList1"/>
    <dgm:cxn modelId="{82C121E5-4B00-4293-BEC7-171788C86AC6}" type="presOf" srcId="{B3AEF2F1-CAE8-4C24-9A0C-F305772E9E19}" destId="{CD0AA5C6-46C1-406A-91A8-003DFA5B89ED}" srcOrd="0" destOrd="0" presId="urn:microsoft.com/office/officeart/2024/3/layout/hArchList1"/>
    <dgm:cxn modelId="{3CDB3C2E-5241-4BB4-8A26-1F246B838988}" type="presParOf" srcId="{3A6062C9-FE7D-4711-B371-E8B8D2F07F09}" destId="{B915BB12-7A1D-4FFD-AC09-2969B761EAFE}" srcOrd="0" destOrd="0" presId="urn:microsoft.com/office/officeart/2024/3/layout/hArchList1"/>
    <dgm:cxn modelId="{DC4F1704-B95A-45DF-B1DF-DA92F935AF8B}" type="presParOf" srcId="{B915BB12-7A1D-4FFD-AC09-2969B761EAFE}" destId="{CD0AA5C6-46C1-406A-91A8-003DFA5B89ED}" srcOrd="0" destOrd="0" presId="urn:microsoft.com/office/officeart/2024/3/layout/hArchList1"/>
    <dgm:cxn modelId="{7E04C185-000D-4C1C-B550-EB31A2EF4C15}" type="presParOf" srcId="{B915BB12-7A1D-4FFD-AC09-2969B761EAFE}" destId="{0572F2B0-A83E-4C19-968A-A68E67C08D5B}" srcOrd="1" destOrd="0" presId="urn:microsoft.com/office/officeart/2024/3/layout/hArchList1"/>
    <dgm:cxn modelId="{E5BE779B-E977-4E8B-83F3-C5672E6DD33D}" type="presParOf" srcId="{3A6062C9-FE7D-4711-B371-E8B8D2F07F09}" destId="{B14C3901-58D8-41A0-B7D6-19CE5A36D930}" srcOrd="1" destOrd="0" presId="urn:microsoft.com/office/officeart/2024/3/layout/hArchList1"/>
    <dgm:cxn modelId="{7AA5CB78-50DA-4926-BFB3-582F4557EEF3}" type="presParOf" srcId="{3A6062C9-FE7D-4711-B371-E8B8D2F07F09}" destId="{C2E082EE-8D62-47E9-9E57-96D3529F2CFE}" srcOrd="2" destOrd="0" presId="urn:microsoft.com/office/officeart/2024/3/layout/hArchList1"/>
    <dgm:cxn modelId="{50D86B4D-13A3-4B5A-8BCA-93070E331D0C}" type="presParOf" srcId="{C2E082EE-8D62-47E9-9E57-96D3529F2CFE}" destId="{E4911E8C-10BF-4AF5-9BA2-1B50DA185650}" srcOrd="0" destOrd="0" presId="urn:microsoft.com/office/officeart/2024/3/layout/hArchList1"/>
    <dgm:cxn modelId="{DB1FE2FE-D0B9-4E3C-A905-74521AFFCE2B}" type="presParOf" srcId="{C2E082EE-8D62-47E9-9E57-96D3529F2CFE}" destId="{6AE71D0D-0E63-4E65-8463-36D0FA97F10C}" srcOrd="1" destOrd="0" presId="urn:microsoft.com/office/officeart/2024/3/layout/hArchList1"/>
    <dgm:cxn modelId="{82633399-50E6-4C12-965D-A080D03C0AB2}" type="presParOf" srcId="{3A6062C9-FE7D-4711-B371-E8B8D2F07F09}" destId="{18BB212F-AC75-4660-9260-94D9FC8EDF69}" srcOrd="3" destOrd="0" presId="urn:microsoft.com/office/officeart/2024/3/layout/hArchList1"/>
    <dgm:cxn modelId="{5F1F3451-4079-4D51-A0B4-C6FE277C20D3}" type="presParOf" srcId="{3A6062C9-FE7D-4711-B371-E8B8D2F07F09}" destId="{22BA45DC-CF83-4B13-B7AC-4B28AA06E870}" srcOrd="4" destOrd="0" presId="urn:microsoft.com/office/officeart/2024/3/layout/hArchList1"/>
    <dgm:cxn modelId="{39DE7FD8-429D-4C80-873A-786EA4FD301A}" type="presParOf" srcId="{22BA45DC-CF83-4B13-B7AC-4B28AA06E870}" destId="{8CBFB98A-4848-4E78-8362-E005ED1A9BBC}" srcOrd="0" destOrd="0" presId="urn:microsoft.com/office/officeart/2024/3/layout/hArchList1"/>
    <dgm:cxn modelId="{A629BB40-1013-46F1-8A1D-99EA19B8A767}" type="presParOf" srcId="{22BA45DC-CF83-4B13-B7AC-4B28AA06E870}" destId="{BE8D1F48-FEBA-449E-9B8A-926096C2890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0AA5C6-46C1-406A-91A8-003DFA5B89ED}">
      <dsp:nvSpPr>
        <dsp:cNvPr id="0" name=""/>
        <dsp:cNvSpPr/>
      </dsp:nvSpPr>
      <dsp:spPr>
        <a:xfrm>
          <a:off x="0" y="0"/>
          <a:ext cx="3395600" cy="603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DIMENSIÓN DEL ESTUDIANTE</a:t>
          </a:r>
        </a:p>
      </dsp:txBody>
      <dsp:txXfrm>
        <a:off x="0" y="0"/>
        <a:ext cx="3395600" cy="603748"/>
      </dsp:txXfrm>
    </dsp:sp>
    <dsp:sp modelId="{0572F2B0-A83E-4C19-968A-A68E67C08D5B}">
      <dsp:nvSpPr>
        <dsp:cNvPr id="0" name=""/>
        <dsp:cNvSpPr/>
      </dsp:nvSpPr>
      <dsp:spPr>
        <a:xfrm>
          <a:off x="0" y="603748"/>
          <a:ext cx="3395600" cy="1738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Datos </a:t>
          </a:r>
          <a:r>
            <a:rPr lang="en-US" sz="1400" kern="1200" dirty="0" err="1"/>
            <a:t>sociodemograficos</a:t>
          </a:r>
          <a:r>
            <a:rPr lang="en-US" sz="1400" kern="1200" dirty="0"/>
            <a:t> del </a:t>
          </a:r>
          <a:r>
            <a:rPr lang="en-US" sz="1400" kern="1200" dirty="0" err="1"/>
            <a:t>estudiante</a:t>
          </a:r>
          <a:r>
            <a:rPr lang="en-US" sz="1400" kern="1200" dirty="0"/>
            <a:t>, </a:t>
          </a:r>
          <a:r>
            <a:rPr lang="en-US" sz="1400" kern="1200" dirty="0" err="1"/>
            <a:t>nivel</a:t>
          </a:r>
          <a:r>
            <a:rPr lang="en-US" sz="1400" kern="1200" dirty="0"/>
            <a:t> </a:t>
          </a:r>
          <a:r>
            <a:rPr lang="en-US" sz="1400" kern="1200" dirty="0" err="1"/>
            <a:t>educativo</a:t>
          </a:r>
          <a:r>
            <a:rPr lang="en-US" sz="1400" kern="1200" dirty="0"/>
            <a:t>, </a:t>
          </a:r>
          <a:r>
            <a:rPr lang="en-US" sz="1400" kern="1200" dirty="0" err="1"/>
            <a:t>nivel</a:t>
          </a:r>
          <a:r>
            <a:rPr lang="en-US" sz="1400" kern="1200" dirty="0"/>
            <a:t> de </a:t>
          </a:r>
          <a:r>
            <a:rPr lang="en-US" sz="1400" kern="1200" dirty="0" err="1"/>
            <a:t>riqueza</a:t>
          </a:r>
          <a:r>
            <a:rPr lang="en-US" sz="1400" kern="1200" dirty="0"/>
            <a:t>, </a:t>
          </a:r>
          <a:r>
            <a:rPr lang="en-US" sz="1400" kern="1200" dirty="0" err="1"/>
            <a:t>fecha</a:t>
          </a:r>
          <a:r>
            <a:rPr lang="en-US" sz="1400" kern="1200" dirty="0"/>
            <a:t> de </a:t>
          </a:r>
          <a:r>
            <a:rPr lang="en-US" sz="1400" kern="1200" dirty="0" err="1"/>
            <a:t>registro</a:t>
          </a:r>
          <a:r>
            <a:rPr lang="en-US" sz="1400" kern="1200" dirty="0"/>
            <a:t>, etc. </a:t>
          </a:r>
        </a:p>
      </dsp:txBody>
      <dsp:txXfrm>
        <a:off x="0" y="603748"/>
        <a:ext cx="3395600" cy="1738764"/>
      </dsp:txXfrm>
    </dsp:sp>
    <dsp:sp modelId="{E4911E8C-10BF-4AF5-9BA2-1B50DA185650}">
      <dsp:nvSpPr>
        <dsp:cNvPr id="0" name=""/>
        <dsp:cNvSpPr/>
      </dsp:nvSpPr>
      <dsp:spPr>
        <a:xfrm>
          <a:off x="3735160" y="0"/>
          <a:ext cx="3395600" cy="603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DIMENSIÓN DE ACTIVIDADES</a:t>
          </a:r>
        </a:p>
      </dsp:txBody>
      <dsp:txXfrm>
        <a:off x="3735160" y="0"/>
        <a:ext cx="3395600" cy="603748"/>
      </dsp:txXfrm>
    </dsp:sp>
    <dsp:sp modelId="{6AE71D0D-0E63-4E65-8463-36D0FA97F10C}">
      <dsp:nvSpPr>
        <dsp:cNvPr id="0" name=""/>
        <dsp:cNvSpPr/>
      </dsp:nvSpPr>
      <dsp:spPr>
        <a:xfrm>
          <a:off x="3735160" y="603748"/>
          <a:ext cx="3395600" cy="1738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err="1"/>
            <a:t>Entregas</a:t>
          </a:r>
          <a:r>
            <a:rPr lang="en-US" sz="1400" kern="1200" dirty="0"/>
            <a:t> de </a:t>
          </a:r>
          <a:r>
            <a:rPr lang="en-US" sz="1400" kern="1200" dirty="0" err="1"/>
            <a:t>actividades</a:t>
          </a:r>
          <a:r>
            <a:rPr lang="en-US" sz="1400" kern="1200" dirty="0"/>
            <a:t> y </a:t>
          </a:r>
          <a:r>
            <a:rPr lang="en-US" sz="1400" kern="1200" dirty="0" err="1"/>
            <a:t>evaluaciones</a:t>
          </a:r>
          <a:r>
            <a:rPr lang="en-US" sz="1400" kern="1200" dirty="0"/>
            <a:t> de </a:t>
          </a:r>
          <a:r>
            <a:rPr lang="en-US" sz="1400" kern="1200" dirty="0" err="1"/>
            <a:t>estas</a:t>
          </a:r>
          <a:r>
            <a:rPr lang="en-US" sz="1400" kern="1200" dirty="0"/>
            <a:t> </a:t>
          </a:r>
          <a:r>
            <a:rPr lang="en-US" sz="1400" kern="1200" dirty="0" err="1"/>
            <a:t>mismas</a:t>
          </a:r>
          <a:r>
            <a:rPr lang="en-US" sz="1400" kern="1200" dirty="0"/>
            <a:t>. </a:t>
          </a:r>
          <a:r>
            <a:rPr lang="en-US" sz="1400" kern="1200" dirty="0" err="1"/>
            <a:t>Responde</a:t>
          </a:r>
          <a:r>
            <a:rPr lang="en-US" sz="1400" kern="1200" dirty="0"/>
            <a:t> a las </a:t>
          </a:r>
          <a:r>
            <a:rPr lang="en-US" sz="1400" kern="1200" dirty="0" err="1"/>
            <a:t>preguntas</a:t>
          </a:r>
          <a:r>
            <a:rPr lang="en-US" sz="1400" kern="1200" dirty="0"/>
            <a:t>:</a:t>
          </a:r>
        </a:p>
        <a:p>
          <a:pPr marL="0" lvl="0" indent="0" algn="l" defTabSz="622300">
            <a:lnSpc>
              <a:spcPct val="100000"/>
            </a:lnSpc>
            <a:spcBef>
              <a:spcPct val="0"/>
            </a:spcBef>
            <a:spcAft>
              <a:spcPct val="35000"/>
            </a:spcAft>
            <a:buNone/>
          </a:pPr>
          <a:endParaRPr lang="en-US" sz="900" kern="1200" dirty="0"/>
        </a:p>
        <a:p>
          <a:pPr marL="0" lvl="0" indent="0" algn="l" defTabSz="622300">
            <a:lnSpc>
              <a:spcPct val="100000"/>
            </a:lnSpc>
            <a:spcBef>
              <a:spcPct val="0"/>
            </a:spcBef>
            <a:spcAft>
              <a:spcPct val="35000"/>
            </a:spcAft>
            <a:buNone/>
          </a:pPr>
          <a:r>
            <a:rPr lang="en-US" sz="1400" kern="1200" dirty="0"/>
            <a:t>¿</a:t>
          </a:r>
          <a:r>
            <a:rPr lang="en-US" sz="1400" kern="1200" dirty="0" err="1"/>
            <a:t>Que</a:t>
          </a:r>
          <a:r>
            <a:rPr lang="en-US" sz="1400" kern="1200" dirty="0"/>
            <a:t> </a:t>
          </a:r>
          <a:r>
            <a:rPr lang="en-US" sz="1400" kern="1200" dirty="0" err="1"/>
            <a:t>actividades</a:t>
          </a:r>
          <a:r>
            <a:rPr lang="en-US" sz="1400" kern="1200" dirty="0"/>
            <a:t> </a:t>
          </a:r>
          <a:r>
            <a:rPr lang="en-US" sz="1400" kern="1200" dirty="0" err="1"/>
            <a:t>entrego</a:t>
          </a:r>
          <a:r>
            <a:rPr lang="en-US" sz="1400" kern="1200" dirty="0"/>
            <a:t>? ¿Cuando? ¿</a:t>
          </a:r>
          <a:r>
            <a:rPr lang="en-US" sz="1400" kern="1200" dirty="0" err="1"/>
            <a:t>que</a:t>
          </a:r>
          <a:r>
            <a:rPr lang="en-US" sz="1400" kern="1200" dirty="0"/>
            <a:t> </a:t>
          </a:r>
          <a:r>
            <a:rPr lang="en-US" sz="1400" kern="1200" dirty="0" err="1"/>
            <a:t>calificación</a:t>
          </a:r>
          <a:r>
            <a:rPr lang="en-US" sz="1400" kern="1200" dirty="0"/>
            <a:t> </a:t>
          </a:r>
          <a:r>
            <a:rPr lang="en-US" sz="1400" kern="1200" dirty="0" err="1"/>
            <a:t>obtuvo</a:t>
          </a:r>
          <a:r>
            <a:rPr lang="en-US" sz="1400" kern="1200" dirty="0"/>
            <a:t>? ¿</a:t>
          </a:r>
          <a:r>
            <a:rPr lang="en-US" sz="1400" kern="1200" dirty="0" err="1"/>
            <a:t>tiene</a:t>
          </a:r>
          <a:r>
            <a:rPr lang="en-US" sz="1400" kern="1200" dirty="0"/>
            <a:t> </a:t>
          </a:r>
          <a:r>
            <a:rPr lang="en-US" sz="1400" kern="1200" dirty="0" err="1"/>
            <a:t>actividades</a:t>
          </a:r>
          <a:r>
            <a:rPr lang="en-US" sz="1400" kern="1200" dirty="0"/>
            <a:t> sin </a:t>
          </a:r>
          <a:r>
            <a:rPr lang="en-US" sz="1400" kern="1200" dirty="0" err="1"/>
            <a:t>entregar</a:t>
          </a:r>
          <a:r>
            <a:rPr lang="en-US" sz="1400" kern="1200" dirty="0"/>
            <a:t>? </a:t>
          </a:r>
        </a:p>
      </dsp:txBody>
      <dsp:txXfrm>
        <a:off x="3735160" y="603748"/>
        <a:ext cx="3395600" cy="1738764"/>
      </dsp:txXfrm>
    </dsp:sp>
    <dsp:sp modelId="{8CBFB98A-4848-4E78-8362-E005ED1A9BBC}">
      <dsp:nvSpPr>
        <dsp:cNvPr id="0" name=""/>
        <dsp:cNvSpPr/>
      </dsp:nvSpPr>
      <dsp:spPr>
        <a:xfrm>
          <a:off x="7470321" y="0"/>
          <a:ext cx="3395600" cy="603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DIMENSIÓN DE COMPORTAMIENTO</a:t>
          </a:r>
        </a:p>
      </dsp:txBody>
      <dsp:txXfrm>
        <a:off x="7470321" y="0"/>
        <a:ext cx="3395600" cy="603748"/>
      </dsp:txXfrm>
    </dsp:sp>
    <dsp:sp modelId="{BE8D1F48-FEBA-449E-9B8A-926096C28902}">
      <dsp:nvSpPr>
        <dsp:cNvPr id="0" name=""/>
        <dsp:cNvSpPr/>
      </dsp:nvSpPr>
      <dsp:spPr>
        <a:xfrm>
          <a:off x="7470321" y="603748"/>
          <a:ext cx="3395600" cy="1738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err="1"/>
            <a:t>Comportamiento</a:t>
          </a:r>
          <a:r>
            <a:rPr lang="en-US" sz="1400" kern="1200" dirty="0"/>
            <a:t> del </a:t>
          </a:r>
          <a:r>
            <a:rPr lang="en-US" sz="1400" kern="1200" dirty="0" err="1"/>
            <a:t>estudiante</a:t>
          </a:r>
          <a:r>
            <a:rPr lang="en-US" sz="1400" kern="1200" dirty="0"/>
            <a:t>, </a:t>
          </a:r>
          <a:r>
            <a:rPr lang="en-US" sz="1400" kern="1200" dirty="0" err="1"/>
            <a:t>responde</a:t>
          </a:r>
          <a:r>
            <a:rPr lang="en-US" sz="1400" kern="1200" dirty="0"/>
            <a:t> a las </a:t>
          </a:r>
          <a:r>
            <a:rPr lang="en-US" sz="1400" kern="1200" dirty="0" err="1"/>
            <a:t>preguntas</a:t>
          </a:r>
          <a:r>
            <a:rPr lang="en-US" sz="1400" kern="1200" dirty="0"/>
            <a:t>:</a:t>
          </a:r>
        </a:p>
        <a:p>
          <a:pPr marL="0" lvl="0" indent="0" algn="l" defTabSz="622300">
            <a:lnSpc>
              <a:spcPct val="100000"/>
            </a:lnSpc>
            <a:spcBef>
              <a:spcPct val="0"/>
            </a:spcBef>
            <a:spcAft>
              <a:spcPct val="35000"/>
            </a:spcAft>
            <a:buFont typeface="Arial" panose="020B0604020202020204" pitchFamily="34" charset="0"/>
            <a:buNone/>
          </a:pPr>
          <a:r>
            <a:rPr lang="en-US" sz="1400" kern="1200" dirty="0"/>
            <a:t>¿A </a:t>
          </a:r>
          <a:r>
            <a:rPr lang="en-US" sz="1400" kern="1200" dirty="0" err="1"/>
            <a:t>que</a:t>
          </a:r>
          <a:r>
            <a:rPr lang="en-US" sz="1400" kern="1200" dirty="0"/>
            <a:t> </a:t>
          </a:r>
          <a:r>
            <a:rPr lang="en-US" sz="1400" kern="1200" dirty="0" err="1"/>
            <a:t>hace</a:t>
          </a:r>
          <a:r>
            <a:rPr lang="en-US" sz="1400" kern="1200" dirty="0"/>
            <a:t> </a:t>
          </a:r>
          <a:r>
            <a:rPr lang="en-US" sz="1400" kern="1200" dirty="0" err="1"/>
            <a:t>clic</a:t>
          </a:r>
          <a:r>
            <a:rPr lang="en-US" sz="1400" kern="1200" dirty="0"/>
            <a:t> </a:t>
          </a:r>
          <a:r>
            <a:rPr lang="en-US" sz="1400" kern="1200" dirty="0" err="1"/>
            <a:t>el</a:t>
          </a:r>
          <a:r>
            <a:rPr lang="en-US" sz="1400" kern="1200" dirty="0"/>
            <a:t> </a:t>
          </a:r>
          <a:r>
            <a:rPr lang="en-US" sz="1400" kern="1200" dirty="0" err="1"/>
            <a:t>estudiante</a:t>
          </a:r>
          <a:r>
            <a:rPr lang="en-US" sz="1400" kern="1200" dirty="0"/>
            <a:t>?</a:t>
          </a:r>
          <a:br>
            <a:rPr lang="en-US" sz="1400" kern="1200" dirty="0"/>
          </a:br>
          <a:r>
            <a:rPr lang="en-US" sz="1400" kern="1200" dirty="0"/>
            <a:t>¿</a:t>
          </a:r>
          <a:r>
            <a:rPr lang="en-US" sz="1400" kern="1200" dirty="0" err="1"/>
            <a:t>Cuántas</a:t>
          </a:r>
          <a:r>
            <a:rPr lang="en-US" sz="1400" kern="1200" dirty="0"/>
            <a:t> </a:t>
          </a:r>
          <a:r>
            <a:rPr lang="en-US" sz="1400" kern="1200" dirty="0" err="1"/>
            <a:t>veces</a:t>
          </a:r>
          <a:r>
            <a:rPr lang="en-US" sz="1400" kern="1200" dirty="0"/>
            <a:t>? ¿En </a:t>
          </a:r>
          <a:r>
            <a:rPr lang="en-US" sz="1400" kern="1200" dirty="0" err="1"/>
            <a:t>que</a:t>
          </a:r>
          <a:r>
            <a:rPr lang="en-US" sz="1400" kern="1200" dirty="0"/>
            <a:t> </a:t>
          </a:r>
          <a:r>
            <a:rPr lang="en-US" sz="1400" kern="1200" dirty="0" err="1"/>
            <a:t>semana</a:t>
          </a:r>
          <a:r>
            <a:rPr lang="en-US" sz="1400" kern="1200" dirty="0"/>
            <a:t>? </a:t>
          </a:r>
        </a:p>
      </dsp:txBody>
      <dsp:txXfrm>
        <a:off x="7470321" y="603748"/>
        <a:ext cx="3395600" cy="1738764"/>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038533-F3F5-4769-8021-E2B57AA15E6F}" type="datetimeFigureOut">
              <a:rPr lang="es-ES" smtClean="0"/>
              <a:t>25/04/2026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7330C-2A21-4197-BA01-D340F40852A5}" type="slidenum">
              <a:rPr lang="es-ES" smtClean="0"/>
              <a:t>‹Nº›</a:t>
            </a:fld>
            <a:endParaRPr lang="es-ES"/>
          </a:p>
        </p:txBody>
      </p:sp>
    </p:spTree>
    <p:extLst>
      <p:ext uri="{BB962C8B-B14F-4D97-AF65-F5344CB8AC3E}">
        <p14:creationId xmlns:p14="http://schemas.microsoft.com/office/powerpoint/2010/main" val="419529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
---
</a:t>
            </a:r>
          </a:p>
        </p:txBody>
      </p:sp>
      <p:sp>
        <p:nvSpPr>
          <p:cNvPr id="4" name="Marcador de número de diapositiva 3"/>
          <p:cNvSpPr>
            <a:spLocks noGrp="1"/>
          </p:cNvSpPr>
          <p:nvPr>
            <p:ph type="sldNum" sz="quarter" idx="5"/>
          </p:nvPr>
        </p:nvSpPr>
        <p:spPr/>
        <p:txBody>
          <a:bodyPr/>
          <a:lstStyle/>
          <a:p>
            <a:fld id="{49106BCD-345D-4A25-839A-DBCF2F844C18}" type="slidenum">
              <a:rPr lang="es-ES" smtClean="0"/>
              <a:t>1</a:t>
            </a:fld>
            <a:endParaRPr lang="es-ES"/>
          </a:p>
        </p:txBody>
      </p:sp>
    </p:spTree>
    <p:extLst>
      <p:ext uri="{BB962C8B-B14F-4D97-AF65-F5344CB8AC3E}">
        <p14:creationId xmlns:p14="http://schemas.microsoft.com/office/powerpoint/2010/main" val="3650143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
---
Alexander Graham Bell es reconocido como el inventor principal del teléfono, patentando su diseño en 1876. Sin embargo, otros pioneros como </a:t>
            </a:r>
            <a:r>
              <a:rPr lang="es-ES" dirty="0" err="1"/>
              <a:t>Elisha</a:t>
            </a:r>
            <a:r>
              <a:rPr lang="es-ES" dirty="0"/>
              <a:t> Gray y Antonio Meucci hicieron contribuciones significativas al desarrollo de tecnologías telefónicas. Meucci desarrolló prototipos de dispositivos para comunicación por voz décadas antes, sin obtener las patentes necesarias, mientras Gray presentó una patente similar casi simultáneamente con Bell, lo que generó controversias legales. Este equipo de inventores exploró la conversión de señales acústicas a señales eléctricas, un avance fundamental en la historia telefónica.
Origen de la imagen: generada por IA
</a:t>
            </a:r>
          </a:p>
        </p:txBody>
      </p:sp>
      <p:sp>
        <p:nvSpPr>
          <p:cNvPr id="4" name="Marcador de número de diapositiva 3"/>
          <p:cNvSpPr>
            <a:spLocks noGrp="1"/>
          </p:cNvSpPr>
          <p:nvPr>
            <p:ph type="sldNum" sz="quarter" idx="5"/>
          </p:nvPr>
        </p:nvSpPr>
        <p:spPr/>
        <p:txBody>
          <a:bodyPr/>
          <a:lstStyle/>
          <a:p>
            <a:fld id="{49106BCD-345D-4A25-839A-DBCF2F844C18}" type="slidenum">
              <a:rPr lang="es-ES" smtClean="0"/>
              <a:t>2</a:t>
            </a:fld>
            <a:endParaRPr lang="es-ES"/>
          </a:p>
        </p:txBody>
      </p:sp>
    </p:spTree>
    <p:extLst>
      <p:ext uri="{BB962C8B-B14F-4D97-AF65-F5344CB8AC3E}">
        <p14:creationId xmlns:p14="http://schemas.microsoft.com/office/powerpoint/2010/main" val="677377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presentación ha explorado cómo la invención del teléfono revolucionó la comunicación y sentó las bases para avances tecnológicos posteriores. Del mismo modo, la aplicación de la inteligencia artificial en plataformas educativas promete detectar riesgos académicos tempranamente y facilitar acciones pedagógicas efectivas, contribuyendo a un aprendizaje más personalizado y eficiente.</a:t>
            </a:r>
          </a:p>
        </p:txBody>
      </p:sp>
      <p:sp>
        <p:nvSpPr>
          <p:cNvPr id="4" name="Marcador de número de diapositiva 3"/>
          <p:cNvSpPr>
            <a:spLocks noGrp="1"/>
          </p:cNvSpPr>
          <p:nvPr>
            <p:ph type="sldNum" sz="quarter" idx="5"/>
          </p:nvPr>
        </p:nvSpPr>
        <p:spPr/>
        <p:txBody>
          <a:bodyPr/>
          <a:lstStyle/>
          <a:p>
            <a:fld id="{49106BCD-345D-4A25-839A-DBCF2F844C18}" type="slidenum">
              <a:rPr lang="es-ES" smtClean="0"/>
              <a:t>5</a:t>
            </a:fld>
            <a:endParaRPr lang="es-ES"/>
          </a:p>
        </p:txBody>
      </p:sp>
    </p:spTree>
    <p:extLst>
      <p:ext uri="{BB962C8B-B14F-4D97-AF65-F5344CB8AC3E}">
        <p14:creationId xmlns:p14="http://schemas.microsoft.com/office/powerpoint/2010/main" val="312467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
---
Las motivaciones para inventar el teléfono surgieron de la creciente necesidad de mejorar las comunicaciones personales y comerciales. La incapacidad del telégrafo para transmitir la voz humana y la demanda de comunicaciones instantáneas en sectores como los negocios y la administración pública impulsaron la búsqueda de una tecnología que permitiera la transmisión de voz a larga distancia. Además, el desarrollo tecnológico del siglo XIX, como el electromagnetismo, abrió nuevas posibilidades para la creación de dispositivos capaces de transportar señales acústicas a través de cables eléctricos.
Origen de la imagen: generada por IA
</a:t>
            </a:r>
          </a:p>
        </p:txBody>
      </p:sp>
      <p:sp>
        <p:nvSpPr>
          <p:cNvPr id="4" name="Marcador de número de diapositiva 3"/>
          <p:cNvSpPr>
            <a:spLocks noGrp="1"/>
          </p:cNvSpPr>
          <p:nvPr>
            <p:ph type="sldNum" sz="quarter" idx="5"/>
          </p:nvPr>
        </p:nvSpPr>
        <p:spPr/>
        <p:txBody>
          <a:bodyPr/>
          <a:lstStyle/>
          <a:p>
            <a:fld id="{49106BCD-345D-4A25-839A-DBCF2F844C18}" type="slidenum">
              <a:rPr lang="es-ES" smtClean="0"/>
              <a:t>7</a:t>
            </a:fld>
            <a:endParaRPr lang="es-ES"/>
          </a:p>
        </p:txBody>
      </p:sp>
    </p:spTree>
    <p:extLst>
      <p:ext uri="{BB962C8B-B14F-4D97-AF65-F5344CB8AC3E}">
        <p14:creationId xmlns:p14="http://schemas.microsoft.com/office/powerpoint/2010/main" val="1906679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0E426-114C-8D09-B697-B834060F2E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E197FF-A13B-1DD7-E96C-22DF4BA48E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D2ADCA-5DD6-9263-9C8D-95A3AA495600}"/>
              </a:ext>
            </a:extLst>
          </p:cNvPr>
          <p:cNvSpPr>
            <a:spLocks noGrp="1"/>
          </p:cNvSpPr>
          <p:nvPr>
            <p:ph type="body" idx="1"/>
          </p:nvPr>
        </p:nvSpPr>
        <p:spPr/>
        <p:txBody>
          <a:bodyPr/>
          <a:lstStyle/>
          <a:p>
            <a:r>
              <a:rPr lang="es-ES" dirty="0"/>
              <a:t>
---
Las motivaciones para inventar el teléfono surgieron de la creciente necesidad de mejorar las comunicaciones personales y comerciales. La incapacidad del telégrafo para transmitir la voz humana y la demanda de comunicaciones instantáneas en sectores como los negocios y la administración pública impulsaron la búsqueda de una tecnología que permitiera la transmisión de voz a larga distancia. Además, el desarrollo tecnológico del siglo XIX, como el electromagnetismo, abrió nuevas posibilidades para la creación de dispositivos capaces de transportar señales acústicas a través de cables eléctricos.
Origen de la imagen: generada por IA
</a:t>
            </a:r>
          </a:p>
        </p:txBody>
      </p:sp>
      <p:sp>
        <p:nvSpPr>
          <p:cNvPr id="4" name="Marcador de número de diapositiva 3">
            <a:extLst>
              <a:ext uri="{FF2B5EF4-FFF2-40B4-BE49-F238E27FC236}">
                <a16:creationId xmlns:a16="http://schemas.microsoft.com/office/drawing/2014/main" id="{590AED02-A07C-D5C4-9781-B5C655F059CB}"/>
              </a:ext>
            </a:extLst>
          </p:cNvPr>
          <p:cNvSpPr>
            <a:spLocks noGrp="1"/>
          </p:cNvSpPr>
          <p:nvPr>
            <p:ph type="sldNum" sz="quarter" idx="5"/>
          </p:nvPr>
        </p:nvSpPr>
        <p:spPr/>
        <p:txBody>
          <a:bodyPr/>
          <a:lstStyle/>
          <a:p>
            <a:fld id="{49106BCD-345D-4A25-839A-DBCF2F844C18}" type="slidenum">
              <a:rPr lang="es-ES" smtClean="0"/>
              <a:t>9</a:t>
            </a:fld>
            <a:endParaRPr lang="es-ES"/>
          </a:p>
        </p:txBody>
      </p:sp>
    </p:spTree>
    <p:extLst>
      <p:ext uri="{BB962C8B-B14F-4D97-AF65-F5344CB8AC3E}">
        <p14:creationId xmlns:p14="http://schemas.microsoft.com/office/powerpoint/2010/main" val="204087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AFC8-1054-2E94-54BB-0EE1072491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F3DA77-766A-7030-3BCE-90DC0CFD74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0CC0F09-60EA-876F-9B78-100FF902E94B}"/>
              </a:ext>
            </a:extLst>
          </p:cNvPr>
          <p:cNvSpPr>
            <a:spLocks noGrp="1"/>
          </p:cNvSpPr>
          <p:nvPr>
            <p:ph type="body" idx="1"/>
          </p:nvPr>
        </p:nvSpPr>
        <p:spPr/>
        <p:txBody>
          <a:bodyPr/>
          <a:lstStyle/>
          <a:p>
            <a:r>
              <a:rPr lang="es-ES"/>
              <a:t>
---
El primer prototipo funcional de teléfono de Bell consistía en un transmisor y un receptor que convertían ondas sonoras en señales eléctricas y viceversa. Técnicamente, utilizaba un diafragma que vibraba con la voz, modulado por un electroimán para generar variaciones eléctricas. La señal viajaba a través de cables conductores hasta un receptor similar que reconstruía la voz. Este diseño innovador permitió la transmisión de conversaciones en tiempo real a distancias inicialmente cortas, estableciendo la base para tecnologías telefónicas posteriores. La simplicidad y efectividad técnica fueron cruciales para su aceptación.
Origen de la imagen: generada por IA
</a:t>
            </a:r>
          </a:p>
        </p:txBody>
      </p:sp>
      <p:sp>
        <p:nvSpPr>
          <p:cNvPr id="4" name="Marcador de número de diapositiva 3">
            <a:extLst>
              <a:ext uri="{FF2B5EF4-FFF2-40B4-BE49-F238E27FC236}">
                <a16:creationId xmlns:a16="http://schemas.microsoft.com/office/drawing/2014/main" id="{EC5A944E-FA1A-05A3-656F-86A40AA50830}"/>
              </a:ext>
            </a:extLst>
          </p:cNvPr>
          <p:cNvSpPr>
            <a:spLocks noGrp="1"/>
          </p:cNvSpPr>
          <p:nvPr>
            <p:ph type="sldNum" sz="quarter" idx="5"/>
          </p:nvPr>
        </p:nvSpPr>
        <p:spPr/>
        <p:txBody>
          <a:bodyPr/>
          <a:lstStyle/>
          <a:p>
            <a:fld id="{49106BCD-345D-4A25-839A-DBCF2F844C18}" type="slidenum">
              <a:rPr lang="es-ES" smtClean="0"/>
              <a:t>11</a:t>
            </a:fld>
            <a:endParaRPr lang="es-ES"/>
          </a:p>
        </p:txBody>
      </p:sp>
    </p:spTree>
    <p:extLst>
      <p:ext uri="{BB962C8B-B14F-4D97-AF65-F5344CB8AC3E}">
        <p14:creationId xmlns:p14="http://schemas.microsoft.com/office/powerpoint/2010/main" val="1539925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976C0-69E3-AD4E-596C-D7040F8B44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A22A72-D245-F6F1-7D5A-1B9972C67B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10EFE4-181E-4EFA-D957-57739264CC58}"/>
              </a:ext>
            </a:extLst>
          </p:cNvPr>
          <p:cNvSpPr>
            <a:spLocks noGrp="1"/>
          </p:cNvSpPr>
          <p:nvPr>
            <p:ph type="body" idx="1"/>
          </p:nvPr>
        </p:nvSpPr>
        <p:spPr/>
        <p:txBody>
          <a:bodyPr/>
          <a:lstStyle/>
          <a:p>
            <a:r>
              <a:rPr lang="es-ES"/>
              <a:t>
---
El primer prototipo funcional de teléfono de Bell consistía en un transmisor y un receptor que convertían ondas sonoras en señales eléctricas y viceversa. Técnicamente, utilizaba un diafragma que vibraba con la voz, modulado por un electroimán para generar variaciones eléctricas. La señal viajaba a través de cables conductores hasta un receptor similar que reconstruía la voz. Este diseño innovador permitió la transmisión de conversaciones en tiempo real a distancias inicialmente cortas, estableciendo la base para tecnologías telefónicas posteriores. La simplicidad y efectividad técnica fueron cruciales para su aceptación.
Origen de la imagen: generada por IA
</a:t>
            </a:r>
          </a:p>
        </p:txBody>
      </p:sp>
      <p:sp>
        <p:nvSpPr>
          <p:cNvPr id="4" name="Marcador de número de diapositiva 3">
            <a:extLst>
              <a:ext uri="{FF2B5EF4-FFF2-40B4-BE49-F238E27FC236}">
                <a16:creationId xmlns:a16="http://schemas.microsoft.com/office/drawing/2014/main" id="{C4BDB0ED-9224-5A91-C6A2-E03715BB6B18}"/>
              </a:ext>
            </a:extLst>
          </p:cNvPr>
          <p:cNvSpPr>
            <a:spLocks noGrp="1"/>
          </p:cNvSpPr>
          <p:nvPr>
            <p:ph type="sldNum" sz="quarter" idx="5"/>
          </p:nvPr>
        </p:nvSpPr>
        <p:spPr/>
        <p:txBody>
          <a:bodyPr/>
          <a:lstStyle/>
          <a:p>
            <a:fld id="{49106BCD-345D-4A25-839A-DBCF2F844C18}" type="slidenum">
              <a:rPr lang="es-ES" smtClean="0"/>
              <a:t>12</a:t>
            </a:fld>
            <a:endParaRPr lang="es-ES"/>
          </a:p>
        </p:txBody>
      </p:sp>
    </p:spTree>
    <p:extLst>
      <p:ext uri="{BB962C8B-B14F-4D97-AF65-F5344CB8AC3E}">
        <p14:creationId xmlns:p14="http://schemas.microsoft.com/office/powerpoint/2010/main" val="4186483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E468D-BBA3-29CE-BCB7-EE6B062B74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DC3B49-4EFB-5A94-BA49-0B85006A01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4AFF91-FC15-51DC-AAAD-8985A66298AA}"/>
              </a:ext>
            </a:extLst>
          </p:cNvPr>
          <p:cNvSpPr>
            <a:spLocks noGrp="1"/>
          </p:cNvSpPr>
          <p:nvPr>
            <p:ph type="body" idx="1"/>
          </p:nvPr>
        </p:nvSpPr>
        <p:spPr/>
        <p:txBody>
          <a:bodyPr/>
          <a:lstStyle/>
          <a:p>
            <a:r>
              <a:rPr lang="es-ES" dirty="0"/>
              <a:t>
---
El primer prototipo funcional de teléfono de Bell consistía en un transmisor y un receptor que convertían ondas sonoras en señales eléctricas y viceversa. Técnicamente, utilizaba un diafragma que vibraba con la voz, modulado por un electroimán para generar variaciones eléctricas. La señal viajaba a través de cables conductores hasta un receptor similar que reconstruía la voz. Este diseño innovador permitió la transmisión de conversaciones en tiempo real a distancias inicialmente cortas, estableciendo la base para tecnologías telefónicas posteriores. La simplicidad y efectividad técnica fueron cruciales para su aceptación.
Origen de la imagen: generada por IA
</a:t>
            </a:r>
          </a:p>
        </p:txBody>
      </p:sp>
      <p:sp>
        <p:nvSpPr>
          <p:cNvPr id="4" name="Marcador de número de diapositiva 3">
            <a:extLst>
              <a:ext uri="{FF2B5EF4-FFF2-40B4-BE49-F238E27FC236}">
                <a16:creationId xmlns:a16="http://schemas.microsoft.com/office/drawing/2014/main" id="{96F681F4-5A0C-E04D-4A2F-22157FA560FC}"/>
              </a:ext>
            </a:extLst>
          </p:cNvPr>
          <p:cNvSpPr>
            <a:spLocks noGrp="1"/>
          </p:cNvSpPr>
          <p:nvPr>
            <p:ph type="sldNum" sz="quarter" idx="5"/>
          </p:nvPr>
        </p:nvSpPr>
        <p:spPr/>
        <p:txBody>
          <a:bodyPr/>
          <a:lstStyle/>
          <a:p>
            <a:fld id="{49106BCD-345D-4A25-839A-DBCF2F844C18}" type="slidenum">
              <a:rPr lang="es-ES" smtClean="0"/>
              <a:t>13</a:t>
            </a:fld>
            <a:endParaRPr lang="es-ES"/>
          </a:p>
        </p:txBody>
      </p:sp>
    </p:spTree>
    <p:extLst>
      <p:ext uri="{BB962C8B-B14F-4D97-AF65-F5344CB8AC3E}">
        <p14:creationId xmlns:p14="http://schemas.microsoft.com/office/powerpoint/2010/main" val="3013515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87934-CCA6-9F14-E0F7-B13930C355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CE72A1-A4E0-CDA1-8A2A-93E7D65E01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76D04C-8A46-326B-A1E0-6FD27E824CA7}"/>
              </a:ext>
            </a:extLst>
          </p:cNvPr>
          <p:cNvSpPr>
            <a:spLocks noGrp="1"/>
          </p:cNvSpPr>
          <p:nvPr>
            <p:ph type="body" idx="1"/>
          </p:nvPr>
        </p:nvSpPr>
        <p:spPr/>
        <p:txBody>
          <a:bodyPr/>
          <a:lstStyle/>
          <a:p>
            <a:r>
              <a:rPr lang="es-ES"/>
              <a:t>Esta presentación ha explorado cómo la invención del teléfono revolucionó la comunicación y sentó las bases para avances tecnológicos posteriores. Del mismo modo, la aplicación de la inteligencia artificial en plataformas educativas promete detectar riesgos académicos tempranamente y facilitar acciones pedagógicas efectivas, contribuyendo a un aprendizaje más personalizado y eficiente.</a:t>
            </a:r>
          </a:p>
        </p:txBody>
      </p:sp>
      <p:sp>
        <p:nvSpPr>
          <p:cNvPr id="4" name="Marcador de número de diapositiva 3">
            <a:extLst>
              <a:ext uri="{FF2B5EF4-FFF2-40B4-BE49-F238E27FC236}">
                <a16:creationId xmlns:a16="http://schemas.microsoft.com/office/drawing/2014/main" id="{DEEB022E-80D1-7F06-8F6A-FFA9B5D13592}"/>
              </a:ext>
            </a:extLst>
          </p:cNvPr>
          <p:cNvSpPr>
            <a:spLocks noGrp="1"/>
          </p:cNvSpPr>
          <p:nvPr>
            <p:ph type="sldNum" sz="quarter" idx="5"/>
          </p:nvPr>
        </p:nvSpPr>
        <p:spPr/>
        <p:txBody>
          <a:bodyPr/>
          <a:lstStyle/>
          <a:p>
            <a:fld id="{49106BCD-345D-4A25-839A-DBCF2F844C18}" type="slidenum">
              <a:rPr lang="es-ES" smtClean="0"/>
              <a:t>15</a:t>
            </a:fld>
            <a:endParaRPr lang="es-ES"/>
          </a:p>
        </p:txBody>
      </p:sp>
    </p:spTree>
    <p:extLst>
      <p:ext uri="{BB962C8B-B14F-4D97-AF65-F5344CB8AC3E}">
        <p14:creationId xmlns:p14="http://schemas.microsoft.com/office/powerpoint/2010/main" val="3693175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CBC04-B9D2-95B4-DCFE-B706EFB258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1D01DA-2898-E916-5A8D-A0F24F5684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4EC44C-0C04-7D12-3BE6-88E99D140930}"/>
              </a:ext>
            </a:extLst>
          </p:cNvPr>
          <p:cNvSpPr>
            <a:spLocks noGrp="1"/>
          </p:cNvSpPr>
          <p:nvPr>
            <p:ph type="body" idx="1"/>
          </p:nvPr>
        </p:nvSpPr>
        <p:spPr/>
        <p:txBody>
          <a:bodyPr/>
          <a:lstStyle/>
          <a:p>
            <a:r>
              <a:rPr lang="es-ES"/>
              <a:t>
---
El primer prototipo funcional de teléfono de Bell consistía en un transmisor y un receptor que convertían ondas sonoras en señales eléctricas y viceversa. Técnicamente, utilizaba un diafragma que vibraba con la voz, modulado por un electroimán para generar variaciones eléctricas. La señal viajaba a través de cables conductores hasta un receptor similar que reconstruía la voz. Este diseño innovador permitió la transmisión de conversaciones en tiempo real a distancias inicialmente cortas, estableciendo la base para tecnologías telefónicas posteriores. La simplicidad y efectividad técnica fueron cruciales para su aceptación.
Origen de la imagen: generada por IA
</a:t>
            </a:r>
          </a:p>
        </p:txBody>
      </p:sp>
      <p:sp>
        <p:nvSpPr>
          <p:cNvPr id="4" name="Marcador de número de diapositiva 3">
            <a:extLst>
              <a:ext uri="{FF2B5EF4-FFF2-40B4-BE49-F238E27FC236}">
                <a16:creationId xmlns:a16="http://schemas.microsoft.com/office/drawing/2014/main" id="{8A6E8FEF-89A1-667F-EAF0-0516C660B44A}"/>
              </a:ext>
            </a:extLst>
          </p:cNvPr>
          <p:cNvSpPr>
            <a:spLocks noGrp="1"/>
          </p:cNvSpPr>
          <p:nvPr>
            <p:ph type="sldNum" sz="quarter" idx="5"/>
          </p:nvPr>
        </p:nvSpPr>
        <p:spPr/>
        <p:txBody>
          <a:bodyPr/>
          <a:lstStyle/>
          <a:p>
            <a:fld id="{49106BCD-345D-4A25-839A-DBCF2F844C18}" type="slidenum">
              <a:rPr lang="es-ES" smtClean="0"/>
              <a:t>16</a:t>
            </a:fld>
            <a:endParaRPr lang="es-ES"/>
          </a:p>
        </p:txBody>
      </p:sp>
    </p:spTree>
    <p:extLst>
      <p:ext uri="{BB962C8B-B14F-4D97-AF65-F5344CB8AC3E}">
        <p14:creationId xmlns:p14="http://schemas.microsoft.com/office/powerpoint/2010/main" val="1060646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821D-5359-B969-5F05-5D734BABA8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0C5389-9F6B-2249-CBB4-62CE92EDFC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A75143-63DB-EC6F-0C4E-3D909C404AFD}"/>
              </a:ext>
            </a:extLst>
          </p:cNvPr>
          <p:cNvSpPr>
            <a:spLocks noGrp="1"/>
          </p:cNvSpPr>
          <p:nvPr>
            <p:ph type="body" idx="1"/>
          </p:nvPr>
        </p:nvSpPr>
        <p:spPr/>
        <p:txBody>
          <a:bodyPr/>
          <a:lstStyle/>
          <a:p>
            <a:r>
              <a:rPr lang="es-ES"/>
              <a:t>
---
El primer prototipo funcional de teléfono de Bell consistía en un transmisor y un receptor que convertían ondas sonoras en señales eléctricas y viceversa. Técnicamente, utilizaba un diafragma que vibraba con la voz, modulado por un electroimán para generar variaciones eléctricas. La señal viajaba a través de cables conductores hasta un receptor similar que reconstruía la voz. Este diseño innovador permitió la transmisión de conversaciones en tiempo real a distancias inicialmente cortas, estableciendo la base para tecnologías telefónicas posteriores. La simplicidad y efectividad técnica fueron cruciales para su aceptación.
Origen de la imagen: generada por IA
</a:t>
            </a:r>
          </a:p>
        </p:txBody>
      </p:sp>
      <p:sp>
        <p:nvSpPr>
          <p:cNvPr id="4" name="Marcador de número de diapositiva 3">
            <a:extLst>
              <a:ext uri="{FF2B5EF4-FFF2-40B4-BE49-F238E27FC236}">
                <a16:creationId xmlns:a16="http://schemas.microsoft.com/office/drawing/2014/main" id="{0E154179-F001-2951-10C2-C51FCF34CFA6}"/>
              </a:ext>
            </a:extLst>
          </p:cNvPr>
          <p:cNvSpPr>
            <a:spLocks noGrp="1"/>
          </p:cNvSpPr>
          <p:nvPr>
            <p:ph type="sldNum" sz="quarter" idx="5"/>
          </p:nvPr>
        </p:nvSpPr>
        <p:spPr/>
        <p:txBody>
          <a:bodyPr/>
          <a:lstStyle/>
          <a:p>
            <a:fld id="{49106BCD-345D-4A25-839A-DBCF2F844C18}" type="slidenum">
              <a:rPr lang="es-ES" smtClean="0"/>
              <a:t>17</a:t>
            </a:fld>
            <a:endParaRPr lang="es-ES"/>
          </a:p>
        </p:txBody>
      </p:sp>
    </p:spTree>
    <p:extLst>
      <p:ext uri="{BB962C8B-B14F-4D97-AF65-F5344CB8AC3E}">
        <p14:creationId xmlns:p14="http://schemas.microsoft.com/office/powerpoint/2010/main" val="2779811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4299-2089-419A-7181-C5275B108A6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BAFDF2-754D-DCEB-C17C-DA04EABB7D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D57451-4029-8AA4-4CCE-D81644E74442}"/>
              </a:ext>
            </a:extLst>
          </p:cNvPr>
          <p:cNvSpPr>
            <a:spLocks noGrp="1"/>
          </p:cNvSpPr>
          <p:nvPr>
            <p:ph type="body" idx="1"/>
          </p:nvPr>
        </p:nvSpPr>
        <p:spPr/>
        <p:txBody>
          <a:bodyPr/>
          <a:lstStyle/>
          <a:p>
            <a:r>
              <a:rPr lang="es-ES"/>
              <a:t>
---
El primer prototipo funcional de teléfono de Bell consistía en un transmisor y un receptor que convertían ondas sonoras en señales eléctricas y viceversa. Técnicamente, utilizaba un diafragma que vibraba con la voz, modulado por un electroimán para generar variaciones eléctricas. La señal viajaba a través de cables conductores hasta un receptor similar que reconstruía la voz. Este diseño innovador permitió la transmisión de conversaciones en tiempo real a distancias inicialmente cortas, estableciendo la base para tecnologías telefónicas posteriores. La simplicidad y efectividad técnica fueron cruciales para su aceptación.
Origen de la imagen: generada por IA
</a:t>
            </a:r>
          </a:p>
        </p:txBody>
      </p:sp>
      <p:sp>
        <p:nvSpPr>
          <p:cNvPr id="4" name="Marcador de número de diapositiva 3">
            <a:extLst>
              <a:ext uri="{FF2B5EF4-FFF2-40B4-BE49-F238E27FC236}">
                <a16:creationId xmlns:a16="http://schemas.microsoft.com/office/drawing/2014/main" id="{CA00BEA3-A75D-C098-DA33-B371022E5E32}"/>
              </a:ext>
            </a:extLst>
          </p:cNvPr>
          <p:cNvSpPr>
            <a:spLocks noGrp="1"/>
          </p:cNvSpPr>
          <p:nvPr>
            <p:ph type="sldNum" sz="quarter" idx="5"/>
          </p:nvPr>
        </p:nvSpPr>
        <p:spPr/>
        <p:txBody>
          <a:bodyPr/>
          <a:lstStyle/>
          <a:p>
            <a:fld id="{49106BCD-345D-4A25-839A-DBCF2F844C18}" type="slidenum">
              <a:rPr lang="es-ES" smtClean="0"/>
              <a:t>18</a:t>
            </a:fld>
            <a:endParaRPr lang="es-ES"/>
          </a:p>
        </p:txBody>
      </p:sp>
    </p:spTree>
    <p:extLst>
      <p:ext uri="{BB962C8B-B14F-4D97-AF65-F5344CB8AC3E}">
        <p14:creationId xmlns:p14="http://schemas.microsoft.com/office/powerpoint/2010/main" val="141322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ítulo con image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rtlCol="0" anchor="t">
            <a:normAutofit/>
          </a:bodyPr>
          <a:lstStyle>
            <a:lvl1pPr>
              <a:defRPr sz="6000"/>
            </a:lvl1pPr>
          </a:lstStyle>
          <a:p>
            <a:pPr rtl="0"/>
            <a:r>
              <a:rPr lang="es"/>
              <a:t>Haga clic para modificar el estilo de título del patrón</a:t>
            </a:r>
            <a:endParaRPr lang="en-US" dirty="0"/>
          </a:p>
        </p:txBody>
      </p:sp>
      <p:sp>
        <p:nvSpPr>
          <p:cNvPr id="3" name="Marcador de texto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rtlCol="0"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es"/>
              <a:t>Haga clic para modificar los estilos de texto del patrón</a:t>
            </a:r>
          </a:p>
        </p:txBody>
      </p:sp>
      <p:sp>
        <p:nvSpPr>
          <p:cNvPr id="5" name="Marcador de pie de página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rtlCol="0"/>
          <a:lstStyle/>
          <a:p>
            <a:pPr rtl="0"/>
            <a:fld id="{DD84031F-D6BF-4677-B12E-7D8B88BA70F7}" type="slidenum">
              <a:rPr lang="en-US" smtClean="0"/>
              <a:t>‹Nº›</a:t>
            </a:fld>
            <a:endParaRPr lang="en-US" dirty="0"/>
          </a:p>
        </p:txBody>
      </p:sp>
      <p:sp>
        <p:nvSpPr>
          <p:cNvPr id="9" name="Marcador de posición de imagen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cxnSp>
        <p:nvCxnSpPr>
          <p:cNvPr id="10" name="Conector recto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799846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id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rtlCol="0" anchor="b"/>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4694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ítulo con imagen 2">
    <p:bg>
      <p:bgRef idx="1001">
        <a:schemeClr val="bg1"/>
      </p:bgRef>
    </p:bg>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rtlCol="0">
            <a:noAutofit/>
          </a:bodyPr>
          <a:lstStyle>
            <a:lvl1pPr marL="0" indent="0">
              <a:buNone/>
              <a:defRPr/>
            </a:lvl1pPr>
          </a:lstStyle>
          <a:p>
            <a:pPr rtl="0"/>
            <a:r>
              <a:rPr lang="es"/>
              <a:t> </a:t>
            </a:r>
          </a:p>
        </p:txBody>
      </p:sp>
      <p:sp>
        <p:nvSpPr>
          <p:cNvPr id="2" name="Título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rtlCol="0" anchor="t">
            <a:normAutofit/>
          </a:bodyPr>
          <a:lstStyle>
            <a:lvl1pPr>
              <a:defRPr sz="4400"/>
            </a:lvl1pPr>
          </a:lstStyle>
          <a:p>
            <a:pPr rtl="0"/>
            <a:r>
              <a:rPr lang="es"/>
              <a:t>Haga clic para modificar el estilo de título del patrón</a:t>
            </a:r>
            <a:endParaRPr lang="en-US" dirty="0"/>
          </a:p>
        </p:txBody>
      </p:sp>
      <p:sp>
        <p:nvSpPr>
          <p:cNvPr id="3" name="Marcador de texto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es"/>
              <a:t>Haga clic para modificar los estilos de texto del patrón</a:t>
            </a:r>
          </a:p>
        </p:txBody>
      </p:sp>
      <p:sp>
        <p:nvSpPr>
          <p:cNvPr id="5" name="Marcador de pie de página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40CC541E-3AF5-9564-CE04-E4B86459DBE0}"/>
              </a:ext>
            </a:extLst>
          </p:cNvPr>
          <p:cNvSpPr>
            <a:spLocks noGrp="1"/>
          </p:cNvSpPr>
          <p:nvPr>
            <p:ph type="dt" sz="half" idx="10"/>
          </p:nvPr>
        </p:nvSpPr>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r>
              <a:rPr lang="es-ES"/>
              <a:t>4/8/2025</a:t>
            </a:r>
            <a:endParaRPr lang="en-US"/>
          </a:p>
        </p:txBody>
      </p:sp>
      <p:sp>
        <p:nvSpPr>
          <p:cNvPr id="6" name="Marcador de número de diapositiva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fld id="{DD84031F-D6BF-4677-B12E-7D8B88BA70F7}" type="slidenum">
              <a:rPr lang="en-US" smtClean="0"/>
              <a:t>‹Nº›</a:t>
            </a:fld>
            <a:endParaRPr lang="en-US"/>
          </a:p>
        </p:txBody>
      </p:sp>
      <p:cxnSp>
        <p:nvCxnSpPr>
          <p:cNvPr id="8" name="Conector recto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354534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ítulo con imagen 3">
    <p:bg>
      <p:bgRef idx="1001">
        <a:schemeClr val="bg1"/>
      </p:bgRef>
    </p:bg>
    <p:spTree>
      <p:nvGrpSpPr>
        <p:cNvPr id="1" name=""/>
        <p:cNvGrpSpPr/>
        <p:nvPr/>
      </p:nvGrpSpPr>
      <p:grpSpPr>
        <a:xfrm>
          <a:off x="0" y="0"/>
          <a:ext cx="0" cy="0"/>
          <a:chOff x="0" y="0"/>
          <a:chExt cx="0" cy="0"/>
        </a:xfrm>
      </p:grpSpPr>
      <p:cxnSp>
        <p:nvCxnSpPr>
          <p:cNvPr id="7" name="Conector recto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ítulo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rtlCol="0" anchor="t">
            <a:normAutofit/>
          </a:bodyPr>
          <a:lstStyle>
            <a:lvl1pPr>
              <a:defRPr sz="4400"/>
            </a:lvl1pPr>
          </a:lstStyle>
          <a:p>
            <a:pPr rtl="0"/>
            <a:r>
              <a:rPr lang="es"/>
              <a:t>Haga clic para modificar el estilo de título del patrón</a:t>
            </a:r>
            <a:endParaRPr lang="en-US" dirty="0"/>
          </a:p>
        </p:txBody>
      </p:sp>
      <p:sp>
        <p:nvSpPr>
          <p:cNvPr id="9" name="Marcador de posición de imagen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texto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es"/>
              <a:t>Haga clic para modificar los estilos de texto del patrón</a:t>
            </a:r>
          </a:p>
        </p:txBody>
      </p:sp>
      <p:sp>
        <p:nvSpPr>
          <p:cNvPr id="11" name="Marcador de pie de página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rtlCol="0"/>
          <a:lstStyle/>
          <a:p>
            <a:pPr rtl="0"/>
            <a:r>
              <a:rPr lang="es-ES"/>
              <a:t>Texto de ejemplo para el pie de página</a:t>
            </a:r>
            <a:endParaRPr lang="es"/>
          </a:p>
        </p:txBody>
      </p:sp>
      <p:sp>
        <p:nvSpPr>
          <p:cNvPr id="10" name="Marcador de fecha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rtlCol="0"/>
          <a:lstStyle/>
          <a:p>
            <a:pPr rtl="0"/>
            <a:r>
              <a:rPr lang="es-ES"/>
              <a:t>4/8/2025</a:t>
            </a:r>
            <a:endParaRPr lang="en-US"/>
          </a:p>
        </p:txBody>
      </p:sp>
      <p:sp>
        <p:nvSpPr>
          <p:cNvPr id="12" name="Marcador de número de diapositiva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109688894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ítulo con imagen 4">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rtlCol="0" anchor="b">
            <a:normAutofit/>
          </a:bodyPr>
          <a:lstStyle>
            <a:lvl1pPr>
              <a:defRPr sz="4800">
                <a:solidFill>
                  <a:schemeClr val="tx1"/>
                </a:solidFill>
              </a:defRPr>
            </a:lvl1pPr>
          </a:lstStyle>
          <a:p>
            <a:pPr rtl="0"/>
            <a:r>
              <a:rPr lang="es"/>
              <a:t>Haga clic para modificar el estilo de título del patrón</a:t>
            </a:r>
            <a:endParaRPr lang="en-US" dirty="0"/>
          </a:p>
        </p:txBody>
      </p:sp>
      <p:sp>
        <p:nvSpPr>
          <p:cNvPr id="9" name="Marcador de posición de imagen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texto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es"/>
              <a:t>Haga clic para modificar los estilos de texto del patrón</a:t>
            </a:r>
          </a:p>
        </p:txBody>
      </p:sp>
      <p:sp>
        <p:nvSpPr>
          <p:cNvPr id="8" name="Marcador de pie de página 7">
            <a:extLst>
              <a:ext uri="{FF2B5EF4-FFF2-40B4-BE49-F238E27FC236}">
                <a16:creationId xmlns:a16="http://schemas.microsoft.com/office/drawing/2014/main" id="{3F256503-7989-932D-DE04-B424AC0B97DF}"/>
              </a:ext>
            </a:extLst>
          </p:cNvPr>
          <p:cNvSpPr>
            <a:spLocks noGrp="1"/>
          </p:cNvSpPr>
          <p:nvPr>
            <p:ph type="ftr" sz="quarter" idx="15"/>
          </p:nvPr>
        </p:nvSpPr>
        <p:spPr/>
        <p:txBody>
          <a:bodyPr rtlCol="0"/>
          <a:lstStyle/>
          <a:p>
            <a:pPr rtl="0"/>
            <a:r>
              <a:rPr lang="es-ES"/>
              <a:t>Texto de ejemplo para el pie de página</a:t>
            </a:r>
            <a:endParaRPr lang="es"/>
          </a:p>
        </p:txBody>
      </p:sp>
      <p:sp>
        <p:nvSpPr>
          <p:cNvPr id="7" name="Marcador de fecha 6">
            <a:extLst>
              <a:ext uri="{FF2B5EF4-FFF2-40B4-BE49-F238E27FC236}">
                <a16:creationId xmlns:a16="http://schemas.microsoft.com/office/drawing/2014/main" id="{623E99C9-C336-E83E-56A6-D68659547CAF}"/>
              </a:ext>
            </a:extLst>
          </p:cNvPr>
          <p:cNvSpPr>
            <a:spLocks noGrp="1"/>
          </p:cNvSpPr>
          <p:nvPr>
            <p:ph type="dt" sz="half" idx="14"/>
          </p:nvPr>
        </p:nvSpPr>
        <p:spPr/>
        <p:txBody>
          <a:bodyPr rtlCol="0"/>
          <a:lstStyle/>
          <a:p>
            <a:pPr rtl="0"/>
            <a:r>
              <a:rPr lang="es-ES"/>
              <a:t>4/8/2025</a:t>
            </a:r>
            <a:endParaRPr lang="en-US"/>
          </a:p>
        </p:txBody>
      </p:sp>
      <p:sp>
        <p:nvSpPr>
          <p:cNvPr id="10" name="Marcador de número de diapositiva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119857845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ítul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rtl="0"/>
            <a:r>
              <a:rPr lang="es"/>
              <a:t>Haga clic para modificar el estilo de título del patrón</a:t>
            </a:r>
            <a:endParaRPr lang="en-US" dirty="0"/>
          </a:p>
        </p:txBody>
      </p:sp>
      <p:sp>
        <p:nvSpPr>
          <p:cNvPr id="3" name="Subtítulo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rtl="0"/>
            <a:r>
              <a:rPr lang="es"/>
              <a:t>Haga clic para editar el estilo de subtítulo del patrón</a:t>
            </a:r>
            <a:endParaRPr lang="en-US" dirty="0"/>
          </a:p>
        </p:txBody>
      </p:sp>
      <p:sp>
        <p:nvSpPr>
          <p:cNvPr id="5" name="Marcador de pie de página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9" name="Conector recto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002602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ítulo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rtl="0"/>
            <a:r>
              <a:rPr lang="es"/>
              <a:t>Haga clic para modificar el estilo de título del patrón</a:t>
            </a:r>
            <a:endParaRPr lang="en-US" dirty="0"/>
          </a:p>
        </p:txBody>
      </p:sp>
      <p:sp>
        <p:nvSpPr>
          <p:cNvPr id="3" name="Subtítulo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rtl="0"/>
            <a:r>
              <a:rPr lang="es"/>
              <a:t>Haga clic para editar el estilo de subtítulo del patrón</a:t>
            </a:r>
            <a:endParaRPr lang="en-US" dirty="0"/>
          </a:p>
        </p:txBody>
      </p:sp>
      <p:sp>
        <p:nvSpPr>
          <p:cNvPr id="5" name="Marcador de pie de página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12" name="Conector recto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866101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ítulo 3">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rtl="0"/>
            <a:r>
              <a:rPr lang="es"/>
              <a:t>Haga clic para modificar el estilo de título del patrón</a:t>
            </a:r>
            <a:endParaRPr lang="en-US" dirty="0"/>
          </a:p>
        </p:txBody>
      </p:sp>
      <p:sp>
        <p:nvSpPr>
          <p:cNvPr id="3" name="Subtítulo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rtl="0"/>
            <a:r>
              <a:rPr lang="es"/>
              <a:t>Haga clic para editar el estilo de subtítulo del patrón</a:t>
            </a:r>
            <a:endParaRPr lang="en-US" dirty="0"/>
          </a:p>
        </p:txBody>
      </p:sp>
      <p:sp>
        <p:nvSpPr>
          <p:cNvPr id="5" name="Marcador de pie de página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lvl1pPr>
              <a:defRPr>
                <a:solidFill>
                  <a:schemeClr val="tx1"/>
                </a:solidFill>
              </a:defRPr>
            </a:lvl1pPr>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lvl1pPr>
              <a:defRPr>
                <a:solidFill>
                  <a:schemeClr val="tx1"/>
                </a:solidFill>
              </a:defRPr>
            </a:lvl1pPr>
          </a:lstStyle>
          <a:p>
            <a:pPr rtl="0"/>
            <a:r>
              <a:rPr lang="es-ES"/>
              <a:t>4/8/2025</a:t>
            </a:r>
            <a:endParaRPr lang="en-US"/>
          </a:p>
        </p:txBody>
      </p:sp>
      <p:sp>
        <p:nvSpPr>
          <p:cNvPr id="6" name="Marcador de número de diapositiva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‹Nº›</a:t>
            </a:fld>
            <a:endParaRPr lang="en-US"/>
          </a:p>
        </p:txBody>
      </p:sp>
      <p:cxnSp>
        <p:nvCxnSpPr>
          <p:cNvPr id="11" name="Conector recto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620925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rtlCol="0" anchor="b">
            <a:normAutofit/>
          </a:bodyPr>
          <a:lstStyle>
            <a:lvl1pPr>
              <a:defRPr sz="6600">
                <a:solidFill>
                  <a:schemeClr val="tx1"/>
                </a:solidFill>
              </a:defRPr>
            </a:lvl1pPr>
          </a:lstStyle>
          <a:p>
            <a:pPr rtl="0"/>
            <a:r>
              <a:rPr lang="es"/>
              <a:t>Haga clic para modificar el estilo de título del patrón</a:t>
            </a:r>
            <a:endParaRPr lang="en-US" dirty="0"/>
          </a:p>
        </p:txBody>
      </p:sp>
      <p:sp>
        <p:nvSpPr>
          <p:cNvPr id="5" name="Marcador de pie de página 4">
            <a:extLst>
              <a:ext uri="{FF2B5EF4-FFF2-40B4-BE49-F238E27FC236}">
                <a16:creationId xmlns:a16="http://schemas.microsoft.com/office/drawing/2014/main" id="{9F1849E7-8E94-3B02-239C-AAB481596BFD}"/>
              </a:ext>
            </a:extLst>
          </p:cNvPr>
          <p:cNvSpPr>
            <a:spLocks noGrp="1"/>
          </p:cNvSpPr>
          <p:nvPr>
            <p:ph type="ftr" sz="quarter" idx="11"/>
          </p:nvPr>
        </p:nvSpPr>
        <p:spPr/>
        <p:txBody>
          <a:bodyPr rtlCol="0"/>
          <a:lstStyle>
            <a:lvl1pPr>
              <a:defRPr>
                <a:solidFill>
                  <a:schemeClr val="tx1"/>
                </a:solidFill>
              </a:defRPr>
            </a:lvl1pPr>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8F845713-EE4C-7615-B812-531C14CF0CA2}"/>
              </a:ext>
            </a:extLst>
          </p:cNvPr>
          <p:cNvSpPr>
            <a:spLocks noGrp="1"/>
          </p:cNvSpPr>
          <p:nvPr>
            <p:ph type="dt" sz="half" idx="10"/>
          </p:nvPr>
        </p:nvSpPr>
        <p:spPr/>
        <p:txBody>
          <a:bodyPr rtlCol="0"/>
          <a:lstStyle>
            <a:lvl1pPr>
              <a:defRPr>
                <a:solidFill>
                  <a:schemeClr val="tx1"/>
                </a:solidFill>
              </a:defRPr>
            </a:lvl1pPr>
          </a:lstStyle>
          <a:p>
            <a:pPr rtl="0"/>
            <a:r>
              <a:rPr lang="es-ES"/>
              <a:t>4/8/2025</a:t>
            </a:r>
            <a:endParaRPr lang="en-US"/>
          </a:p>
        </p:txBody>
      </p:sp>
      <p:sp>
        <p:nvSpPr>
          <p:cNvPr id="6" name="Marcador de número de diapositiva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818831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rtlCol="0" anchor="t">
            <a:normAutofit/>
          </a:bodyPr>
          <a:lstStyle>
            <a:lvl1pPr>
              <a:defRPr sz="6600">
                <a:solidFill>
                  <a:schemeClr val="accent1"/>
                </a:solidFill>
              </a:defRPr>
            </a:lvl1pPr>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125238498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con image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rtlCol="0" anchor="t">
            <a:normAutofit/>
          </a:bodyPr>
          <a:lstStyle>
            <a:lvl1pPr>
              <a:defRPr sz="6600">
                <a:solidFill>
                  <a:schemeClr val="accent1"/>
                </a:solidFill>
              </a:defRPr>
            </a:lvl1pPr>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rtlCol="0"/>
          <a:lstStyle/>
          <a:p>
            <a:pPr rtl="0"/>
            <a:r>
              <a:rPr lang="es-ES"/>
              <a:t>Texto de ejemplo para el pie de página</a:t>
            </a:r>
            <a:endParaRPr lang="es"/>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rtlCol="0"/>
          <a:lstStyle/>
          <a:p>
            <a:pPr rtl="0"/>
            <a:fld id="{DD84031F-D6BF-4677-B12E-7D8B88BA70F7}" type="slidenum">
              <a:rPr lang="en-US" smtClean="0"/>
              <a:t>‹Nº›</a:t>
            </a:fld>
            <a:endParaRPr lang="en-US"/>
          </a:p>
        </p:txBody>
      </p:sp>
      <p:sp>
        <p:nvSpPr>
          <p:cNvPr id="8" name="Marcador de posición de imagen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cxnSp>
        <p:nvCxnSpPr>
          <p:cNvPr id="9" name="Conector recto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567485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con imagen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rtlCol="0" anchor="t">
            <a:normAutofit/>
          </a:bodyPr>
          <a:lstStyle>
            <a:lvl1pPr>
              <a:defRPr sz="5400">
                <a:solidFill>
                  <a:schemeClr val="accent1"/>
                </a:solidFill>
              </a:defRPr>
            </a:lvl1pPr>
          </a:lstStyle>
          <a:p>
            <a:pPr rtl="0"/>
            <a:r>
              <a:rPr lang="es"/>
              <a:t>Haga clic para modificar el estilo de título del patrón</a:t>
            </a:r>
            <a:endParaRPr lang="en-US" dirty="0"/>
          </a:p>
        </p:txBody>
      </p:sp>
      <p:sp>
        <p:nvSpPr>
          <p:cNvPr id="8" name="Marcador de posición de imagen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11" name="Conector recto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872219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ido 2">
    <p:bg>
      <p:bgRef idx="1001">
        <a:schemeClr val="bg1"/>
      </p:bgRef>
    </p:bg>
    <p:spTree>
      <p:nvGrpSpPr>
        <p:cNvPr id="1" name=""/>
        <p:cNvGrpSpPr/>
        <p:nvPr/>
      </p:nvGrpSpPr>
      <p:grpSpPr>
        <a:xfrm>
          <a:off x="0" y="0"/>
          <a:ext cx="0" cy="0"/>
          <a:chOff x="0" y="0"/>
          <a:chExt cx="0" cy="0"/>
        </a:xfrm>
      </p:grpSpPr>
      <p:cxnSp>
        <p:nvCxnSpPr>
          <p:cNvPr id="7" name="Conector recto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rtlCol="0" anchor="b"/>
          <a:lstStyle>
            <a:lvl1pPr algn="ctr">
              <a:defRPr/>
            </a:lvl1pPr>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rtlCol="0"/>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62518266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ido 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rtlCol="0" anchor="t"/>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538477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ido 4">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rtlCol="0" anchor="t"/>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33853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ido 5">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rtlCol="0" anchor="t"/>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798454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ido 6">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rtlCol="0" anchor="t"/>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595551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ido 7">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rtlCol="0" anchor="t">
            <a:normAutofit/>
          </a:bodyPr>
          <a:lstStyle>
            <a:lvl1pPr>
              <a:defRPr sz="3600"/>
            </a:lvl1pPr>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650454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ido con image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rtlCol="0"/>
          <a:lstStyle/>
          <a:p>
            <a:pPr rtl="0"/>
            <a:r>
              <a:rPr lang="es"/>
              <a:t>Haga clic para modificar el estilo de título del patrón</a:t>
            </a:r>
            <a:endParaRPr lang="en-US" dirty="0"/>
          </a:p>
        </p:txBody>
      </p:sp>
      <p:sp>
        <p:nvSpPr>
          <p:cNvPr id="34" name="Marcador de posición de imagen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0615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ido con imagen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rtlCol="0"/>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34" name="Marcador de posición de imagen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83001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ido con imagen 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rtlCol="0"/>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071488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ido con imagen 4">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rtlCol="0"/>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10" name="Marcador de posición de imagen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42728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ido con imagen 5">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rtlCol="0"/>
          <a:lstStyle/>
          <a:p>
            <a:pPr rtl="0"/>
            <a:r>
              <a:rPr lang="es"/>
              <a:t>Haga clic para modificar el estilo de título del patrón</a:t>
            </a:r>
            <a:endParaRPr lang="en-US" dirty="0"/>
          </a:p>
        </p:txBody>
      </p:sp>
      <p:sp>
        <p:nvSpPr>
          <p:cNvPr id="9" name="Marcador de posición de imagen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274000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ido con imagen 6">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rtlCol="0"/>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9" name="Marcador de posición de imagen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892898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ido con imagen 7">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rtlCol="0" anchor="b"/>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0975204"/>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ido con imagen 8">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rtlCol="0" anchor="b"/>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rtlCol="0"/>
          <a:lstStyle/>
          <a:p>
            <a:pPr rtl="0"/>
            <a:r>
              <a:rPr lang="es-ES"/>
              <a:t>Texto de ejemplo para el pie de página</a:t>
            </a:r>
            <a:endParaRPr lang="es"/>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5443081"/>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ido con imagen 9">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rtlCol="0"/>
          <a:lstStyle/>
          <a:p>
            <a:pPr rtl="0"/>
            <a:r>
              <a:rPr lang="es"/>
              <a:t>Haga clic para modificar el estilo de título del patrón</a:t>
            </a:r>
            <a:endParaRPr lang="en-US" dirty="0"/>
          </a:p>
        </p:txBody>
      </p:sp>
      <p:sp>
        <p:nvSpPr>
          <p:cNvPr id="14" name="Marcador de posición de imagen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18" name="Marcador de pie de página 17">
            <a:extLst>
              <a:ext uri="{FF2B5EF4-FFF2-40B4-BE49-F238E27FC236}">
                <a16:creationId xmlns:a16="http://schemas.microsoft.com/office/drawing/2014/main" id="{5C6323EE-3C7E-2716-8BD0-C89545F04FC6}"/>
              </a:ext>
            </a:extLst>
          </p:cNvPr>
          <p:cNvSpPr>
            <a:spLocks noGrp="1"/>
          </p:cNvSpPr>
          <p:nvPr>
            <p:ph type="ftr" sz="quarter" idx="15"/>
          </p:nvPr>
        </p:nvSpPr>
        <p:spPr/>
        <p:txBody>
          <a:bodyPr rtlCol="0"/>
          <a:lstStyle/>
          <a:p>
            <a:pPr rtl="0"/>
            <a:r>
              <a:rPr lang="es-ES"/>
              <a:t>Texto de ejemplo para el pie de página</a:t>
            </a:r>
            <a:endParaRPr lang="es"/>
          </a:p>
        </p:txBody>
      </p:sp>
      <p:sp>
        <p:nvSpPr>
          <p:cNvPr id="17" name="Marcador de fecha 16">
            <a:extLst>
              <a:ext uri="{FF2B5EF4-FFF2-40B4-BE49-F238E27FC236}">
                <a16:creationId xmlns:a16="http://schemas.microsoft.com/office/drawing/2014/main" id="{F01E841F-9F6D-0E74-84D5-4BA2AF78F5C2}"/>
              </a:ext>
            </a:extLst>
          </p:cNvPr>
          <p:cNvSpPr>
            <a:spLocks noGrp="1"/>
          </p:cNvSpPr>
          <p:nvPr>
            <p:ph type="dt" sz="half" idx="14"/>
          </p:nvPr>
        </p:nvSpPr>
        <p:spPr/>
        <p:txBody>
          <a:bodyPr rtlCol="0"/>
          <a:lstStyle/>
          <a:p>
            <a:pPr rtl="0"/>
            <a:r>
              <a:rPr lang="es-ES"/>
              <a:t>4/8/2025</a:t>
            </a:r>
            <a:endParaRPr lang="en-US"/>
          </a:p>
        </p:txBody>
      </p:sp>
      <p:sp>
        <p:nvSpPr>
          <p:cNvPr id="19" name="Marcador de número de diapositiva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192957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ido con imagen 10">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rtlCol="0"/>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9408069"/>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ido con imagen 11">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rtlCol="0"/>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rtlCol="0"/>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098046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ido con imagen 1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rtlCol="0"/>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rtlCol="0"/>
          <a:lstStyle/>
          <a:p>
            <a:pPr rtl="0"/>
            <a:r>
              <a:rPr lang="es-ES"/>
              <a:t>Texto de ejemplo para el pie de página</a:t>
            </a:r>
            <a:endParaRPr lang="es"/>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237503426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ido con imagen 1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rtlCol="0"/>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207448116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ido con imagen 14">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rtlCol="0"/>
          <a:lstStyle/>
          <a:p>
            <a:pPr rtl="0"/>
            <a:r>
              <a:rPr lang="es"/>
              <a:t>Haga clic para modificar el estilo de título del patrón</a:t>
            </a:r>
            <a:endParaRPr lang="en-US" dirty="0"/>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10" name="Marcador de posición de imagen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2953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ido con imagen 15">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rtlCol="0" anchor="b"/>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9" name="Marcador de pie de página 8">
            <a:extLst>
              <a:ext uri="{FF2B5EF4-FFF2-40B4-BE49-F238E27FC236}">
                <a16:creationId xmlns:a16="http://schemas.microsoft.com/office/drawing/2014/main" id="{8BAA5E08-9FB8-6BC2-0794-A92E1336B939}"/>
              </a:ext>
            </a:extLst>
          </p:cNvPr>
          <p:cNvSpPr>
            <a:spLocks noGrp="1"/>
          </p:cNvSpPr>
          <p:nvPr>
            <p:ph type="ftr" sz="quarter" idx="15"/>
          </p:nvPr>
        </p:nvSpPr>
        <p:spPr/>
        <p:txBody>
          <a:bodyPr rtlCol="0"/>
          <a:lstStyle/>
          <a:p>
            <a:pPr rtl="0"/>
            <a:r>
              <a:rPr lang="es-ES"/>
              <a:t>Texto de ejemplo para el pie de página</a:t>
            </a:r>
            <a:endParaRPr lang="es"/>
          </a:p>
        </p:txBody>
      </p:sp>
      <p:sp>
        <p:nvSpPr>
          <p:cNvPr id="8" name="Marcador de fecha 7">
            <a:extLst>
              <a:ext uri="{FF2B5EF4-FFF2-40B4-BE49-F238E27FC236}">
                <a16:creationId xmlns:a16="http://schemas.microsoft.com/office/drawing/2014/main" id="{17819C0A-5C58-B9A1-EDD9-43A971A8DE10}"/>
              </a:ext>
            </a:extLst>
          </p:cNvPr>
          <p:cNvSpPr>
            <a:spLocks noGrp="1"/>
          </p:cNvSpPr>
          <p:nvPr>
            <p:ph type="dt" sz="half" idx="14"/>
          </p:nvPr>
        </p:nvSpPr>
        <p:spPr/>
        <p:txBody>
          <a:bodyPr rtlCol="0"/>
          <a:lstStyle/>
          <a:p>
            <a:pPr rtl="0"/>
            <a:r>
              <a:rPr lang="es-ES"/>
              <a:t>4/8/2025</a:t>
            </a:r>
            <a:endParaRPr lang="en-US"/>
          </a:p>
        </p:txBody>
      </p:sp>
      <p:sp>
        <p:nvSpPr>
          <p:cNvPr id="11" name="Marcador de número de diapositiva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9917239"/>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ido con imagen 16">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rtlCol="0"/>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363504128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ido con imagen 17">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rtlCol="0"/>
          <a:lstStyle/>
          <a:p>
            <a:pPr rtl="0"/>
            <a:r>
              <a:rPr lang="es"/>
              <a:t>Haga clic para modificar el estilo de título del patrón</a:t>
            </a:r>
            <a:endParaRPr lang="en-US" dirty="0"/>
          </a:p>
        </p:txBody>
      </p:sp>
      <p:sp>
        <p:nvSpPr>
          <p:cNvPr id="10" name="Marcador de posición de imagen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11" name="Marcador de pie de página 10">
            <a:extLst>
              <a:ext uri="{FF2B5EF4-FFF2-40B4-BE49-F238E27FC236}">
                <a16:creationId xmlns:a16="http://schemas.microsoft.com/office/drawing/2014/main" id="{2354F31B-6E0C-9ACF-A3B4-2BE5DD2D21D0}"/>
              </a:ext>
            </a:extLst>
          </p:cNvPr>
          <p:cNvSpPr>
            <a:spLocks noGrp="1"/>
          </p:cNvSpPr>
          <p:nvPr>
            <p:ph type="ftr" sz="quarter" idx="15"/>
          </p:nvPr>
        </p:nvSpPr>
        <p:spPr/>
        <p:txBody>
          <a:bodyPr rtlCol="0"/>
          <a:lstStyle/>
          <a:p>
            <a:pPr rtl="0"/>
            <a:r>
              <a:rPr lang="es-ES"/>
              <a:t>Texto de ejemplo para el pie de página</a:t>
            </a:r>
            <a:endParaRPr lang="es"/>
          </a:p>
        </p:txBody>
      </p:sp>
      <p:sp>
        <p:nvSpPr>
          <p:cNvPr id="9" name="Marcador de fecha 8">
            <a:extLst>
              <a:ext uri="{FF2B5EF4-FFF2-40B4-BE49-F238E27FC236}">
                <a16:creationId xmlns:a16="http://schemas.microsoft.com/office/drawing/2014/main" id="{1D4992A1-A620-24C8-73C6-0C53DD6F3868}"/>
              </a:ext>
            </a:extLst>
          </p:cNvPr>
          <p:cNvSpPr>
            <a:spLocks noGrp="1"/>
          </p:cNvSpPr>
          <p:nvPr>
            <p:ph type="dt" sz="half" idx="14"/>
          </p:nvPr>
        </p:nvSpPr>
        <p:spPr/>
        <p:txBody>
          <a:bodyPr rtlCol="0"/>
          <a:lstStyle/>
          <a:p>
            <a:pPr rtl="0"/>
            <a:r>
              <a:rPr lang="es-ES"/>
              <a:t>4/8/2025</a:t>
            </a:r>
            <a:endParaRPr lang="en-US"/>
          </a:p>
        </p:txBody>
      </p:sp>
      <p:sp>
        <p:nvSpPr>
          <p:cNvPr id="12" name="Marcador de número de diapositiva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cxnSp>
        <p:nvCxnSpPr>
          <p:cNvPr id="7" name="Conector recto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136849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úmero grande">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rtlCol="0" anchor="ctr">
            <a:normAutofit/>
          </a:bodyPr>
          <a:lstStyle>
            <a:lvl1pPr algn="ctr">
              <a:defRPr sz="2800">
                <a:solidFill>
                  <a:schemeClr val="tx1"/>
                </a:solidFill>
                <a:latin typeface="+mj-lt"/>
              </a:defRPr>
            </a:lvl1pPr>
          </a:lstStyle>
          <a:p>
            <a:pPr rtl="0"/>
            <a:r>
              <a:rPr lang="es"/>
              <a:t>Haga clic para editar el texto</a:t>
            </a:r>
          </a:p>
        </p:txBody>
      </p:sp>
      <p:sp>
        <p:nvSpPr>
          <p:cNvPr id="7" name="Marcador de contenido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rtlCol="0"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rtl="0"/>
            <a:r>
              <a:rPr lang="es"/>
              <a:t>## %</a:t>
            </a:r>
          </a:p>
        </p:txBody>
      </p:sp>
      <p:sp>
        <p:nvSpPr>
          <p:cNvPr id="13" name="Marcador de pie de página 12">
            <a:extLst>
              <a:ext uri="{FF2B5EF4-FFF2-40B4-BE49-F238E27FC236}">
                <a16:creationId xmlns:a16="http://schemas.microsoft.com/office/drawing/2014/main" id="{FADD3D14-222C-BA8A-E4C0-8637820CBAB1}"/>
              </a:ext>
            </a:extLst>
          </p:cNvPr>
          <p:cNvSpPr>
            <a:spLocks noGrp="1"/>
          </p:cNvSpPr>
          <p:nvPr>
            <p:ph type="ftr" sz="quarter" idx="15"/>
          </p:nvPr>
        </p:nvSpPr>
        <p:spPr/>
        <p:txBody>
          <a:bodyPr rtlCol="0"/>
          <a:lstStyle/>
          <a:p>
            <a:pPr rtl="0"/>
            <a:r>
              <a:rPr lang="es-ES"/>
              <a:t>Texto de ejemplo para el pie de página</a:t>
            </a:r>
            <a:endParaRPr lang="es"/>
          </a:p>
        </p:txBody>
      </p:sp>
      <p:sp>
        <p:nvSpPr>
          <p:cNvPr id="12" name="Marcador de fecha 11">
            <a:extLst>
              <a:ext uri="{FF2B5EF4-FFF2-40B4-BE49-F238E27FC236}">
                <a16:creationId xmlns:a16="http://schemas.microsoft.com/office/drawing/2014/main" id="{7FEF00E3-D3E5-F5AF-F035-66A1547A0630}"/>
              </a:ext>
            </a:extLst>
          </p:cNvPr>
          <p:cNvSpPr>
            <a:spLocks noGrp="1"/>
          </p:cNvSpPr>
          <p:nvPr>
            <p:ph type="dt" sz="half" idx="14"/>
          </p:nvPr>
        </p:nvSpPr>
        <p:spPr/>
        <p:txBody>
          <a:bodyPr rtlCol="0"/>
          <a:lstStyle/>
          <a:p>
            <a:pPr rtl="0"/>
            <a:r>
              <a:rPr lang="es-ES"/>
              <a:t>4/8/2025</a:t>
            </a:r>
            <a:endParaRPr lang="en-US"/>
          </a:p>
        </p:txBody>
      </p:sp>
      <p:sp>
        <p:nvSpPr>
          <p:cNvPr id="14" name="Marcador de número de diapositiva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cxnSp>
        <p:nvCxnSpPr>
          <p:cNvPr id="6" name="Conector recto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966054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úmero grand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rtlCol="0" anchor="ctr">
            <a:normAutofit/>
          </a:bodyPr>
          <a:lstStyle>
            <a:lvl1pPr algn="ctr">
              <a:defRPr sz="2800">
                <a:solidFill>
                  <a:schemeClr val="tx1"/>
                </a:solidFill>
                <a:latin typeface="+mj-lt"/>
              </a:defRPr>
            </a:lvl1pPr>
          </a:lstStyle>
          <a:p>
            <a:pPr rtl="0"/>
            <a:r>
              <a:rPr lang="es"/>
              <a:t>Haga clic para editar el texto</a:t>
            </a:r>
          </a:p>
        </p:txBody>
      </p:sp>
      <p:sp>
        <p:nvSpPr>
          <p:cNvPr id="7" name="Marcador de contenido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rtlCol="0"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rtl="0"/>
            <a:r>
              <a:rPr lang="es"/>
              <a:t>## %</a:t>
            </a:r>
          </a:p>
        </p:txBody>
      </p:sp>
      <p:sp>
        <p:nvSpPr>
          <p:cNvPr id="10" name="Marcador de pie de página 9">
            <a:extLst>
              <a:ext uri="{FF2B5EF4-FFF2-40B4-BE49-F238E27FC236}">
                <a16:creationId xmlns:a16="http://schemas.microsoft.com/office/drawing/2014/main" id="{897B8847-6473-457E-E96C-6389E70595B5}"/>
              </a:ext>
            </a:extLst>
          </p:cNvPr>
          <p:cNvSpPr>
            <a:spLocks noGrp="1"/>
          </p:cNvSpPr>
          <p:nvPr>
            <p:ph type="ftr" sz="quarter" idx="15"/>
          </p:nvPr>
        </p:nvSpPr>
        <p:spPr/>
        <p:txBody>
          <a:bodyPr rtlCol="0"/>
          <a:lstStyle>
            <a:lvl1pPr>
              <a:defRPr>
                <a:solidFill>
                  <a:schemeClr val="tx1"/>
                </a:solidFill>
              </a:defRPr>
            </a:lvl1pPr>
          </a:lstStyle>
          <a:p>
            <a:pPr rtl="0"/>
            <a:r>
              <a:rPr lang="es-ES"/>
              <a:t>Texto de ejemplo para el pie de página</a:t>
            </a:r>
            <a:endParaRPr lang="es"/>
          </a:p>
        </p:txBody>
      </p:sp>
      <p:sp>
        <p:nvSpPr>
          <p:cNvPr id="9" name="Marcador de fecha 8">
            <a:extLst>
              <a:ext uri="{FF2B5EF4-FFF2-40B4-BE49-F238E27FC236}">
                <a16:creationId xmlns:a16="http://schemas.microsoft.com/office/drawing/2014/main" id="{397385FA-3FF0-FCCA-55E3-8E053BA2CA47}"/>
              </a:ext>
            </a:extLst>
          </p:cNvPr>
          <p:cNvSpPr>
            <a:spLocks noGrp="1"/>
          </p:cNvSpPr>
          <p:nvPr>
            <p:ph type="dt" sz="half" idx="14"/>
          </p:nvPr>
        </p:nvSpPr>
        <p:spPr/>
        <p:txBody>
          <a:bodyPr rtlCol="0"/>
          <a:lstStyle>
            <a:lvl1pPr>
              <a:defRPr>
                <a:solidFill>
                  <a:schemeClr val="tx1"/>
                </a:solidFill>
              </a:defRPr>
            </a:lvl1pPr>
          </a:lstStyle>
          <a:p>
            <a:pPr rtl="0"/>
            <a:r>
              <a:rPr lang="es-ES"/>
              <a:t>4/8/2025</a:t>
            </a:r>
            <a:endParaRPr lang="en-US"/>
          </a:p>
        </p:txBody>
      </p:sp>
      <p:sp>
        <p:nvSpPr>
          <p:cNvPr id="11" name="Marcador de número de diapositiva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rtlCol="0"/>
          <a:lstStyle>
            <a:lvl1pPr>
              <a:defRPr>
                <a:solidFill>
                  <a:schemeClr val="tx1"/>
                </a:solidFill>
              </a:defRPr>
            </a:lvl1pPr>
          </a:lstStyle>
          <a:p>
            <a:pPr rtl="0"/>
            <a:fld id="{DD84031F-D6BF-4677-B12E-7D8B88BA70F7}" type="slidenum">
              <a:rPr lang="en-US" smtClean="0"/>
              <a:t>‹Nº›</a:t>
            </a:fld>
            <a:endParaRPr lang="en-US"/>
          </a:p>
        </p:txBody>
      </p:sp>
      <p:cxnSp>
        <p:nvCxnSpPr>
          <p:cNvPr id="6" name="Conector recto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331462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úmero grande 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rtl="0"/>
            <a:r>
              <a:rPr lang="es"/>
              <a:t>Haga clic para editar el texto</a:t>
            </a:r>
          </a:p>
        </p:txBody>
      </p:sp>
      <p:sp>
        <p:nvSpPr>
          <p:cNvPr id="7" name="Marcador de contenido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rtlCol="0"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rtl="0"/>
            <a:r>
              <a:rPr lang="es"/>
              <a:t>## %</a:t>
            </a:r>
          </a:p>
        </p:txBody>
      </p:sp>
      <p:sp>
        <p:nvSpPr>
          <p:cNvPr id="11" name="Marcador de pie de página 10">
            <a:extLst>
              <a:ext uri="{FF2B5EF4-FFF2-40B4-BE49-F238E27FC236}">
                <a16:creationId xmlns:a16="http://schemas.microsoft.com/office/drawing/2014/main" id="{446459C9-E9DA-926C-F0C0-5EEDE6960776}"/>
              </a:ext>
            </a:extLst>
          </p:cNvPr>
          <p:cNvSpPr>
            <a:spLocks noGrp="1"/>
          </p:cNvSpPr>
          <p:nvPr>
            <p:ph type="ftr" sz="quarter" idx="15"/>
          </p:nvPr>
        </p:nvSpPr>
        <p:spPr/>
        <p:txBody>
          <a:bodyPr rtlCol="0"/>
          <a:lstStyle/>
          <a:p>
            <a:pPr rtl="0"/>
            <a:r>
              <a:rPr lang="es-ES"/>
              <a:t>Texto de ejemplo para el pie de página</a:t>
            </a:r>
            <a:endParaRPr lang="es"/>
          </a:p>
        </p:txBody>
      </p:sp>
      <p:sp>
        <p:nvSpPr>
          <p:cNvPr id="8" name="Marcador de fecha 7">
            <a:extLst>
              <a:ext uri="{FF2B5EF4-FFF2-40B4-BE49-F238E27FC236}">
                <a16:creationId xmlns:a16="http://schemas.microsoft.com/office/drawing/2014/main" id="{C1D02E87-8057-8AC7-6F57-2066BA1BC9B7}"/>
              </a:ext>
            </a:extLst>
          </p:cNvPr>
          <p:cNvSpPr>
            <a:spLocks noGrp="1"/>
          </p:cNvSpPr>
          <p:nvPr>
            <p:ph type="dt" sz="half" idx="14"/>
          </p:nvPr>
        </p:nvSpPr>
        <p:spPr/>
        <p:txBody>
          <a:bodyPr rtlCol="0"/>
          <a:lstStyle/>
          <a:p>
            <a:pPr rtl="0"/>
            <a:r>
              <a:rPr lang="es-ES"/>
              <a:t>4/8/2025</a:t>
            </a:r>
            <a:endParaRPr lang="en-US"/>
          </a:p>
        </p:txBody>
      </p:sp>
      <p:sp>
        <p:nvSpPr>
          <p:cNvPr id="12" name="Marcador de número de diapositiva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cxnSp>
        <p:nvCxnSpPr>
          <p:cNvPr id="9" name="Conector recto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245011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Instrucción">
    <p:bg>
      <p:bgPr>
        <a:solidFill>
          <a:schemeClr val="accent1">
            <a:lumMod val="7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rtl="0"/>
            <a:r>
              <a:rPr lang="es"/>
              <a:t>Haga clic para editar la afirmación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ie de página 9">
            <a:extLst>
              <a:ext uri="{FF2B5EF4-FFF2-40B4-BE49-F238E27FC236}">
                <a16:creationId xmlns:a16="http://schemas.microsoft.com/office/drawing/2014/main" id="{B4B05AAB-D167-637A-451A-510AF3173A71}"/>
              </a:ext>
            </a:extLst>
          </p:cNvPr>
          <p:cNvSpPr>
            <a:spLocks noGrp="1"/>
          </p:cNvSpPr>
          <p:nvPr>
            <p:ph type="ftr" sz="quarter" idx="15"/>
          </p:nvPr>
        </p:nvSpPr>
        <p:spPr/>
        <p:txBody>
          <a:bodyPr rtlCol="0"/>
          <a:lstStyle>
            <a:lvl1pPr>
              <a:defRPr>
                <a:solidFill>
                  <a:schemeClr val="tx1"/>
                </a:solidFill>
              </a:defRPr>
            </a:lvl1pPr>
          </a:lstStyle>
          <a:p>
            <a:pPr rtl="0"/>
            <a:r>
              <a:rPr lang="es-ES"/>
              <a:t>Texto de ejemplo para el pie de página</a:t>
            </a:r>
            <a:endParaRPr lang="es"/>
          </a:p>
        </p:txBody>
      </p:sp>
      <p:sp>
        <p:nvSpPr>
          <p:cNvPr id="6" name="Marcador de fecha 5">
            <a:extLst>
              <a:ext uri="{FF2B5EF4-FFF2-40B4-BE49-F238E27FC236}">
                <a16:creationId xmlns:a16="http://schemas.microsoft.com/office/drawing/2014/main" id="{A28B3CFC-5715-1685-A039-A3162E1A6D00}"/>
              </a:ext>
            </a:extLst>
          </p:cNvPr>
          <p:cNvSpPr>
            <a:spLocks noGrp="1"/>
          </p:cNvSpPr>
          <p:nvPr>
            <p:ph type="dt" sz="half" idx="14"/>
          </p:nvPr>
        </p:nvSpPr>
        <p:spPr/>
        <p:txBody>
          <a:bodyPr rtlCol="0"/>
          <a:lstStyle>
            <a:lvl1pPr>
              <a:defRPr>
                <a:solidFill>
                  <a:schemeClr val="tx1"/>
                </a:solidFill>
              </a:defRPr>
            </a:lvl1pPr>
          </a:lstStyle>
          <a:p>
            <a:pPr rtl="0"/>
            <a:r>
              <a:rPr lang="es-ES"/>
              <a:t>4/8/2025</a:t>
            </a:r>
            <a:endParaRPr lang="en-US"/>
          </a:p>
        </p:txBody>
      </p:sp>
      <p:sp>
        <p:nvSpPr>
          <p:cNvPr id="11" name="Marcador de número de diapositiva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rtlCol="0"/>
          <a:lstStyle>
            <a:lvl1pPr>
              <a:defRPr>
                <a:solidFill>
                  <a:schemeClr val="tx1"/>
                </a:solidFill>
              </a:defRPr>
            </a:lvl1pPr>
          </a:lstStyle>
          <a:p>
            <a:pPr rtl="0"/>
            <a:fld id="{DD84031F-D6BF-4677-B12E-7D8B88BA70F7}" type="slidenum">
              <a:rPr lang="en-US" smtClean="0"/>
              <a:pPr rtl="0"/>
              <a:t>‹Nº›</a:t>
            </a:fld>
            <a:endParaRPr lang="en-US"/>
          </a:p>
        </p:txBody>
      </p:sp>
      <p:cxnSp>
        <p:nvCxnSpPr>
          <p:cNvPr id="8" name="Conector recto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877215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Instrucción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rtl="0">
              <a:lnSpc>
                <a:spcPct val="90000"/>
              </a:lnSpc>
              <a:spcBef>
                <a:spcPct val="0"/>
              </a:spcBef>
            </a:pPr>
            <a:r>
              <a:rPr lang="es"/>
              <a:t>Haga clic para editar la afirmación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8" name="Conector recto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3376831"/>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Instrucción 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rtlCol="0"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rtl="0"/>
            <a:r>
              <a:rPr lang="es"/>
              <a:t>Haga clic para editar la afirmación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6" name="Conector recto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9404662"/>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ita">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rtlCol="0" anchor="ctr">
            <a:normAutofit/>
          </a:bodyPr>
          <a:lstStyle>
            <a:lvl1pPr marL="137160" indent="-137160" algn="ctr">
              <a:lnSpc>
                <a:spcPct val="100000"/>
              </a:lnSpc>
              <a:defRPr sz="1800" cap="all" baseline="0">
                <a:latin typeface="+mj-lt"/>
              </a:defRPr>
            </a:lvl1pPr>
          </a:lstStyle>
          <a:p>
            <a:pPr rtl="0"/>
            <a:r>
              <a:rPr lang="es"/>
              <a:t>Autor de la cita</a:t>
            </a:r>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rtlCol="0"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rtl="0"/>
            <a:r>
              <a:rPr lang="es"/>
              <a:t>Haga clic para editar la cita</a:t>
            </a:r>
          </a:p>
        </p:txBody>
      </p:sp>
      <p:sp>
        <p:nvSpPr>
          <p:cNvPr id="9" name="Marcador de pie de página 8">
            <a:extLst>
              <a:ext uri="{FF2B5EF4-FFF2-40B4-BE49-F238E27FC236}">
                <a16:creationId xmlns:a16="http://schemas.microsoft.com/office/drawing/2014/main" id="{468922A5-1A25-C2CB-DB6C-A2CCA7E6E68B}"/>
              </a:ext>
            </a:extLst>
          </p:cNvPr>
          <p:cNvSpPr>
            <a:spLocks noGrp="1"/>
          </p:cNvSpPr>
          <p:nvPr>
            <p:ph type="ftr" sz="quarter" idx="15"/>
          </p:nvPr>
        </p:nvSpPr>
        <p:spPr/>
        <p:txBody>
          <a:bodyPr rtlCol="0"/>
          <a:lstStyle/>
          <a:p>
            <a:pPr rtl="0"/>
            <a:r>
              <a:rPr lang="es-ES"/>
              <a:t>Texto de ejemplo para el pie de página</a:t>
            </a:r>
            <a:endParaRPr lang="es"/>
          </a:p>
        </p:txBody>
      </p:sp>
      <p:sp>
        <p:nvSpPr>
          <p:cNvPr id="8" name="Marcador de fecha 7">
            <a:extLst>
              <a:ext uri="{FF2B5EF4-FFF2-40B4-BE49-F238E27FC236}">
                <a16:creationId xmlns:a16="http://schemas.microsoft.com/office/drawing/2014/main" id="{7AB04756-BB80-4C64-D871-0ADC3A7778F6}"/>
              </a:ext>
            </a:extLst>
          </p:cNvPr>
          <p:cNvSpPr>
            <a:spLocks noGrp="1"/>
          </p:cNvSpPr>
          <p:nvPr>
            <p:ph type="dt" sz="half" idx="14"/>
          </p:nvPr>
        </p:nvSpPr>
        <p:spPr/>
        <p:txBody>
          <a:bodyPr rtlCol="0"/>
          <a:lstStyle/>
          <a:p>
            <a:pPr rtl="0"/>
            <a:r>
              <a:rPr lang="es-ES"/>
              <a:t>4/8/2025</a:t>
            </a:r>
            <a:endParaRPr lang="en-US"/>
          </a:p>
        </p:txBody>
      </p:sp>
      <p:sp>
        <p:nvSpPr>
          <p:cNvPr id="10" name="Marcador de número de diapositiva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cxnSp>
        <p:nvCxnSpPr>
          <p:cNvPr id="5" name="Conector recto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6142366"/>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ita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rtlCol="0" anchor="t">
            <a:normAutofit/>
          </a:bodyPr>
          <a:lstStyle>
            <a:lvl1pPr marL="0" indent="0">
              <a:lnSpc>
                <a:spcPct val="100000"/>
              </a:lnSpc>
              <a:defRPr sz="2000" cap="all" baseline="0">
                <a:solidFill>
                  <a:schemeClr val="tx1"/>
                </a:solidFill>
                <a:latin typeface="+mj-lt"/>
              </a:defRPr>
            </a:lvl1pPr>
          </a:lstStyle>
          <a:p>
            <a:pPr rtl="0"/>
            <a:r>
              <a:rPr lang="es"/>
              <a:t>Autor de la cita</a:t>
            </a:r>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rtlCol="0"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rtl="0"/>
            <a:r>
              <a:rPr lang="es"/>
              <a:t>Haga clic para editar la cita</a:t>
            </a:r>
          </a:p>
        </p:txBody>
      </p:sp>
      <p:sp>
        <p:nvSpPr>
          <p:cNvPr id="11" name="Marcador de pie de página 10">
            <a:extLst>
              <a:ext uri="{FF2B5EF4-FFF2-40B4-BE49-F238E27FC236}">
                <a16:creationId xmlns:a16="http://schemas.microsoft.com/office/drawing/2014/main" id="{BB573913-DF3D-A336-7766-2F2A4077FA24}"/>
              </a:ext>
            </a:extLst>
          </p:cNvPr>
          <p:cNvSpPr>
            <a:spLocks noGrp="1"/>
          </p:cNvSpPr>
          <p:nvPr>
            <p:ph type="ftr" sz="quarter" idx="15"/>
          </p:nvPr>
        </p:nvSpPr>
        <p:spPr/>
        <p:txBody>
          <a:bodyPr rtlCol="0"/>
          <a:lstStyle/>
          <a:p>
            <a:pPr rtl="0"/>
            <a:r>
              <a:rPr lang="es-ES"/>
              <a:t>Texto de ejemplo para el pie de página</a:t>
            </a:r>
            <a:endParaRPr lang="es"/>
          </a:p>
        </p:txBody>
      </p:sp>
      <p:sp>
        <p:nvSpPr>
          <p:cNvPr id="10" name="Marcador de fecha 9">
            <a:extLst>
              <a:ext uri="{FF2B5EF4-FFF2-40B4-BE49-F238E27FC236}">
                <a16:creationId xmlns:a16="http://schemas.microsoft.com/office/drawing/2014/main" id="{82574524-6D35-F65F-291D-C661BC2839A9}"/>
              </a:ext>
            </a:extLst>
          </p:cNvPr>
          <p:cNvSpPr>
            <a:spLocks noGrp="1"/>
          </p:cNvSpPr>
          <p:nvPr>
            <p:ph type="dt" sz="half" idx="14"/>
          </p:nvPr>
        </p:nvSpPr>
        <p:spPr/>
        <p:txBody>
          <a:bodyPr rtlCol="0"/>
          <a:lstStyle/>
          <a:p>
            <a:pPr rtl="0"/>
            <a:r>
              <a:rPr lang="es-ES"/>
              <a:t>4/8/2025</a:t>
            </a:r>
            <a:endParaRPr lang="en-US"/>
          </a:p>
        </p:txBody>
      </p:sp>
      <p:sp>
        <p:nvSpPr>
          <p:cNvPr id="12" name="Marcador de número de diapositiva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rtlCol="0"/>
          <a:lstStyle/>
          <a:p>
            <a:pPr rtl="0"/>
            <a:fld id="{DD84031F-D6BF-4677-B12E-7D8B88BA70F7}" type="slidenum">
              <a:rPr lang="en-US" smtClean="0"/>
              <a:t>‹Nº›</a:t>
            </a:fld>
            <a:endParaRPr lang="en-US"/>
          </a:p>
        </p:txBody>
      </p:sp>
      <p:cxnSp>
        <p:nvCxnSpPr>
          <p:cNvPr id="6" name="Conector recto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926340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ita 3">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rtlCol="0" anchor="ctr">
            <a:normAutofit/>
          </a:bodyPr>
          <a:lstStyle>
            <a:lvl1pPr marL="137160" indent="-137160" algn="ctr">
              <a:lnSpc>
                <a:spcPct val="110000"/>
              </a:lnSpc>
              <a:defRPr sz="1800" cap="none" baseline="0">
                <a:solidFill>
                  <a:schemeClr val="accent1"/>
                </a:solidFill>
                <a:latin typeface="+mn-lt"/>
              </a:defRPr>
            </a:lvl1pPr>
          </a:lstStyle>
          <a:p>
            <a:pPr rtl="0"/>
            <a:r>
              <a:rPr lang="es"/>
              <a:t>Autor de la cita</a:t>
            </a:r>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rtlCol="0"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rtl="0"/>
            <a:r>
              <a:rPr lang="es"/>
              <a:t>Haga clic para editar la cita</a:t>
            </a:r>
          </a:p>
        </p:txBody>
      </p:sp>
      <p:sp>
        <p:nvSpPr>
          <p:cNvPr id="4" name="Marcador de pie de página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8" name="Conector recto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Conector recto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120648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Cita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rtlCol="0" anchor="ctr">
            <a:normAutofit/>
          </a:bodyPr>
          <a:lstStyle>
            <a:lvl1pPr marL="137160" indent="-137160" algn="ctr">
              <a:lnSpc>
                <a:spcPct val="100000"/>
              </a:lnSpc>
              <a:defRPr sz="1800" cap="all" baseline="0">
                <a:solidFill>
                  <a:schemeClr val="tx1"/>
                </a:solidFill>
                <a:latin typeface="+mj-lt"/>
              </a:defRPr>
            </a:lvl1pPr>
          </a:lstStyle>
          <a:p>
            <a:pPr rtl="0"/>
            <a:r>
              <a:rPr lang="es"/>
              <a:t>Autor de la cita</a:t>
            </a:r>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rtlCol="0"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rtl="0"/>
            <a:r>
              <a:rPr lang="es"/>
              <a:t>Haga clic para editar la cita</a:t>
            </a:r>
          </a:p>
        </p:txBody>
      </p:sp>
      <p:sp>
        <p:nvSpPr>
          <p:cNvPr id="4" name="Marcador de pie de página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es"/>
              <a:t>Texto de ejemplo para el pie de página</a:t>
            </a:r>
          </a:p>
        </p:txBody>
      </p:sp>
      <p:sp>
        <p:nvSpPr>
          <p:cNvPr id="3" name="Marcador de fech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s-ES"/>
              <a:t>4/8/2025</a:t>
            </a:r>
            <a:endParaRPr lang="en-US"/>
          </a:p>
        </p:txBody>
      </p:sp>
      <p:sp>
        <p:nvSpPr>
          <p:cNvPr id="5" name="Marcador de número de diapositiva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‹Nº›</a:t>
            </a:fld>
            <a:endParaRPr lang="en-US"/>
          </a:p>
        </p:txBody>
      </p:sp>
      <p:cxnSp>
        <p:nvCxnSpPr>
          <p:cNvPr id="10" name="Conector recto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27233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os contenido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rtlCol="0" anchor="b"/>
          <a:lstStyle/>
          <a:p>
            <a:pPr rtl="0"/>
            <a:r>
              <a:rPr lang="es"/>
              <a:t>Haga clic para modificar el estilo de título del patrón</a:t>
            </a:r>
            <a:endParaRPr lang="en-US" dirty="0"/>
          </a:p>
        </p:txBody>
      </p:sp>
      <p:sp>
        <p:nvSpPr>
          <p:cNvPr id="4" name="Marcador de contenido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contenido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8" name="Marcador de pie de página 7">
            <a:extLst>
              <a:ext uri="{FF2B5EF4-FFF2-40B4-BE49-F238E27FC236}">
                <a16:creationId xmlns:a16="http://schemas.microsoft.com/office/drawing/2014/main" id="{7D294A4A-89C4-68BF-6701-5C47F940E3D6}"/>
              </a:ext>
            </a:extLst>
          </p:cNvPr>
          <p:cNvSpPr>
            <a:spLocks noGrp="1"/>
          </p:cNvSpPr>
          <p:nvPr>
            <p:ph type="ftr" sz="quarter" idx="11"/>
          </p:nvPr>
        </p:nvSpPr>
        <p:spPr/>
        <p:txBody>
          <a:bodyPr rtlCol="0"/>
          <a:lstStyle/>
          <a:p>
            <a:pPr rtl="0"/>
            <a:r>
              <a:rPr lang="es-ES"/>
              <a:t>Texto de ejemplo para el pie de página</a:t>
            </a:r>
            <a:endParaRPr lang="es"/>
          </a:p>
        </p:txBody>
      </p:sp>
      <p:sp>
        <p:nvSpPr>
          <p:cNvPr id="7" name="Marcador de fecha 6">
            <a:extLst>
              <a:ext uri="{FF2B5EF4-FFF2-40B4-BE49-F238E27FC236}">
                <a16:creationId xmlns:a16="http://schemas.microsoft.com/office/drawing/2014/main" id="{977908BC-F48B-81E4-8D93-7DB9E37161B6}"/>
              </a:ext>
            </a:extLst>
          </p:cNvPr>
          <p:cNvSpPr>
            <a:spLocks noGrp="1"/>
          </p:cNvSpPr>
          <p:nvPr>
            <p:ph type="dt" sz="half" idx="10"/>
          </p:nvPr>
        </p:nvSpPr>
        <p:spPr/>
        <p:txBody>
          <a:bodyPr rtlCol="0"/>
          <a:lstStyle/>
          <a:p>
            <a:pPr rtl="0"/>
            <a:r>
              <a:rPr lang="es-ES"/>
              <a:t>4/8/2025</a:t>
            </a:r>
            <a:endParaRPr lang="en-US"/>
          </a:p>
        </p:txBody>
      </p:sp>
      <p:sp>
        <p:nvSpPr>
          <p:cNvPr id="9" name="Marcador de número de diapositiva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11" name="Conector recto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3650965"/>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ació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rtlCol="0" anchor="b"/>
          <a:lstStyle/>
          <a:p>
            <a:pPr rtl="0"/>
            <a:r>
              <a:rPr lang="es"/>
              <a:t>Haga clic para modificar el estilo de título del patrón</a:t>
            </a:r>
            <a:endParaRPr lang="en-US" dirty="0"/>
          </a:p>
        </p:txBody>
      </p:sp>
      <p:sp>
        <p:nvSpPr>
          <p:cNvPr id="3" name="Marcador de texto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rtlCol="0"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6" name="Marcador de contenido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texto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rtlCol="0"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12" name="Marcador de contenido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8" name="Marcador de pie de página 7">
            <a:extLst>
              <a:ext uri="{FF2B5EF4-FFF2-40B4-BE49-F238E27FC236}">
                <a16:creationId xmlns:a16="http://schemas.microsoft.com/office/drawing/2014/main" id="{7D294A4A-89C4-68BF-6701-5C47F940E3D6}"/>
              </a:ext>
            </a:extLst>
          </p:cNvPr>
          <p:cNvSpPr>
            <a:spLocks noGrp="1"/>
          </p:cNvSpPr>
          <p:nvPr>
            <p:ph type="ftr" sz="quarter" idx="11"/>
          </p:nvPr>
        </p:nvSpPr>
        <p:spPr/>
        <p:txBody>
          <a:bodyPr rtlCol="0"/>
          <a:lstStyle/>
          <a:p>
            <a:pPr rtl="0"/>
            <a:r>
              <a:rPr lang="es-ES"/>
              <a:t>Texto de ejemplo para el pie de página</a:t>
            </a:r>
            <a:endParaRPr lang="es"/>
          </a:p>
        </p:txBody>
      </p:sp>
      <p:sp>
        <p:nvSpPr>
          <p:cNvPr id="7" name="Marcador de fecha 6">
            <a:extLst>
              <a:ext uri="{FF2B5EF4-FFF2-40B4-BE49-F238E27FC236}">
                <a16:creationId xmlns:a16="http://schemas.microsoft.com/office/drawing/2014/main" id="{977908BC-F48B-81E4-8D93-7DB9E37161B6}"/>
              </a:ext>
            </a:extLst>
          </p:cNvPr>
          <p:cNvSpPr>
            <a:spLocks noGrp="1"/>
          </p:cNvSpPr>
          <p:nvPr>
            <p:ph type="dt" sz="half" idx="10"/>
          </p:nvPr>
        </p:nvSpPr>
        <p:spPr/>
        <p:txBody>
          <a:bodyPr rtlCol="0"/>
          <a:lstStyle/>
          <a:p>
            <a:pPr rtl="0"/>
            <a:r>
              <a:rPr lang="es-ES"/>
              <a:t>4/8/2025</a:t>
            </a:r>
            <a:endParaRPr lang="en-US"/>
          </a:p>
        </p:txBody>
      </p:sp>
      <p:sp>
        <p:nvSpPr>
          <p:cNvPr id="9" name="Marcador de número de diapositiva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11" name="Conector recto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163574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olo el títul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53695F-5E74-A380-8592-35FB6FC77542}"/>
              </a:ext>
            </a:extLst>
          </p:cNvPr>
          <p:cNvSpPr>
            <a:spLocks noGrp="1"/>
          </p:cNvSpPr>
          <p:nvPr>
            <p:ph type="title"/>
          </p:nvPr>
        </p:nvSpPr>
        <p:spPr/>
        <p:txBody>
          <a:bodyPr rtlCol="0"/>
          <a:lstStyle/>
          <a:p>
            <a:pPr rtl="0"/>
            <a:r>
              <a:rPr lang="es"/>
              <a:t>Haga clic para modificar el estilo de título del patrón</a:t>
            </a:r>
            <a:endParaRPr lang="en-US" dirty="0"/>
          </a:p>
        </p:txBody>
      </p:sp>
      <p:sp>
        <p:nvSpPr>
          <p:cNvPr id="4" name="Marcador de pie de página 3">
            <a:extLst>
              <a:ext uri="{FF2B5EF4-FFF2-40B4-BE49-F238E27FC236}">
                <a16:creationId xmlns:a16="http://schemas.microsoft.com/office/drawing/2014/main" id="{09C6149D-58D4-7497-818C-CF30244A29A1}"/>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8E8D2567-C532-BD45-FA85-03DBE3B3C779}"/>
              </a:ext>
            </a:extLst>
          </p:cNvPr>
          <p:cNvSpPr>
            <a:spLocks noGrp="1"/>
          </p:cNvSpPr>
          <p:nvPr>
            <p:ph type="dt" sz="half" idx="10"/>
          </p:nvPr>
        </p:nvSpPr>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226270130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Vacío">
    <p:bg>
      <p:bgRef idx="1001">
        <a:schemeClr val="bg1"/>
      </p:bgRef>
    </p:bg>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FE9D82C-4607-0C9D-F241-D35DBEFEF4B1}"/>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B4DCFCC5-7F8E-F549-57BA-7303E9F17466}"/>
              </a:ext>
            </a:extLst>
          </p:cNvPr>
          <p:cNvSpPr>
            <a:spLocks noGrp="1"/>
          </p:cNvSpPr>
          <p:nvPr>
            <p:ph type="dt" sz="half" idx="10"/>
          </p:nvPr>
        </p:nvSpPr>
        <p:spPr/>
        <p:txBody>
          <a:bodyPr rtlCol="0"/>
          <a:lstStyle/>
          <a:p>
            <a:pPr rtl="0"/>
            <a:r>
              <a:rPr lang="es-ES"/>
              <a:t>4/8/2025</a:t>
            </a:r>
            <a:endParaRPr lang="en-US"/>
          </a:p>
        </p:txBody>
      </p:sp>
      <p:sp>
        <p:nvSpPr>
          <p:cNvPr id="5" name="Marcador de número de diapositiva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1841999564"/>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ido con títul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rtlCol="0" anchor="t"/>
          <a:lstStyle>
            <a:lvl1pPr>
              <a:defRPr sz="3200"/>
            </a:lvl1pPr>
          </a:lstStyle>
          <a:p>
            <a:pPr rtl="0"/>
            <a:r>
              <a:rPr lang="es"/>
              <a:t>Haga clic para modificar el estilo de título del patrón</a:t>
            </a:r>
            <a:endParaRPr lang="en-US" dirty="0"/>
          </a:p>
        </p:txBody>
      </p:sp>
      <p:sp>
        <p:nvSpPr>
          <p:cNvPr id="4" name="Marcador de texto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71AADC46-B01E-DA2E-F24C-C48F5253DD00}"/>
              </a:ext>
            </a:extLst>
          </p:cNvPr>
          <p:cNvSpPr>
            <a:spLocks noGrp="1"/>
          </p:cNvSpPr>
          <p:nvPr>
            <p:ph type="ftr" sz="quarter" idx="11"/>
          </p:nvPr>
        </p:nvSpPr>
        <p:spPr/>
        <p:txBody>
          <a:bodyPr rtlCol="0"/>
          <a:lstStyle/>
          <a:p>
            <a:pPr rtl="0"/>
            <a:r>
              <a:rPr lang="es-ES"/>
              <a:t>Texto de ejemplo para el pie de página</a:t>
            </a:r>
            <a:endParaRPr lang="es"/>
          </a:p>
        </p:txBody>
      </p:sp>
      <p:sp>
        <p:nvSpPr>
          <p:cNvPr id="5" name="Marcador de fecha 4">
            <a:extLst>
              <a:ext uri="{FF2B5EF4-FFF2-40B4-BE49-F238E27FC236}">
                <a16:creationId xmlns:a16="http://schemas.microsoft.com/office/drawing/2014/main" id="{B71A6063-F591-A804-79FE-A80AD399139E}"/>
              </a:ext>
            </a:extLst>
          </p:cNvPr>
          <p:cNvSpPr>
            <a:spLocks noGrp="1"/>
          </p:cNvSpPr>
          <p:nvPr>
            <p:ph type="dt" sz="half" idx="10"/>
          </p:nvPr>
        </p:nvSpPr>
        <p:spPr/>
        <p:txBody>
          <a:bodyPr rtlCol="0"/>
          <a:lstStyle/>
          <a:p>
            <a:pPr rtl="0"/>
            <a:r>
              <a:rPr lang="es-ES"/>
              <a:t>4/8/2025</a:t>
            </a:r>
            <a:endParaRPr lang="en-US"/>
          </a:p>
        </p:txBody>
      </p:sp>
      <p:sp>
        <p:nvSpPr>
          <p:cNvPr id="7" name="Marcador de número de diapositiva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spTree>
    <p:extLst>
      <p:ext uri="{BB962C8B-B14F-4D97-AF65-F5344CB8AC3E}">
        <p14:creationId xmlns:p14="http://schemas.microsoft.com/office/powerpoint/2010/main" val="1508907301"/>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Imagen con leyenda">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rtlCol="0" anchor="t"/>
          <a:lstStyle>
            <a:lvl1pPr>
              <a:defRPr sz="3200"/>
            </a:lvl1pPr>
          </a:lstStyle>
          <a:p>
            <a:pPr rtl="0"/>
            <a:r>
              <a:rPr lang="es"/>
              <a:t>Haga clic para modificar el estilo de título del patrón</a:t>
            </a:r>
            <a:endParaRPr lang="en-US" dirty="0"/>
          </a:p>
        </p:txBody>
      </p:sp>
      <p:sp>
        <p:nvSpPr>
          <p:cNvPr id="4" name="Marcador de texto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posición de imagen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rtl="0"/>
            <a:r>
              <a:rPr lang="es"/>
              <a:t> </a:t>
            </a:r>
          </a:p>
        </p:txBody>
      </p:sp>
      <p:sp>
        <p:nvSpPr>
          <p:cNvPr id="6" name="Marcador de pie de página 5">
            <a:extLst>
              <a:ext uri="{FF2B5EF4-FFF2-40B4-BE49-F238E27FC236}">
                <a16:creationId xmlns:a16="http://schemas.microsoft.com/office/drawing/2014/main" id="{E7F485A3-3BFA-4B57-F6E5-5F41542B7BBD}"/>
              </a:ext>
            </a:extLst>
          </p:cNvPr>
          <p:cNvSpPr>
            <a:spLocks noGrp="1"/>
          </p:cNvSpPr>
          <p:nvPr>
            <p:ph type="ftr" sz="quarter" idx="11"/>
          </p:nvPr>
        </p:nvSpPr>
        <p:spPr/>
        <p:txBody>
          <a:bodyPr rtlCol="0"/>
          <a:lstStyle/>
          <a:p>
            <a:pPr rtl="0"/>
            <a:r>
              <a:rPr lang="es-ES"/>
              <a:t>Texto de ejemplo para el pie de página</a:t>
            </a:r>
            <a:endParaRPr lang="es"/>
          </a:p>
        </p:txBody>
      </p:sp>
      <p:sp>
        <p:nvSpPr>
          <p:cNvPr id="5" name="Marcador de fecha 4">
            <a:extLst>
              <a:ext uri="{FF2B5EF4-FFF2-40B4-BE49-F238E27FC236}">
                <a16:creationId xmlns:a16="http://schemas.microsoft.com/office/drawing/2014/main" id="{600AC9F0-6744-73C8-54FC-5C12BA7BF791}"/>
              </a:ext>
            </a:extLst>
          </p:cNvPr>
          <p:cNvSpPr>
            <a:spLocks noGrp="1"/>
          </p:cNvSpPr>
          <p:nvPr>
            <p:ph type="dt" sz="half" idx="10"/>
          </p:nvPr>
        </p:nvSpPr>
        <p:spPr/>
        <p:txBody>
          <a:bodyPr rtlCol="0"/>
          <a:lstStyle/>
          <a:p>
            <a:pPr rtl="0"/>
            <a:r>
              <a:rPr lang="es-ES"/>
              <a:t>4/8/2025</a:t>
            </a:r>
            <a:endParaRPr lang="en-US" dirty="0"/>
          </a:p>
        </p:txBody>
      </p:sp>
      <p:sp>
        <p:nvSpPr>
          <p:cNvPr id="7" name="Marcador de número de diapositiva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rtlCol="0"/>
          <a:lstStyle/>
          <a:p>
            <a:pPr rtl="0"/>
            <a:fld id="{DD84031F-D6BF-4677-B12E-7D8B88BA70F7}" type="slidenum">
              <a:rPr lang="en-US" smtClean="0"/>
              <a:t>‹Nº›</a:t>
            </a:fld>
            <a:endParaRPr lang="en-US" dirty="0"/>
          </a:p>
        </p:txBody>
      </p:sp>
      <p:cxnSp>
        <p:nvCxnSpPr>
          <p:cNvPr id="9" name="Conector recto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7722091"/>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ó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rtlCol="0" anchor="b">
            <a:normAutofit/>
          </a:bodyPr>
          <a:lstStyle>
            <a:lvl1pPr>
              <a:defRPr sz="7200">
                <a:solidFill>
                  <a:schemeClr val="accent1"/>
                </a:solidFill>
              </a:defRPr>
            </a:lvl1pPr>
          </a:lstStyle>
          <a:p>
            <a:pPr rtl="0"/>
            <a:r>
              <a:rPr lang="es"/>
              <a:t>Haga clic para modificar el estilo de título del patrón</a:t>
            </a:r>
            <a:endParaRPr lang="en-US" dirty="0"/>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3" name="Conector recto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9373811"/>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ón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rtlCol="0" anchor="b">
            <a:normAutofit/>
          </a:bodyPr>
          <a:lstStyle>
            <a:lvl1pPr>
              <a:defRPr sz="7200">
                <a:solidFill>
                  <a:schemeClr val="accent1"/>
                </a:solidFill>
              </a:defRPr>
            </a:lvl1pPr>
          </a:lstStyle>
          <a:p>
            <a:pPr rtl="0"/>
            <a:r>
              <a:rPr lang="es"/>
              <a:t>Haga clic para modificar el estilo de título del patrón</a:t>
            </a:r>
            <a:endParaRPr lang="en-US" dirty="0"/>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s-ES"/>
              <a:t>4/8/2025</a:t>
            </a:r>
            <a:endParaRPr lang="en-US"/>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DD84031F-D6BF-4677-B12E-7D8B88BA70F7}" type="slidenum">
              <a:rPr lang="en-US" smtClean="0"/>
              <a:t>‹Nº›</a:t>
            </a:fld>
            <a:endParaRPr lang="en-US"/>
          </a:p>
        </p:txBody>
      </p:sp>
      <p:cxnSp>
        <p:nvCxnSpPr>
          <p:cNvPr id="9" name="Conector recto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56254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Marcador de título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pPr rtl="0"/>
            <a:r>
              <a:rPr lang="es"/>
              <a:t>Haga clic para modificar el estilo de título del patrón</a:t>
            </a:r>
            <a:endParaRPr lang="en-US" dirty="0"/>
          </a:p>
        </p:txBody>
      </p:sp>
      <p:sp>
        <p:nvSpPr>
          <p:cNvPr id="3" name="Marcador de texto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pPr rtl="0"/>
            <a:r>
              <a:rPr lang="es-ES"/>
              <a:t>Texto de ejemplo para el pie de página</a:t>
            </a:r>
            <a:endParaRPr lang="es"/>
          </a:p>
        </p:txBody>
      </p:sp>
      <p:sp>
        <p:nvSpPr>
          <p:cNvPr id="4" name="Marcador de fecha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pPr rtl="0"/>
            <a:r>
              <a:rPr lang="es-ES"/>
              <a:t>4/8/2025</a:t>
            </a:r>
            <a:endParaRPr lang="en-US"/>
          </a:p>
        </p:txBody>
      </p:sp>
      <p:sp>
        <p:nvSpPr>
          <p:cNvPr id="6" name="Marcador de número de diapositiva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pPr rtl="0"/>
            <a:fld id="{DD84031F-D6BF-4677-B12E-7D8B88BA70F7}" type="slidenum">
              <a:rPr lang="en-US" smtClean="0"/>
              <a:t>‹Nº›</a:t>
            </a:fld>
            <a:endParaRPr lang="en-US" dirty="0"/>
          </a:p>
        </p:txBody>
      </p:sp>
    </p:spTree>
    <p:extLst>
      <p:ext uri="{BB962C8B-B14F-4D97-AF65-F5344CB8AC3E}">
        <p14:creationId xmlns:p14="http://schemas.microsoft.com/office/powerpoint/2010/main" val="3055063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hdr="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6.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2.xml"/><Relationship Id="rId6" Type="http://schemas.openxmlformats.org/officeDocument/2006/relationships/diagramColors" Target="../diagrams/colors1.xml"/><Relationship Id="rId11" Type="http://schemas.openxmlformats.org/officeDocument/2006/relationships/image" Target="../media/image13.svg"/><Relationship Id="rId5" Type="http://schemas.openxmlformats.org/officeDocument/2006/relationships/diagramQuickStyle" Target="../diagrams/quickStyle1.xml"/><Relationship Id="rId10" Type="http://schemas.openxmlformats.org/officeDocument/2006/relationships/image" Target="../media/image12.svg"/><Relationship Id="rId4" Type="http://schemas.openxmlformats.org/officeDocument/2006/relationships/diagramLayout" Target="../diagrams/layout1.xml"/><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26.sv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6.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3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29.svg"/><Relationship Id="rId4" Type="http://schemas.openxmlformats.org/officeDocument/2006/relationships/image" Target="../media/image25.svg"/></Relationships>
</file>

<file path=ppt/slides/_rels/slide15.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7.png"/><Relationship Id="rId7" Type="http://schemas.openxmlformats.org/officeDocument/2006/relationships/image" Target="../media/image34.svg"/><Relationship Id="rId2" Type="http://schemas.openxmlformats.org/officeDocument/2006/relationships/notesSlide" Target="../notesSlides/notesSlide9.xml"/><Relationship Id="rId1" Type="http://schemas.openxmlformats.org/officeDocument/2006/relationships/slideLayout" Target="../slideLayouts/slideLayout52.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6.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6.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6.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png"/><Relationship Id="rId1" Type="http://schemas.openxmlformats.org/officeDocument/2006/relationships/slideLayout" Target="../slideLayouts/slideLayout26.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5.svg"/><Relationship Id="rId5" Type="http://schemas.openxmlformats.org/officeDocument/2006/relationships/image" Target="../media/image16.svg"/><Relationship Id="rId4" Type="http://schemas.openxmlformats.org/officeDocument/2006/relationships/image" Target="../media/image44.sv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7.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C6319C-F54E-C9BF-45C5-308CF91715E4}"/>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9C6C10EB-C3CD-98BE-B744-98F19645C53F}"/>
              </a:ext>
            </a:extLst>
          </p:cNvPr>
          <p:cNvSpPr>
            <a:spLocks noGrp="1"/>
          </p:cNvSpPr>
          <p:nvPr>
            <p:ph type="sldNum" sz="quarter" idx="12"/>
          </p:nvPr>
        </p:nvSpPr>
        <p:spPr/>
        <p:txBody>
          <a:bodyPr/>
          <a:lstStyle/>
          <a:p>
            <a:pPr rtl="0"/>
            <a:fld id="{DD84031F-D6BF-4677-B12E-7D8B88BA70F7}" type="slidenum">
              <a:rPr lang="en-US" smtClean="0"/>
              <a:t>1</a:t>
            </a:fld>
            <a:endParaRPr lang="en-US"/>
          </a:p>
        </p:txBody>
      </p:sp>
      <p:pic>
        <p:nvPicPr>
          <p:cNvPr id="8" name="Imagen 7">
            <a:extLst>
              <a:ext uri="{FF2B5EF4-FFF2-40B4-BE49-F238E27FC236}">
                <a16:creationId xmlns:a16="http://schemas.microsoft.com/office/drawing/2014/main" id="{4F298D39-F434-C8FE-F545-8B620399D2B8}"/>
              </a:ext>
            </a:extLst>
          </p:cNvPr>
          <p:cNvPicPr>
            <a:picLocks noChangeAspect="1"/>
          </p:cNvPicPr>
          <p:nvPr/>
        </p:nvPicPr>
        <p:blipFill>
          <a:blip r:embed="rId3"/>
          <a:stretch>
            <a:fillRect/>
          </a:stretch>
        </p:blipFill>
        <p:spPr>
          <a:xfrm>
            <a:off x="9918084" y="99023"/>
            <a:ext cx="1871580" cy="799949"/>
          </a:xfrm>
          <a:prstGeom prst="rect">
            <a:avLst/>
          </a:prstGeom>
        </p:spPr>
      </p:pic>
      <p:sp>
        <p:nvSpPr>
          <p:cNvPr id="11" name="CuadroTexto 10">
            <a:extLst>
              <a:ext uri="{FF2B5EF4-FFF2-40B4-BE49-F238E27FC236}">
                <a16:creationId xmlns:a16="http://schemas.microsoft.com/office/drawing/2014/main" id="{01EF33D4-02B8-C920-977F-4EBBFFDB244B}"/>
              </a:ext>
            </a:extLst>
          </p:cNvPr>
          <p:cNvSpPr txBox="1"/>
          <p:nvPr/>
        </p:nvSpPr>
        <p:spPr>
          <a:xfrm>
            <a:off x="6733952" y="933422"/>
            <a:ext cx="5055711" cy="2554545"/>
          </a:xfrm>
          <a:prstGeom prst="rect">
            <a:avLst/>
          </a:prstGeom>
          <a:noFill/>
        </p:spPr>
        <p:txBody>
          <a:bodyPr wrap="square" rtlCol="0">
            <a:spAutoFit/>
          </a:bodyPr>
          <a:lstStyle/>
          <a:p>
            <a:pPr algn="just"/>
            <a:r>
              <a:rPr lang="es-ES" sz="3200" b="1" dirty="0">
                <a:latin typeface="Arial" panose="020B0604020202020204" pitchFamily="34" charset="0"/>
                <a:cs typeface="Arial" panose="020B0604020202020204" pitchFamily="34" charset="0"/>
              </a:rPr>
              <a:t>Análisis de información generada en plataformas educativas a partir de herramientas de inteligencia artificial.</a:t>
            </a:r>
          </a:p>
        </p:txBody>
      </p:sp>
      <p:sp>
        <p:nvSpPr>
          <p:cNvPr id="12" name="CuadroTexto 11">
            <a:extLst>
              <a:ext uri="{FF2B5EF4-FFF2-40B4-BE49-F238E27FC236}">
                <a16:creationId xmlns:a16="http://schemas.microsoft.com/office/drawing/2014/main" id="{160DC257-75D4-BD5C-FD7D-31BA066E29C8}"/>
              </a:ext>
            </a:extLst>
          </p:cNvPr>
          <p:cNvSpPr txBox="1"/>
          <p:nvPr/>
        </p:nvSpPr>
        <p:spPr>
          <a:xfrm>
            <a:off x="6733952" y="3791048"/>
            <a:ext cx="5035349" cy="830997"/>
          </a:xfrm>
          <a:prstGeom prst="rect">
            <a:avLst/>
          </a:prstGeom>
          <a:solidFill>
            <a:schemeClr val="bg1"/>
          </a:solidFill>
        </p:spPr>
        <p:txBody>
          <a:bodyPr wrap="square" rtlCol="0">
            <a:spAutoFit/>
          </a:bodyPr>
          <a:lstStyle/>
          <a:p>
            <a:r>
              <a:rPr lang="es-ES" sz="2400" b="1" dirty="0">
                <a:solidFill>
                  <a:srgbClr val="FF6600"/>
                </a:solidFill>
              </a:rPr>
              <a:t>Hacia la detección temprana e interpretable del riesgo académico</a:t>
            </a:r>
          </a:p>
        </p:txBody>
      </p:sp>
      <p:cxnSp>
        <p:nvCxnSpPr>
          <p:cNvPr id="14" name="Conector recto 13">
            <a:extLst>
              <a:ext uri="{FF2B5EF4-FFF2-40B4-BE49-F238E27FC236}">
                <a16:creationId xmlns:a16="http://schemas.microsoft.com/office/drawing/2014/main" id="{A788E707-99A8-044D-A984-8A16C58AD67A}"/>
              </a:ext>
            </a:extLst>
          </p:cNvPr>
          <p:cNvCxnSpPr>
            <a:cxnSpLocks/>
          </p:cNvCxnSpPr>
          <p:nvPr/>
        </p:nvCxnSpPr>
        <p:spPr>
          <a:xfrm>
            <a:off x="6811926" y="3686287"/>
            <a:ext cx="4902561" cy="24818"/>
          </a:xfrm>
          <a:prstGeom prst="line">
            <a:avLst/>
          </a:prstGeom>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51DF57F9-585A-670C-E158-B286CAC5048D}"/>
              </a:ext>
            </a:extLst>
          </p:cNvPr>
          <p:cNvSpPr txBox="1"/>
          <p:nvPr/>
        </p:nvSpPr>
        <p:spPr>
          <a:xfrm>
            <a:off x="6733952" y="5430632"/>
            <a:ext cx="5143399" cy="646331"/>
          </a:xfrm>
          <a:prstGeom prst="rect">
            <a:avLst/>
          </a:prstGeom>
          <a:solidFill>
            <a:schemeClr val="bg1"/>
          </a:solidFill>
        </p:spPr>
        <p:txBody>
          <a:bodyPr wrap="square" rtlCol="0">
            <a:spAutoFit/>
          </a:bodyPr>
          <a:lstStyle/>
          <a:p>
            <a:r>
              <a:rPr lang="es-ES" dirty="0"/>
              <a:t>Trabajo de fin de Máster (TFM) </a:t>
            </a:r>
          </a:p>
          <a:p>
            <a:r>
              <a:rPr lang="es-ES" b="1" dirty="0"/>
              <a:t>Michael Laudrup Luis González</a:t>
            </a:r>
          </a:p>
        </p:txBody>
      </p:sp>
      <p:pic>
        <p:nvPicPr>
          <p:cNvPr id="3" name="Imagen 2">
            <a:extLst>
              <a:ext uri="{FF2B5EF4-FFF2-40B4-BE49-F238E27FC236}">
                <a16:creationId xmlns:a16="http://schemas.microsoft.com/office/drawing/2014/main" id="{A26ECB40-7B96-1B1F-9A5B-40DBCA5481D8}"/>
              </a:ext>
            </a:extLst>
          </p:cNvPr>
          <p:cNvPicPr>
            <a:picLocks noChangeAspect="1"/>
          </p:cNvPicPr>
          <p:nvPr/>
        </p:nvPicPr>
        <p:blipFill>
          <a:blip r:embed="rId4"/>
          <a:stretch>
            <a:fillRect/>
          </a:stretch>
        </p:blipFill>
        <p:spPr>
          <a:xfrm>
            <a:off x="606030" y="1082330"/>
            <a:ext cx="6040234" cy="4994633"/>
          </a:xfrm>
          <a:prstGeom prst="rect">
            <a:avLst/>
          </a:prstGeom>
        </p:spPr>
      </p:pic>
    </p:spTree>
    <p:extLst>
      <p:ext uri="{BB962C8B-B14F-4D97-AF65-F5344CB8AC3E}">
        <p14:creationId xmlns:p14="http://schemas.microsoft.com/office/powerpoint/2010/main" val="3312436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3B1A19DC-BE82-CFB4-77C6-DF0D9004897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537" y="1757951"/>
            <a:ext cx="6792069" cy="2742519"/>
          </a:xfrm>
        </p:spPr>
        <p:txBody>
          <a:bodyPr>
            <a:normAutofit/>
          </a:bodyPr>
          <a:lstStyle/>
          <a:p>
            <a:pPr>
              <a:lnSpc>
                <a:spcPct val="110000"/>
              </a:lnSpc>
              <a:spcBef>
                <a:spcPts val="0"/>
              </a:spcBef>
              <a:spcAft>
                <a:spcPts val="1200"/>
              </a:spcAft>
            </a:pPr>
            <a:r>
              <a:rPr lang="es-ES" sz="2100" b="1" dirty="0"/>
              <a:t>LMS</a:t>
            </a:r>
            <a:r>
              <a:rPr lang="es-ES" sz="2100" dirty="0"/>
              <a:t>: Sistema de gestión del aprendizaje. </a:t>
            </a:r>
          </a:p>
          <a:p>
            <a:pPr>
              <a:lnSpc>
                <a:spcPct val="110000"/>
              </a:lnSpc>
              <a:spcBef>
                <a:spcPts val="0"/>
              </a:spcBef>
              <a:spcAft>
                <a:spcPts val="1200"/>
              </a:spcAft>
            </a:pPr>
            <a:r>
              <a:rPr lang="es-ES" sz="2100" dirty="0"/>
              <a:t>Cada interacción del estudiante deja un registro de interacción</a:t>
            </a:r>
          </a:p>
          <a:p>
            <a:pPr>
              <a:lnSpc>
                <a:spcPct val="110000"/>
              </a:lnSpc>
              <a:spcBef>
                <a:spcPts val="0"/>
              </a:spcBef>
              <a:spcAft>
                <a:spcPts val="1200"/>
              </a:spcAft>
            </a:pPr>
            <a:r>
              <a:rPr lang="es-ES" sz="2100" dirty="0"/>
              <a:t>Estos registros no se aprovechan para intervenciones pedagógicas. Incluso cuando se usa IA, no se explican los resultados (Caja negra).</a:t>
            </a:r>
            <a:endParaRPr lang="es-ES" sz="2400" dirty="0"/>
          </a:p>
          <a:p>
            <a:pPr marL="0" indent="0">
              <a:lnSpc>
                <a:spcPct val="110000"/>
              </a:lnSpc>
              <a:spcBef>
                <a:spcPts val="2500"/>
              </a:spcBef>
              <a:buFont typeface="Arial" panose="020B0604020202020204" pitchFamily="34" charset="0"/>
              <a:buNone/>
            </a:pPr>
            <a:endParaRPr lang="es-ES" b="1" dirty="0"/>
          </a:p>
        </p:txBody>
      </p:sp>
      <p:sp>
        <p:nvSpPr>
          <p:cNvPr id="3" name="Marcador de fecha 2">
            <a:extLst>
              <a:ext uri="{FF2B5EF4-FFF2-40B4-BE49-F238E27FC236}">
                <a16:creationId xmlns:a16="http://schemas.microsoft.com/office/drawing/2014/main" id="{0709760D-19DC-7955-501A-7B961180B92D}"/>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26E72F53-700F-DC4E-7B1D-C2CE3970E684}"/>
              </a:ext>
            </a:extLst>
          </p:cNvPr>
          <p:cNvSpPr>
            <a:spLocks noGrp="1"/>
          </p:cNvSpPr>
          <p:nvPr>
            <p:ph type="sldNum" sz="quarter" idx="12"/>
          </p:nvPr>
        </p:nvSpPr>
        <p:spPr/>
        <p:txBody>
          <a:bodyPr/>
          <a:lstStyle/>
          <a:p>
            <a:pPr rtl="0"/>
            <a:fld id="{DD84031F-D6BF-4677-B12E-7D8B88BA70F7}" type="slidenum">
              <a:rPr lang="en-US" smtClean="0"/>
              <a:t>2</a:t>
            </a:fld>
            <a:endParaRPr lang="en-US"/>
          </a:p>
        </p:txBody>
      </p:sp>
      <p:pic>
        <p:nvPicPr>
          <p:cNvPr id="8" name="Imagen 7">
            <a:extLst>
              <a:ext uri="{FF2B5EF4-FFF2-40B4-BE49-F238E27FC236}">
                <a16:creationId xmlns:a16="http://schemas.microsoft.com/office/drawing/2014/main" id="{42B39D42-4303-2D23-0276-B4D35D1A22CF}"/>
              </a:ext>
            </a:extLst>
          </p:cNvPr>
          <p:cNvPicPr>
            <a:picLocks noChangeAspect="1"/>
          </p:cNvPicPr>
          <p:nvPr/>
        </p:nvPicPr>
        <p:blipFill>
          <a:blip r:embed="rId3"/>
          <a:stretch>
            <a:fillRect/>
          </a:stretch>
        </p:blipFill>
        <p:spPr>
          <a:xfrm>
            <a:off x="9918084" y="99023"/>
            <a:ext cx="1871580" cy="799949"/>
          </a:xfrm>
          <a:prstGeom prst="rect">
            <a:avLst/>
          </a:prstGeom>
        </p:spPr>
      </p:pic>
      <p:pic>
        <p:nvPicPr>
          <p:cNvPr id="12" name="Imagen 11">
            <a:extLst>
              <a:ext uri="{FF2B5EF4-FFF2-40B4-BE49-F238E27FC236}">
                <a16:creationId xmlns:a16="http://schemas.microsoft.com/office/drawing/2014/main" id="{0CE4B8BE-0B77-4A2E-0BBB-A87B06FDBF14}"/>
              </a:ext>
            </a:extLst>
          </p:cNvPr>
          <p:cNvPicPr>
            <a:picLocks noChangeAspect="1"/>
          </p:cNvPicPr>
          <p:nvPr/>
        </p:nvPicPr>
        <p:blipFill>
          <a:blip r:embed="rId4"/>
          <a:stretch>
            <a:fillRect/>
          </a:stretch>
        </p:blipFill>
        <p:spPr>
          <a:xfrm>
            <a:off x="7550925" y="898972"/>
            <a:ext cx="4137143" cy="2994761"/>
          </a:xfrm>
          <a:prstGeom prst="rect">
            <a:avLst/>
          </a:prstGeom>
        </p:spPr>
      </p:pic>
      <p:pic>
        <p:nvPicPr>
          <p:cNvPr id="14" name="Imagen 13">
            <a:extLst>
              <a:ext uri="{FF2B5EF4-FFF2-40B4-BE49-F238E27FC236}">
                <a16:creationId xmlns:a16="http://schemas.microsoft.com/office/drawing/2014/main" id="{BBE26ABB-FC57-B1D5-77CB-F9539C086429}"/>
              </a:ext>
            </a:extLst>
          </p:cNvPr>
          <p:cNvPicPr>
            <a:picLocks noChangeAspect="1"/>
          </p:cNvPicPr>
          <p:nvPr/>
        </p:nvPicPr>
        <p:blipFill>
          <a:blip r:embed="rId5"/>
          <a:stretch>
            <a:fillRect/>
          </a:stretch>
        </p:blipFill>
        <p:spPr>
          <a:xfrm>
            <a:off x="7509139" y="3746245"/>
            <a:ext cx="4001766" cy="2827334"/>
          </a:xfrm>
          <a:prstGeom prst="rect">
            <a:avLst/>
          </a:prstGeom>
        </p:spPr>
      </p:pic>
      <p:sp>
        <p:nvSpPr>
          <p:cNvPr id="15" name="Título 1">
            <a:extLst>
              <a:ext uri="{FF2B5EF4-FFF2-40B4-BE49-F238E27FC236}">
                <a16:creationId xmlns:a16="http://schemas.microsoft.com/office/drawing/2014/main" id="{40341A48-A148-5119-465B-7F673D674541}"/>
              </a:ext>
            </a:extLst>
          </p:cNvPr>
          <p:cNvSpPr txBox="1">
            <a:spLocks/>
          </p:cNvSpPr>
          <p:nvPr/>
        </p:nvSpPr>
        <p:spPr>
          <a:xfrm>
            <a:off x="556537" y="614108"/>
            <a:ext cx="8077912" cy="66135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3600" dirty="0">
                <a:solidFill>
                  <a:srgbClr val="FF6600"/>
                </a:solidFill>
              </a:rPr>
              <a:t>Definición del problema</a:t>
            </a:r>
          </a:p>
        </p:txBody>
      </p:sp>
      <p:cxnSp>
        <p:nvCxnSpPr>
          <p:cNvPr id="17" name="Conector recto 16">
            <a:extLst>
              <a:ext uri="{FF2B5EF4-FFF2-40B4-BE49-F238E27FC236}">
                <a16:creationId xmlns:a16="http://schemas.microsoft.com/office/drawing/2014/main" id="{C02F965C-72C5-B687-4C8F-1B1C7B7ABB04}"/>
              </a:ext>
            </a:extLst>
          </p:cNvPr>
          <p:cNvCxnSpPr>
            <a:cxnSpLocks/>
          </p:cNvCxnSpPr>
          <p:nvPr/>
        </p:nvCxnSpPr>
        <p:spPr>
          <a:xfrm>
            <a:off x="556537" y="1275461"/>
            <a:ext cx="677663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8183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F9F0EE-B70A-14BA-A0E3-0866D3FB3CDC}"/>
              </a:ext>
            </a:extLst>
          </p:cNvPr>
          <p:cNvSpPr>
            <a:spLocks noGrp="1"/>
          </p:cNvSpPr>
          <p:nvPr>
            <p:ph type="title"/>
          </p:nvPr>
        </p:nvSpPr>
        <p:spPr>
          <a:xfrm>
            <a:off x="332920" y="438298"/>
            <a:ext cx="11256264" cy="943772"/>
          </a:xfrm>
        </p:spPr>
        <p:txBody>
          <a:bodyPr>
            <a:normAutofit/>
          </a:bodyPr>
          <a:lstStyle/>
          <a:p>
            <a:r>
              <a:rPr lang="es-ES" sz="4800" dirty="0">
                <a:solidFill>
                  <a:srgbClr val="FF6600"/>
                </a:solidFill>
              </a:rPr>
              <a:t>Objetivos</a:t>
            </a:r>
            <a:endParaRPr lang="es-ES" sz="5400" dirty="0">
              <a:solidFill>
                <a:srgbClr val="FF6600"/>
              </a:solidFill>
            </a:endParaRPr>
          </a:p>
        </p:txBody>
      </p:sp>
      <p:sp>
        <p:nvSpPr>
          <p:cNvPr id="3" name="Marcador de contenido 2">
            <a:extLst>
              <a:ext uri="{FF2B5EF4-FFF2-40B4-BE49-F238E27FC236}">
                <a16:creationId xmlns:a16="http://schemas.microsoft.com/office/drawing/2014/main" id="{1B1539FF-15D0-A630-9518-5B08F04292EB}"/>
              </a:ext>
            </a:extLst>
          </p:cNvPr>
          <p:cNvSpPr>
            <a:spLocks noGrp="1"/>
          </p:cNvSpPr>
          <p:nvPr>
            <p:ph sz="quarter" idx="13"/>
          </p:nvPr>
        </p:nvSpPr>
        <p:spPr>
          <a:xfrm>
            <a:off x="5773807" y="2690337"/>
            <a:ext cx="5288869" cy="3838480"/>
          </a:xfrm>
          <a:solidFill>
            <a:schemeClr val="bg1"/>
          </a:solidFill>
        </p:spPr>
        <p:txBody>
          <a:bodyPr>
            <a:normAutofit lnSpcReduction="10000"/>
          </a:bodyPr>
          <a:lstStyle/>
          <a:p>
            <a:pPr marL="742950" lvl="1" indent="-285750">
              <a:buFontTx/>
              <a:buChar char="-"/>
            </a:pPr>
            <a:r>
              <a:rPr lang="es-ES" sz="1800" dirty="0"/>
              <a:t>Procesamiento OULAD</a:t>
            </a:r>
          </a:p>
          <a:p>
            <a:pPr marL="742950" lvl="1" indent="-285750" algn="just">
              <a:lnSpc>
                <a:spcPct val="150000"/>
              </a:lnSpc>
              <a:buFontTx/>
              <a:buChar char="-"/>
            </a:pPr>
            <a:r>
              <a:rPr lang="es-ES" sz="1800" dirty="0"/>
              <a:t>Aprendizaje supervisado para clasificación.</a:t>
            </a:r>
          </a:p>
          <a:p>
            <a:pPr marL="742950" lvl="1" indent="-285750" algn="just">
              <a:lnSpc>
                <a:spcPct val="150000"/>
              </a:lnSpc>
              <a:buFontTx/>
              <a:buChar char="-"/>
            </a:pPr>
            <a:r>
              <a:rPr lang="es-ES" sz="1800" dirty="0"/>
              <a:t>Aprendizaje no supervisado para agrupaciones.</a:t>
            </a:r>
          </a:p>
          <a:p>
            <a:pPr marL="742950" lvl="1" indent="-285750" algn="just">
              <a:lnSpc>
                <a:spcPct val="150000"/>
              </a:lnSpc>
              <a:buFontTx/>
              <a:buChar char="-"/>
            </a:pPr>
            <a:r>
              <a:rPr lang="es-ES" sz="1800" dirty="0"/>
              <a:t>Explicar por que se clasifica o se segmenta de una forma u otra</a:t>
            </a:r>
          </a:p>
          <a:p>
            <a:pPr marL="742950" lvl="1" indent="-285750" algn="just">
              <a:lnSpc>
                <a:spcPct val="150000"/>
              </a:lnSpc>
              <a:buFontTx/>
              <a:buChar char="-"/>
            </a:pPr>
            <a:r>
              <a:rPr lang="es-ES" sz="1800" dirty="0"/>
              <a:t>Proponer acciones pedagógicas recomendadas según los resultados de los modelos</a:t>
            </a:r>
            <a:endParaRPr lang="es-ES" dirty="0"/>
          </a:p>
        </p:txBody>
      </p:sp>
      <p:sp>
        <p:nvSpPr>
          <p:cNvPr id="5" name="Marcador de fecha 4">
            <a:extLst>
              <a:ext uri="{FF2B5EF4-FFF2-40B4-BE49-F238E27FC236}">
                <a16:creationId xmlns:a16="http://schemas.microsoft.com/office/drawing/2014/main" id="{0EE8B738-82D0-8701-C884-A085953661C1}"/>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C0733644-8CBA-BE30-D114-1DC09B3BE42F}"/>
              </a:ext>
            </a:extLst>
          </p:cNvPr>
          <p:cNvSpPr>
            <a:spLocks noGrp="1"/>
          </p:cNvSpPr>
          <p:nvPr>
            <p:ph type="sldNum" sz="quarter" idx="12"/>
          </p:nvPr>
        </p:nvSpPr>
        <p:spPr/>
        <p:txBody>
          <a:bodyPr/>
          <a:lstStyle/>
          <a:p>
            <a:pPr rtl="0"/>
            <a:fld id="{DD84031F-D6BF-4677-B12E-7D8B88BA70F7}" type="slidenum">
              <a:rPr lang="en-US" smtClean="0"/>
              <a:t>3</a:t>
            </a:fld>
            <a:endParaRPr lang="en-US"/>
          </a:p>
        </p:txBody>
      </p:sp>
      <p:sp>
        <p:nvSpPr>
          <p:cNvPr id="7" name="CuadroTexto 6">
            <a:extLst>
              <a:ext uri="{FF2B5EF4-FFF2-40B4-BE49-F238E27FC236}">
                <a16:creationId xmlns:a16="http://schemas.microsoft.com/office/drawing/2014/main" id="{79706D8F-6F9A-24B8-960B-5375F80BD223}"/>
              </a:ext>
            </a:extLst>
          </p:cNvPr>
          <p:cNvSpPr txBox="1"/>
          <p:nvPr/>
        </p:nvSpPr>
        <p:spPr>
          <a:xfrm>
            <a:off x="434857" y="1891983"/>
            <a:ext cx="2014526" cy="584775"/>
          </a:xfrm>
          <a:prstGeom prst="rect">
            <a:avLst/>
          </a:prstGeom>
          <a:noFill/>
        </p:spPr>
        <p:txBody>
          <a:bodyPr wrap="none" rtlCol="0">
            <a:spAutoFit/>
          </a:bodyPr>
          <a:lstStyle/>
          <a:p>
            <a:r>
              <a:rPr lang="es-ES" sz="3200" b="1" dirty="0"/>
              <a:t>GENERAL</a:t>
            </a:r>
          </a:p>
        </p:txBody>
      </p:sp>
      <p:sp>
        <p:nvSpPr>
          <p:cNvPr id="8" name="CuadroTexto 7">
            <a:extLst>
              <a:ext uri="{FF2B5EF4-FFF2-40B4-BE49-F238E27FC236}">
                <a16:creationId xmlns:a16="http://schemas.microsoft.com/office/drawing/2014/main" id="{9F191B47-5731-8F74-847B-D427B9686932}"/>
              </a:ext>
            </a:extLst>
          </p:cNvPr>
          <p:cNvSpPr txBox="1"/>
          <p:nvPr/>
        </p:nvSpPr>
        <p:spPr>
          <a:xfrm>
            <a:off x="6397157" y="1966395"/>
            <a:ext cx="2898096" cy="584775"/>
          </a:xfrm>
          <a:prstGeom prst="rect">
            <a:avLst/>
          </a:prstGeom>
          <a:noFill/>
        </p:spPr>
        <p:txBody>
          <a:bodyPr wrap="square" rtlCol="0">
            <a:spAutoFit/>
          </a:bodyPr>
          <a:lstStyle/>
          <a:p>
            <a:r>
              <a:rPr lang="es-ES" sz="3200" b="1" dirty="0"/>
              <a:t>ESPECÍFICOS</a:t>
            </a:r>
          </a:p>
        </p:txBody>
      </p:sp>
      <p:sp>
        <p:nvSpPr>
          <p:cNvPr id="12" name="CuadroTexto 11">
            <a:extLst>
              <a:ext uri="{FF2B5EF4-FFF2-40B4-BE49-F238E27FC236}">
                <a16:creationId xmlns:a16="http://schemas.microsoft.com/office/drawing/2014/main" id="{C599798F-8298-03E7-ACFC-EF2BF47B4721}"/>
              </a:ext>
            </a:extLst>
          </p:cNvPr>
          <p:cNvSpPr txBox="1"/>
          <p:nvPr/>
        </p:nvSpPr>
        <p:spPr>
          <a:xfrm>
            <a:off x="434858" y="2690336"/>
            <a:ext cx="5288868" cy="2118080"/>
          </a:xfrm>
          <a:prstGeom prst="rect">
            <a:avLst/>
          </a:prstGeom>
          <a:solidFill>
            <a:schemeClr val="bg1"/>
          </a:solidFill>
        </p:spPr>
        <p:txBody>
          <a:bodyPr wrap="square">
            <a:spAutoFit/>
          </a:bodyPr>
          <a:lstStyle/>
          <a:p>
            <a:pPr algn="just">
              <a:lnSpc>
                <a:spcPct val="150000"/>
              </a:lnSpc>
            </a:pPr>
            <a:r>
              <a:rPr lang="es-ES" i="0" dirty="0">
                <a:solidFill>
                  <a:srgbClr val="27251E"/>
                </a:solidFill>
                <a:effectLst/>
              </a:rPr>
              <a:t>Desarrollar un sistema de IA para detectar tempranamente el riesgo académico en LMS, segmentar perfiles de aprendizaje y generar explicaciones útiles para orientar intervenciones pedagógicas.</a:t>
            </a:r>
            <a:endParaRPr lang="es-ES" dirty="0"/>
          </a:p>
        </p:txBody>
      </p:sp>
      <p:pic>
        <p:nvPicPr>
          <p:cNvPr id="13" name="Imagen 12">
            <a:extLst>
              <a:ext uri="{FF2B5EF4-FFF2-40B4-BE49-F238E27FC236}">
                <a16:creationId xmlns:a16="http://schemas.microsoft.com/office/drawing/2014/main" id="{918D9CA9-82C5-CE5D-E04B-39BECB6456F8}"/>
              </a:ext>
            </a:extLst>
          </p:cNvPr>
          <p:cNvPicPr>
            <a:picLocks noChangeAspect="1"/>
          </p:cNvPicPr>
          <p:nvPr/>
        </p:nvPicPr>
        <p:blipFill>
          <a:blip r:embed="rId2"/>
          <a:stretch>
            <a:fillRect/>
          </a:stretch>
        </p:blipFill>
        <p:spPr>
          <a:xfrm>
            <a:off x="9918084" y="99023"/>
            <a:ext cx="1871580" cy="799949"/>
          </a:xfrm>
          <a:prstGeom prst="rect">
            <a:avLst/>
          </a:prstGeom>
        </p:spPr>
      </p:pic>
      <p:cxnSp>
        <p:nvCxnSpPr>
          <p:cNvPr id="14" name="Conector recto 13">
            <a:extLst>
              <a:ext uri="{FF2B5EF4-FFF2-40B4-BE49-F238E27FC236}">
                <a16:creationId xmlns:a16="http://schemas.microsoft.com/office/drawing/2014/main" id="{7E5833A9-D9F0-5778-BA0C-7FC2414C26B4}"/>
              </a:ext>
            </a:extLst>
          </p:cNvPr>
          <p:cNvCxnSpPr>
            <a:cxnSpLocks/>
          </p:cNvCxnSpPr>
          <p:nvPr/>
        </p:nvCxnSpPr>
        <p:spPr>
          <a:xfrm>
            <a:off x="521637" y="1289421"/>
            <a:ext cx="1116313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84783E3E-4FEA-8367-BD26-D029C1305CC4}"/>
              </a:ext>
            </a:extLst>
          </p:cNvPr>
          <p:cNvCxnSpPr>
            <a:cxnSpLocks/>
          </p:cNvCxnSpPr>
          <p:nvPr/>
        </p:nvCxnSpPr>
        <p:spPr>
          <a:xfrm>
            <a:off x="521637" y="2587729"/>
            <a:ext cx="51253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621832C1-6774-718F-76B0-AF3CB05C1B44}"/>
              </a:ext>
            </a:extLst>
          </p:cNvPr>
          <p:cNvCxnSpPr>
            <a:cxnSpLocks/>
          </p:cNvCxnSpPr>
          <p:nvPr/>
        </p:nvCxnSpPr>
        <p:spPr>
          <a:xfrm>
            <a:off x="6252343" y="2587729"/>
            <a:ext cx="5125307"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588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2F355-4647-8ECB-A04E-7A82B39902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84E1A4-91F1-C744-D335-0B1808AC59C4}"/>
              </a:ext>
            </a:extLst>
          </p:cNvPr>
          <p:cNvSpPr>
            <a:spLocks noGrp="1"/>
          </p:cNvSpPr>
          <p:nvPr>
            <p:ph type="title"/>
          </p:nvPr>
        </p:nvSpPr>
        <p:spPr>
          <a:xfrm>
            <a:off x="332919" y="438298"/>
            <a:ext cx="8378311" cy="943772"/>
          </a:xfrm>
        </p:spPr>
        <p:txBody>
          <a:bodyPr>
            <a:normAutofit fontScale="90000"/>
          </a:bodyPr>
          <a:lstStyle/>
          <a:p>
            <a:r>
              <a:rPr lang="es-ES" sz="4800" dirty="0">
                <a:solidFill>
                  <a:srgbClr val="FF6600"/>
                </a:solidFill>
              </a:rPr>
              <a:t>ESTADO DEL ARTE y Aportación</a:t>
            </a:r>
            <a:endParaRPr lang="es-ES" sz="5400" dirty="0">
              <a:solidFill>
                <a:srgbClr val="FF6600"/>
              </a:solidFill>
            </a:endParaRPr>
          </a:p>
        </p:txBody>
      </p:sp>
      <p:sp>
        <p:nvSpPr>
          <p:cNvPr id="5" name="Marcador de fecha 4">
            <a:extLst>
              <a:ext uri="{FF2B5EF4-FFF2-40B4-BE49-F238E27FC236}">
                <a16:creationId xmlns:a16="http://schemas.microsoft.com/office/drawing/2014/main" id="{2235CF17-1888-C84F-273F-3482473A9BD4}"/>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C11A2A69-A556-CF1B-FF33-D6CAF79681DB}"/>
              </a:ext>
            </a:extLst>
          </p:cNvPr>
          <p:cNvSpPr>
            <a:spLocks noGrp="1"/>
          </p:cNvSpPr>
          <p:nvPr>
            <p:ph type="sldNum" sz="quarter" idx="12"/>
          </p:nvPr>
        </p:nvSpPr>
        <p:spPr/>
        <p:txBody>
          <a:bodyPr/>
          <a:lstStyle/>
          <a:p>
            <a:pPr rtl="0"/>
            <a:fld id="{DD84031F-D6BF-4677-B12E-7D8B88BA70F7}" type="slidenum">
              <a:rPr lang="en-US" smtClean="0"/>
              <a:t>4</a:t>
            </a:fld>
            <a:endParaRPr lang="en-US"/>
          </a:p>
        </p:txBody>
      </p:sp>
      <p:sp>
        <p:nvSpPr>
          <p:cNvPr id="12" name="CuadroTexto 11">
            <a:extLst>
              <a:ext uri="{FF2B5EF4-FFF2-40B4-BE49-F238E27FC236}">
                <a16:creationId xmlns:a16="http://schemas.microsoft.com/office/drawing/2014/main" id="{9CAE520D-D397-8EA8-9A50-027428CCA736}"/>
              </a:ext>
            </a:extLst>
          </p:cNvPr>
          <p:cNvSpPr txBox="1"/>
          <p:nvPr/>
        </p:nvSpPr>
        <p:spPr>
          <a:xfrm>
            <a:off x="434857" y="2028717"/>
            <a:ext cx="5711892" cy="4154984"/>
          </a:xfrm>
          <a:prstGeom prst="rect">
            <a:avLst/>
          </a:prstGeom>
          <a:solidFill>
            <a:schemeClr val="bg1"/>
          </a:solidFill>
        </p:spPr>
        <p:txBody>
          <a:bodyPr wrap="square">
            <a:spAutoFit/>
          </a:bodyPr>
          <a:lstStyle/>
          <a:p>
            <a:r>
              <a:rPr lang="es-ES" dirty="0"/>
              <a:t>Tras un estudio del estado del arte nos inspiramos en:</a:t>
            </a:r>
          </a:p>
          <a:p>
            <a:pPr>
              <a:lnSpc>
                <a:spcPct val="150000"/>
              </a:lnSpc>
            </a:pPr>
            <a:endParaRPr lang="es-ES" sz="1400" dirty="0"/>
          </a:p>
          <a:p>
            <a:pPr marL="285750" indent="-285750">
              <a:lnSpc>
                <a:spcPct val="150000"/>
              </a:lnSpc>
              <a:buFont typeface="Arial" panose="020B0604020202020204" pitchFamily="34" charset="0"/>
              <a:buChar char="•"/>
            </a:pPr>
            <a:r>
              <a:rPr lang="es-ES" b="1" dirty="0"/>
              <a:t>El Ghali et al. (2025):</a:t>
            </a:r>
            <a:r>
              <a:rPr lang="es-ES" dirty="0"/>
              <a:t> referencia para segmentación de estudiantes.</a:t>
            </a:r>
          </a:p>
          <a:p>
            <a:pPr marL="285750" indent="-285750">
              <a:lnSpc>
                <a:spcPct val="150000"/>
              </a:lnSpc>
              <a:buFont typeface="Arial" panose="020B0604020202020204" pitchFamily="34" charset="0"/>
              <a:buChar char="•"/>
            </a:pPr>
            <a:r>
              <a:rPr lang="es-ES" b="1" dirty="0"/>
              <a:t>Luo et al. (2024):</a:t>
            </a:r>
            <a:r>
              <a:rPr lang="es-ES" dirty="0"/>
              <a:t> referencia para predicción temprana del abandono.</a:t>
            </a:r>
          </a:p>
          <a:p>
            <a:pPr marL="285750" indent="-285750">
              <a:lnSpc>
                <a:spcPct val="150000"/>
              </a:lnSpc>
              <a:buFont typeface="Arial" panose="020B0604020202020204" pitchFamily="34" charset="0"/>
              <a:buChar char="•"/>
            </a:pPr>
            <a:r>
              <a:rPr lang="es-ES" b="1" dirty="0"/>
              <a:t>XAI en educación:</a:t>
            </a:r>
            <a:r>
              <a:rPr lang="es-ES" dirty="0"/>
              <a:t> traducir resultados de </a:t>
            </a:r>
            <a:r>
              <a:rPr lang="es-ES" dirty="0" err="1"/>
              <a:t>clustering</a:t>
            </a:r>
            <a:r>
              <a:rPr lang="es-ES" dirty="0"/>
              <a:t> y clasificación en explicaciones para  intervención docente.</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p:txBody>
      </p:sp>
      <p:pic>
        <p:nvPicPr>
          <p:cNvPr id="13" name="Imagen 12">
            <a:extLst>
              <a:ext uri="{FF2B5EF4-FFF2-40B4-BE49-F238E27FC236}">
                <a16:creationId xmlns:a16="http://schemas.microsoft.com/office/drawing/2014/main" id="{401D66A3-D61D-FA8F-31B0-8E21B771B09D}"/>
              </a:ext>
            </a:extLst>
          </p:cNvPr>
          <p:cNvPicPr>
            <a:picLocks noChangeAspect="1"/>
          </p:cNvPicPr>
          <p:nvPr/>
        </p:nvPicPr>
        <p:blipFill>
          <a:blip r:embed="rId2"/>
          <a:stretch>
            <a:fillRect/>
          </a:stretch>
        </p:blipFill>
        <p:spPr>
          <a:xfrm>
            <a:off x="9918084" y="99023"/>
            <a:ext cx="1871580" cy="799949"/>
          </a:xfrm>
          <a:prstGeom prst="rect">
            <a:avLst/>
          </a:prstGeom>
        </p:spPr>
      </p:pic>
      <p:cxnSp>
        <p:nvCxnSpPr>
          <p:cNvPr id="14" name="Conector recto 13">
            <a:extLst>
              <a:ext uri="{FF2B5EF4-FFF2-40B4-BE49-F238E27FC236}">
                <a16:creationId xmlns:a16="http://schemas.microsoft.com/office/drawing/2014/main" id="{55B17D12-EDDD-5FC5-A38F-8C925FBB9C80}"/>
              </a:ext>
            </a:extLst>
          </p:cNvPr>
          <p:cNvCxnSpPr>
            <a:cxnSpLocks/>
          </p:cNvCxnSpPr>
          <p:nvPr/>
        </p:nvCxnSpPr>
        <p:spPr>
          <a:xfrm>
            <a:off x="521637" y="1289421"/>
            <a:ext cx="11163139"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2743DE66-711C-5072-BB94-92CFE6EC463E}"/>
              </a:ext>
            </a:extLst>
          </p:cNvPr>
          <p:cNvSpPr txBox="1"/>
          <p:nvPr/>
        </p:nvSpPr>
        <p:spPr>
          <a:xfrm>
            <a:off x="7371040" y="3260538"/>
            <a:ext cx="4408403" cy="871585"/>
          </a:xfrm>
          <a:prstGeom prst="rect">
            <a:avLst/>
          </a:prstGeom>
          <a:solidFill>
            <a:schemeClr val="bg1"/>
          </a:solidFill>
        </p:spPr>
        <p:txBody>
          <a:bodyPr wrap="square">
            <a:spAutoFit/>
          </a:bodyPr>
          <a:lstStyle/>
          <a:p>
            <a:pPr>
              <a:lnSpc>
                <a:spcPct val="150000"/>
              </a:lnSpc>
            </a:pPr>
            <a:r>
              <a:rPr lang="es-ES" i="0" dirty="0">
                <a:solidFill>
                  <a:srgbClr val="27251E"/>
                </a:solidFill>
                <a:effectLst/>
              </a:rPr>
              <a:t>integración experimental de segmentación, predicción y </a:t>
            </a:r>
            <a:r>
              <a:rPr lang="es-ES" i="0" dirty="0" err="1">
                <a:solidFill>
                  <a:srgbClr val="27251E"/>
                </a:solidFill>
                <a:effectLst/>
              </a:rPr>
              <a:t>explicabilidad</a:t>
            </a:r>
            <a:r>
              <a:rPr lang="es-ES" i="0" dirty="0">
                <a:solidFill>
                  <a:srgbClr val="27251E"/>
                </a:solidFill>
                <a:effectLst/>
              </a:rPr>
              <a:t>.</a:t>
            </a:r>
            <a:endParaRPr lang="es-ES" dirty="0"/>
          </a:p>
        </p:txBody>
      </p:sp>
      <p:sp>
        <p:nvSpPr>
          <p:cNvPr id="45" name="Cerrar llave 44">
            <a:extLst>
              <a:ext uri="{FF2B5EF4-FFF2-40B4-BE49-F238E27FC236}">
                <a16:creationId xmlns:a16="http://schemas.microsoft.com/office/drawing/2014/main" id="{C4151300-F5FC-D8CA-3633-8E149E6AAB71}"/>
              </a:ext>
            </a:extLst>
          </p:cNvPr>
          <p:cNvSpPr/>
          <p:nvPr/>
        </p:nvSpPr>
        <p:spPr>
          <a:xfrm>
            <a:off x="6198376" y="2819982"/>
            <a:ext cx="851578" cy="2652458"/>
          </a:xfrm>
          <a:prstGeom prst="rightBrace">
            <a:avLst/>
          </a:prstGeom>
          <a:solidFill>
            <a:schemeClr val="bg1"/>
          </a:solidFill>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46" name="Rectángulo 45">
            <a:extLst>
              <a:ext uri="{FF2B5EF4-FFF2-40B4-BE49-F238E27FC236}">
                <a16:creationId xmlns:a16="http://schemas.microsoft.com/office/drawing/2014/main" id="{7F7A3260-764E-AAA2-8289-EB22C96FF192}"/>
              </a:ext>
            </a:extLst>
          </p:cNvPr>
          <p:cNvSpPr/>
          <p:nvPr/>
        </p:nvSpPr>
        <p:spPr>
          <a:xfrm>
            <a:off x="6645104" y="2764140"/>
            <a:ext cx="5214175" cy="4037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Título 1">
            <a:extLst>
              <a:ext uri="{FF2B5EF4-FFF2-40B4-BE49-F238E27FC236}">
                <a16:creationId xmlns:a16="http://schemas.microsoft.com/office/drawing/2014/main" id="{69DDC361-C4DB-E42C-6CA0-48077A14A65E}"/>
              </a:ext>
            </a:extLst>
          </p:cNvPr>
          <p:cNvSpPr txBox="1">
            <a:spLocks/>
          </p:cNvSpPr>
          <p:nvPr/>
        </p:nvSpPr>
        <p:spPr>
          <a:xfrm>
            <a:off x="7371040" y="2348096"/>
            <a:ext cx="8247871" cy="943772"/>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r>
              <a:rPr lang="es-ES" sz="2400" dirty="0">
                <a:solidFill>
                  <a:srgbClr val="FF6600"/>
                </a:solidFill>
              </a:rPr>
              <a:t>Aportación TFM</a:t>
            </a:r>
            <a:endParaRPr lang="es-ES" sz="2800" dirty="0">
              <a:solidFill>
                <a:srgbClr val="FF6600"/>
              </a:solidFill>
            </a:endParaRPr>
          </a:p>
        </p:txBody>
      </p:sp>
    </p:spTree>
    <p:extLst>
      <p:ext uri="{BB962C8B-B14F-4D97-AF65-F5344CB8AC3E}">
        <p14:creationId xmlns:p14="http://schemas.microsoft.com/office/powerpoint/2010/main" val="3480783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F7788E-29B7-C54B-52D9-8CFDCFB39FAC}"/>
              </a:ext>
            </a:extLst>
          </p:cNvPr>
          <p:cNvSpPr>
            <a:spLocks noGrp="1"/>
          </p:cNvSpPr>
          <p:nvPr>
            <p:ph type="title"/>
          </p:nvPr>
        </p:nvSpPr>
        <p:spPr>
          <a:xfrm>
            <a:off x="792677" y="541943"/>
            <a:ext cx="8881149" cy="718506"/>
          </a:xfrm>
        </p:spPr>
        <p:txBody>
          <a:bodyPr anchor="b">
            <a:normAutofit/>
          </a:bodyPr>
          <a:lstStyle/>
          <a:p>
            <a:r>
              <a:rPr lang="es-ES" sz="4000" dirty="0">
                <a:solidFill>
                  <a:srgbClr val="FF6600"/>
                </a:solidFill>
              </a:rPr>
              <a:t>DATASET OULAD</a:t>
            </a:r>
            <a:endParaRPr lang="es-ES" sz="5000" dirty="0"/>
          </a:p>
        </p:txBody>
      </p:sp>
      <p:graphicFrame>
        <p:nvGraphicFramePr>
          <p:cNvPr id="7" name="Marcador de contenido 2">
            <a:extLst>
              <a:ext uri="{FF2B5EF4-FFF2-40B4-BE49-F238E27FC236}">
                <a16:creationId xmlns:a16="http://schemas.microsoft.com/office/drawing/2014/main" id="{CD50EBF8-B47C-C9A8-EC0F-D2364B60B7B6}"/>
              </a:ext>
            </a:extLst>
          </p:cNvPr>
          <p:cNvGraphicFramePr>
            <a:graphicFrameLocks noGrp="1"/>
          </p:cNvGraphicFramePr>
          <p:nvPr>
            <p:ph sz="quarter" idx="13"/>
            <p:extLst>
              <p:ext uri="{D42A27DB-BD31-4B8C-83A1-F6EECF244321}">
                <p14:modId xmlns:p14="http://schemas.microsoft.com/office/powerpoint/2010/main" val="2516524171"/>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792676" y="4060556"/>
          <a:ext cx="10865922" cy="2351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Marcador de fecha 3">
            <a:extLst>
              <a:ext uri="{FF2B5EF4-FFF2-40B4-BE49-F238E27FC236}">
                <a16:creationId xmlns:a16="http://schemas.microsoft.com/office/drawing/2014/main" id="{C9E577F5-579A-E688-279F-04000363987E}"/>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0E8D07AF-C0A9-47CF-7586-7590C1C12460}"/>
              </a:ext>
            </a:extLst>
          </p:cNvPr>
          <p:cNvSpPr>
            <a:spLocks noGrp="1"/>
          </p:cNvSpPr>
          <p:nvPr>
            <p:ph type="sldNum" sz="quarter" idx="12"/>
          </p:nvPr>
        </p:nvSpPr>
        <p:spPr/>
        <p:txBody>
          <a:bodyPr/>
          <a:lstStyle/>
          <a:p>
            <a:pPr rtl="0"/>
            <a:fld id="{DD84031F-D6BF-4677-B12E-7D8B88BA70F7}" type="slidenum">
              <a:rPr lang="en-US" smtClean="0"/>
              <a:t>5</a:t>
            </a:fld>
            <a:endParaRPr lang="en-US"/>
          </a:p>
        </p:txBody>
      </p:sp>
      <p:pic>
        <p:nvPicPr>
          <p:cNvPr id="3" name="Imagen 2">
            <a:extLst>
              <a:ext uri="{FF2B5EF4-FFF2-40B4-BE49-F238E27FC236}">
                <a16:creationId xmlns:a16="http://schemas.microsoft.com/office/drawing/2014/main" id="{7C5F1346-CE99-AC55-5843-5B56F6273DBD}"/>
              </a:ext>
            </a:extLst>
          </p:cNvPr>
          <p:cNvPicPr>
            <a:picLocks noChangeAspect="1"/>
          </p:cNvPicPr>
          <p:nvPr/>
        </p:nvPicPr>
        <p:blipFill>
          <a:blip r:embed="rId8"/>
          <a:stretch>
            <a:fillRect/>
          </a:stretch>
        </p:blipFill>
        <p:spPr>
          <a:xfrm>
            <a:off x="9918084" y="292752"/>
            <a:ext cx="1871580" cy="799949"/>
          </a:xfrm>
          <a:prstGeom prst="rect">
            <a:avLst/>
          </a:prstGeom>
        </p:spPr>
      </p:pic>
      <p:cxnSp>
        <p:nvCxnSpPr>
          <p:cNvPr id="9" name="Conector recto 8">
            <a:extLst>
              <a:ext uri="{FF2B5EF4-FFF2-40B4-BE49-F238E27FC236}">
                <a16:creationId xmlns:a16="http://schemas.microsoft.com/office/drawing/2014/main" id="{B7938D5A-34AE-C50A-FEB8-5D545C32AEE8}"/>
              </a:ext>
            </a:extLst>
          </p:cNvPr>
          <p:cNvCxnSpPr>
            <a:cxnSpLocks/>
          </p:cNvCxnSpPr>
          <p:nvPr/>
        </p:nvCxnSpPr>
        <p:spPr>
          <a:xfrm>
            <a:off x="875654" y="1260450"/>
            <a:ext cx="11039467"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CuadroTexto 9">
            <a:extLst>
              <a:ext uri="{FF2B5EF4-FFF2-40B4-BE49-F238E27FC236}">
                <a16:creationId xmlns:a16="http://schemas.microsoft.com/office/drawing/2014/main" id="{24F90449-747F-4F7A-40F3-C22AE82B9DF9}"/>
              </a:ext>
            </a:extLst>
          </p:cNvPr>
          <p:cNvSpPr txBox="1"/>
          <p:nvPr/>
        </p:nvSpPr>
        <p:spPr>
          <a:xfrm>
            <a:off x="792676" y="1613187"/>
            <a:ext cx="10304109" cy="92333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s-ES" dirty="0"/>
              <a:t>Base de datos real de la Open </a:t>
            </a:r>
            <a:r>
              <a:rPr lang="es-ES" dirty="0" err="1"/>
              <a:t>University</a:t>
            </a:r>
            <a:r>
              <a:rPr lang="es-ES" dirty="0"/>
              <a:t> de Londres</a:t>
            </a:r>
          </a:p>
          <a:p>
            <a:pPr marL="285750" indent="-285750">
              <a:buFont typeface="Arial" panose="020B0604020202020204" pitchFamily="34" charset="0"/>
              <a:buChar char="•"/>
            </a:pPr>
            <a:r>
              <a:rPr lang="es-ES" dirty="0"/>
              <a:t>32.000 estudiantes.</a:t>
            </a:r>
          </a:p>
          <a:p>
            <a:pPr marL="285750" indent="-285750">
              <a:buFont typeface="Arial" panose="020B0604020202020204" pitchFamily="34" charset="0"/>
              <a:buChar char="•"/>
            </a:pPr>
            <a:r>
              <a:rPr lang="es-ES" dirty="0"/>
              <a:t>Más de 10 millones de interacciones.</a:t>
            </a:r>
          </a:p>
        </p:txBody>
      </p:sp>
      <p:pic>
        <p:nvPicPr>
          <p:cNvPr id="12" name="Gráfico 11" descr="Birrete con relleno sólido">
            <a:extLst>
              <a:ext uri="{FF2B5EF4-FFF2-40B4-BE49-F238E27FC236}">
                <a16:creationId xmlns:a16="http://schemas.microsoft.com/office/drawing/2014/main" id="{74FEC484-6E8C-10C8-EAD8-AE4FB1BFA57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102503" y="3383836"/>
            <a:ext cx="676720" cy="676720"/>
          </a:xfrm>
          <a:prstGeom prst="rect">
            <a:avLst/>
          </a:prstGeom>
        </p:spPr>
      </p:pic>
      <p:pic>
        <p:nvPicPr>
          <p:cNvPr id="16" name="Gráfico 15" descr="Dirigir dos pines por un camino con relleno sólido">
            <a:extLst>
              <a:ext uri="{FF2B5EF4-FFF2-40B4-BE49-F238E27FC236}">
                <a16:creationId xmlns:a16="http://schemas.microsoft.com/office/drawing/2014/main" id="{143620DE-CE11-D427-5BA4-CA4D630332C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896027" y="3268230"/>
            <a:ext cx="777799" cy="777799"/>
          </a:xfrm>
          <a:prstGeom prst="rect">
            <a:avLst/>
          </a:prstGeom>
        </p:spPr>
      </p:pic>
      <p:pic>
        <p:nvPicPr>
          <p:cNvPr id="18" name="Gráfico 17" descr="Portapapeles comprobado con relleno sólido">
            <a:extLst>
              <a:ext uri="{FF2B5EF4-FFF2-40B4-BE49-F238E27FC236}">
                <a16:creationId xmlns:a16="http://schemas.microsoft.com/office/drawing/2014/main" id="{62264316-ED7E-3774-2BAB-EE44E25DC00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882575" y="3429000"/>
            <a:ext cx="571500" cy="571500"/>
          </a:xfrm>
          <a:prstGeom prst="rect">
            <a:avLst/>
          </a:prstGeom>
        </p:spPr>
      </p:pic>
    </p:spTree>
    <p:extLst>
      <p:ext uri="{BB962C8B-B14F-4D97-AF65-F5344CB8AC3E}">
        <p14:creationId xmlns:p14="http://schemas.microsoft.com/office/powerpoint/2010/main" val="56150143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D2A4A-FFDE-F4D1-21D3-AEF590FBC85C}"/>
            </a:ext>
          </a:extLst>
        </p:cNvPr>
        <p:cNvGrpSpPr/>
        <p:nvPr/>
      </p:nvGrpSpPr>
      <p:grpSpPr>
        <a:xfrm>
          <a:off x="0" y="0"/>
          <a:ext cx="0" cy="0"/>
          <a:chOff x="0" y="0"/>
          <a:chExt cx="0" cy="0"/>
        </a:xfrm>
      </p:grpSpPr>
      <p:sp>
        <p:nvSpPr>
          <p:cNvPr id="5" name="Marcador de fecha 4">
            <a:extLst>
              <a:ext uri="{FF2B5EF4-FFF2-40B4-BE49-F238E27FC236}">
                <a16:creationId xmlns:a16="http://schemas.microsoft.com/office/drawing/2014/main" id="{91348478-10E3-1B25-DE0A-C383C6B2470B}"/>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03232F53-3327-A836-6D45-5F3D40540864}"/>
              </a:ext>
            </a:extLst>
          </p:cNvPr>
          <p:cNvSpPr>
            <a:spLocks noGrp="1"/>
          </p:cNvSpPr>
          <p:nvPr>
            <p:ph type="sldNum" sz="quarter" idx="12"/>
          </p:nvPr>
        </p:nvSpPr>
        <p:spPr/>
        <p:txBody>
          <a:bodyPr/>
          <a:lstStyle/>
          <a:p>
            <a:pPr rtl="0"/>
            <a:fld id="{DD84031F-D6BF-4677-B12E-7D8B88BA70F7}" type="slidenum">
              <a:rPr lang="en-US" smtClean="0"/>
              <a:t>6</a:t>
            </a:fld>
            <a:endParaRPr lang="en-US"/>
          </a:p>
        </p:txBody>
      </p:sp>
      <p:pic>
        <p:nvPicPr>
          <p:cNvPr id="9" name="Imagen 8">
            <a:extLst>
              <a:ext uri="{FF2B5EF4-FFF2-40B4-BE49-F238E27FC236}">
                <a16:creationId xmlns:a16="http://schemas.microsoft.com/office/drawing/2014/main" id="{BF0CA5EF-511A-ED6D-AB29-E2D89E17AA87}"/>
              </a:ext>
            </a:extLst>
          </p:cNvPr>
          <p:cNvPicPr>
            <a:picLocks noChangeAspect="1"/>
          </p:cNvPicPr>
          <p:nvPr/>
        </p:nvPicPr>
        <p:blipFill>
          <a:blip r:embed="rId2"/>
          <a:stretch>
            <a:fillRect/>
          </a:stretch>
        </p:blipFill>
        <p:spPr>
          <a:xfrm>
            <a:off x="9918084" y="99023"/>
            <a:ext cx="1871580" cy="799949"/>
          </a:xfrm>
          <a:prstGeom prst="rect">
            <a:avLst/>
          </a:prstGeom>
        </p:spPr>
      </p:pic>
      <p:pic>
        <p:nvPicPr>
          <p:cNvPr id="12" name="Gráfico 11" descr="Inventario de búsqueda con relleno sólido">
            <a:extLst>
              <a:ext uri="{FF2B5EF4-FFF2-40B4-BE49-F238E27FC236}">
                <a16:creationId xmlns:a16="http://schemas.microsoft.com/office/drawing/2014/main" id="{D14E8116-BD42-D286-12A7-DE34B23EC7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228" y="2321500"/>
            <a:ext cx="1226585" cy="1226585"/>
          </a:xfrm>
          <a:prstGeom prst="rect">
            <a:avLst/>
          </a:prstGeom>
        </p:spPr>
      </p:pic>
      <p:sp>
        <p:nvSpPr>
          <p:cNvPr id="13" name="CuadroTexto 12">
            <a:extLst>
              <a:ext uri="{FF2B5EF4-FFF2-40B4-BE49-F238E27FC236}">
                <a16:creationId xmlns:a16="http://schemas.microsoft.com/office/drawing/2014/main" id="{B42CF63F-5080-9340-E713-A6805BD96804}"/>
              </a:ext>
            </a:extLst>
          </p:cNvPr>
          <p:cNvSpPr txBox="1"/>
          <p:nvPr/>
        </p:nvSpPr>
        <p:spPr>
          <a:xfrm>
            <a:off x="359808" y="3548085"/>
            <a:ext cx="2557220" cy="707886"/>
          </a:xfrm>
          <a:prstGeom prst="rect">
            <a:avLst/>
          </a:prstGeom>
          <a:noFill/>
        </p:spPr>
        <p:txBody>
          <a:bodyPr wrap="square" rtlCol="0">
            <a:spAutoFit/>
          </a:bodyPr>
          <a:lstStyle/>
          <a:p>
            <a:pPr algn="ctr"/>
            <a:r>
              <a:rPr lang="es-ES" sz="2000" dirty="0">
                <a:latin typeface="CMU Serif" panose="02000603000000000000" pitchFamily="2" charset="0"/>
                <a:ea typeface="CMU Serif" panose="02000603000000000000" pitchFamily="2" charset="0"/>
                <a:cs typeface="CMU Serif" panose="02000603000000000000" pitchFamily="2" charset="0"/>
              </a:rPr>
              <a:t>Comprensión del negocio</a:t>
            </a:r>
          </a:p>
        </p:txBody>
      </p:sp>
      <p:pic>
        <p:nvPicPr>
          <p:cNvPr id="14" name="Gráfico 13" descr="Gráfico de barras con relleno sólido">
            <a:extLst>
              <a:ext uri="{FF2B5EF4-FFF2-40B4-BE49-F238E27FC236}">
                <a16:creationId xmlns:a16="http://schemas.microsoft.com/office/drawing/2014/main" id="{6DCE7392-1E3E-1204-A575-040CE491C0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0373" y="2420680"/>
            <a:ext cx="1071968" cy="1071968"/>
          </a:xfrm>
          <a:prstGeom prst="rect">
            <a:avLst/>
          </a:prstGeom>
        </p:spPr>
      </p:pic>
      <p:sp>
        <p:nvSpPr>
          <p:cNvPr id="15" name="CuadroTexto 14">
            <a:extLst>
              <a:ext uri="{FF2B5EF4-FFF2-40B4-BE49-F238E27FC236}">
                <a16:creationId xmlns:a16="http://schemas.microsoft.com/office/drawing/2014/main" id="{A03016C6-C1BC-59C8-E325-E6443269DE95}"/>
              </a:ext>
            </a:extLst>
          </p:cNvPr>
          <p:cNvSpPr txBox="1"/>
          <p:nvPr/>
        </p:nvSpPr>
        <p:spPr>
          <a:xfrm>
            <a:off x="2917028" y="3519616"/>
            <a:ext cx="1656917" cy="646331"/>
          </a:xfrm>
          <a:prstGeom prst="rect">
            <a:avLst/>
          </a:prstGeom>
          <a:solidFill>
            <a:schemeClr val="bg1"/>
          </a:solidFill>
        </p:spPr>
        <p:txBody>
          <a:bodyPr wrap="square" rtlCol="0">
            <a:spAutoFit/>
          </a:bodyPr>
          <a:lstStyle/>
          <a:p>
            <a:pPr algn="ctr"/>
            <a:r>
              <a:rPr lang="es-ES" b="1" dirty="0">
                <a:solidFill>
                  <a:srgbClr val="FF6600"/>
                </a:solidFill>
                <a:latin typeface="CMU Serif" panose="02000603000000000000" pitchFamily="2" charset="0"/>
                <a:ea typeface="CMU Serif" panose="02000603000000000000" pitchFamily="2" charset="0"/>
                <a:cs typeface="CMU Serif" panose="02000603000000000000" pitchFamily="2" charset="0"/>
              </a:rPr>
              <a:t>Entender datos</a:t>
            </a:r>
          </a:p>
        </p:txBody>
      </p:sp>
      <p:pic>
        <p:nvPicPr>
          <p:cNvPr id="16" name="Gráfico 15" descr="Herramientas de minería con relleno sólido">
            <a:extLst>
              <a:ext uri="{FF2B5EF4-FFF2-40B4-BE49-F238E27FC236}">
                <a16:creationId xmlns:a16="http://schemas.microsoft.com/office/drawing/2014/main" id="{159820AD-44CC-87C6-07E1-49EF1E4C01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45970" y="2485644"/>
            <a:ext cx="914400" cy="914400"/>
          </a:xfrm>
          <a:prstGeom prst="rect">
            <a:avLst/>
          </a:prstGeom>
        </p:spPr>
      </p:pic>
      <p:sp>
        <p:nvSpPr>
          <p:cNvPr id="17" name="CuadroTexto 16">
            <a:extLst>
              <a:ext uri="{FF2B5EF4-FFF2-40B4-BE49-F238E27FC236}">
                <a16:creationId xmlns:a16="http://schemas.microsoft.com/office/drawing/2014/main" id="{D1EE15D1-C6B4-64B3-6A81-09B720BEA073}"/>
              </a:ext>
            </a:extLst>
          </p:cNvPr>
          <p:cNvSpPr txBox="1"/>
          <p:nvPr/>
        </p:nvSpPr>
        <p:spPr>
          <a:xfrm>
            <a:off x="4941300" y="3492648"/>
            <a:ext cx="1656917" cy="646331"/>
          </a:xfrm>
          <a:prstGeom prst="rect">
            <a:avLst/>
          </a:prstGeom>
          <a:noFill/>
        </p:spPr>
        <p:txBody>
          <a:bodyPr wrap="square" rtlCol="0">
            <a:spAutoFit/>
          </a:bodyPr>
          <a:lstStyle/>
          <a:p>
            <a:pPr algn="ctr"/>
            <a:r>
              <a:rPr lang="es-ES" dirty="0">
                <a:latin typeface="CMU Serif" panose="02000603000000000000" pitchFamily="2" charset="0"/>
                <a:ea typeface="CMU Serif" panose="02000603000000000000" pitchFamily="2" charset="0"/>
                <a:cs typeface="CMU Serif" panose="02000603000000000000" pitchFamily="2" charset="0"/>
              </a:rPr>
              <a:t>Preparación de datos</a:t>
            </a:r>
          </a:p>
        </p:txBody>
      </p:sp>
      <p:pic>
        <p:nvPicPr>
          <p:cNvPr id="18" name="Gráfico 17" descr="Portapapeles parcialmente comprobado con relleno sólido">
            <a:extLst>
              <a:ext uri="{FF2B5EF4-FFF2-40B4-BE49-F238E27FC236}">
                <a16:creationId xmlns:a16="http://schemas.microsoft.com/office/drawing/2014/main" id="{9DBDA1C7-51C3-2550-04B1-7E6AE715C75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58230" y="2441942"/>
            <a:ext cx="914400" cy="914400"/>
          </a:xfrm>
          <a:prstGeom prst="rect">
            <a:avLst/>
          </a:prstGeom>
        </p:spPr>
      </p:pic>
      <p:sp>
        <p:nvSpPr>
          <p:cNvPr id="19" name="CuadroTexto 18">
            <a:extLst>
              <a:ext uri="{FF2B5EF4-FFF2-40B4-BE49-F238E27FC236}">
                <a16:creationId xmlns:a16="http://schemas.microsoft.com/office/drawing/2014/main" id="{08535996-A915-1585-E9A9-0988D4C7B692}"/>
              </a:ext>
            </a:extLst>
          </p:cNvPr>
          <p:cNvSpPr txBox="1"/>
          <p:nvPr/>
        </p:nvSpPr>
        <p:spPr>
          <a:xfrm>
            <a:off x="7145072" y="3424586"/>
            <a:ext cx="1656917" cy="369332"/>
          </a:xfrm>
          <a:prstGeom prst="rect">
            <a:avLst/>
          </a:prstGeom>
          <a:no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Modelado</a:t>
            </a:r>
          </a:p>
        </p:txBody>
      </p:sp>
      <p:sp>
        <p:nvSpPr>
          <p:cNvPr id="20" name="CuadroTexto 19">
            <a:extLst>
              <a:ext uri="{FF2B5EF4-FFF2-40B4-BE49-F238E27FC236}">
                <a16:creationId xmlns:a16="http://schemas.microsoft.com/office/drawing/2014/main" id="{A9818F8E-A2E2-189D-F881-716BD1ECADA1}"/>
              </a:ext>
            </a:extLst>
          </p:cNvPr>
          <p:cNvSpPr txBox="1"/>
          <p:nvPr/>
        </p:nvSpPr>
        <p:spPr>
          <a:xfrm>
            <a:off x="9252842" y="3436416"/>
            <a:ext cx="1656917" cy="646331"/>
          </a:xfrm>
          <a:prstGeom prst="rect">
            <a:avLst/>
          </a:prstGeom>
          <a:no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Evaluación y XAI</a:t>
            </a:r>
          </a:p>
        </p:txBody>
      </p:sp>
      <p:pic>
        <p:nvPicPr>
          <p:cNvPr id="21" name="Gráfico 20" descr="Robot con relleno sólido">
            <a:extLst>
              <a:ext uri="{FF2B5EF4-FFF2-40B4-BE49-F238E27FC236}">
                <a16:creationId xmlns:a16="http://schemas.microsoft.com/office/drawing/2014/main" id="{3BFC9ED1-2369-51EA-3935-A687B3ECF24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16331" y="2485644"/>
            <a:ext cx="914400" cy="914400"/>
          </a:xfrm>
          <a:prstGeom prst="rect">
            <a:avLst/>
          </a:prstGeom>
        </p:spPr>
      </p:pic>
      <p:sp>
        <p:nvSpPr>
          <p:cNvPr id="2" name="CuadroTexto 1">
            <a:extLst>
              <a:ext uri="{FF2B5EF4-FFF2-40B4-BE49-F238E27FC236}">
                <a16:creationId xmlns:a16="http://schemas.microsoft.com/office/drawing/2014/main" id="{E01D74E2-030C-FC28-0902-E35828878ABA}"/>
              </a:ext>
            </a:extLst>
          </p:cNvPr>
          <p:cNvSpPr txBox="1"/>
          <p:nvPr/>
        </p:nvSpPr>
        <p:spPr>
          <a:xfrm>
            <a:off x="802718" y="1067963"/>
            <a:ext cx="6155866" cy="646331"/>
          </a:xfrm>
          <a:prstGeom prst="rect">
            <a:avLst/>
          </a:prstGeom>
          <a:noFill/>
        </p:spPr>
        <p:txBody>
          <a:bodyPr wrap="square" rtlCol="0">
            <a:spAutoFit/>
          </a:bodyPr>
          <a:lstStyle/>
          <a:p>
            <a:r>
              <a:rPr lang="es-ES" dirty="0"/>
              <a:t>Metodología empleada CRISP-DM Chapman y otros (2000) </a:t>
            </a:r>
            <a:r>
              <a:rPr lang="en-US" i="1" dirty="0"/>
              <a:t>CRISP-DM 1.0: Step-by-step data mining guide</a:t>
            </a:r>
            <a:r>
              <a:rPr lang="en-US" dirty="0"/>
              <a:t>.</a:t>
            </a:r>
            <a:endParaRPr lang="es-ES" dirty="0"/>
          </a:p>
        </p:txBody>
      </p:sp>
    </p:spTree>
    <p:extLst>
      <p:ext uri="{BB962C8B-B14F-4D97-AF65-F5344CB8AC3E}">
        <p14:creationId xmlns:p14="http://schemas.microsoft.com/office/powerpoint/2010/main" val="2917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A1CD4C48-50E1-752F-9366-5F9559034066}"/>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125496F0-BE13-8E6C-5B80-A466C0F87EF0}"/>
              </a:ext>
            </a:extLst>
          </p:cNvPr>
          <p:cNvSpPr>
            <a:spLocks noGrp="1"/>
          </p:cNvSpPr>
          <p:nvPr>
            <p:ph type="sldNum" sz="quarter" idx="12"/>
          </p:nvPr>
        </p:nvSpPr>
        <p:spPr/>
        <p:txBody>
          <a:bodyPr/>
          <a:lstStyle/>
          <a:p>
            <a:pPr rtl="0"/>
            <a:fld id="{DD84031F-D6BF-4677-B12E-7D8B88BA70F7}" type="slidenum">
              <a:rPr lang="en-US" smtClean="0"/>
              <a:t>7</a:t>
            </a:fld>
            <a:endParaRPr lang="en-US"/>
          </a:p>
        </p:txBody>
      </p:sp>
      <p:pic>
        <p:nvPicPr>
          <p:cNvPr id="13" name="Imagen 12" descr="Gráfico, Gráfico de barras, Gráfico de rectángulos&#10;&#10;El contenido generado por IA puede ser incorrecto.">
            <a:extLst>
              <a:ext uri="{FF2B5EF4-FFF2-40B4-BE49-F238E27FC236}">
                <a16:creationId xmlns:a16="http://schemas.microsoft.com/office/drawing/2014/main" id="{4D3E8544-6CC7-1346-1484-309590E055BB}"/>
              </a:ext>
            </a:extLst>
          </p:cNvPr>
          <p:cNvPicPr>
            <a:picLocks noChangeAspect="1"/>
          </p:cNvPicPr>
          <p:nvPr/>
        </p:nvPicPr>
        <p:blipFill>
          <a:blip r:embed="rId3"/>
          <a:stretch>
            <a:fillRect/>
          </a:stretch>
        </p:blipFill>
        <p:spPr>
          <a:xfrm>
            <a:off x="1196104" y="2107399"/>
            <a:ext cx="4752053" cy="3138380"/>
          </a:xfrm>
          <a:prstGeom prst="rect">
            <a:avLst/>
          </a:prstGeom>
        </p:spPr>
      </p:pic>
      <p:pic>
        <p:nvPicPr>
          <p:cNvPr id="19" name="Imagen 18">
            <a:extLst>
              <a:ext uri="{FF2B5EF4-FFF2-40B4-BE49-F238E27FC236}">
                <a16:creationId xmlns:a16="http://schemas.microsoft.com/office/drawing/2014/main" id="{54BC0283-FBB6-565D-03F8-76E6E1BB072E}"/>
              </a:ext>
            </a:extLst>
          </p:cNvPr>
          <p:cNvPicPr>
            <a:picLocks noChangeAspect="1"/>
          </p:cNvPicPr>
          <p:nvPr/>
        </p:nvPicPr>
        <p:blipFill>
          <a:blip r:embed="rId4"/>
          <a:stretch>
            <a:fillRect/>
          </a:stretch>
        </p:blipFill>
        <p:spPr>
          <a:xfrm>
            <a:off x="9918084" y="99023"/>
            <a:ext cx="1871580" cy="799949"/>
          </a:xfrm>
          <a:prstGeom prst="rect">
            <a:avLst/>
          </a:prstGeom>
        </p:spPr>
      </p:pic>
      <p:sp>
        <p:nvSpPr>
          <p:cNvPr id="20" name="CuadroTexto 19">
            <a:extLst>
              <a:ext uri="{FF2B5EF4-FFF2-40B4-BE49-F238E27FC236}">
                <a16:creationId xmlns:a16="http://schemas.microsoft.com/office/drawing/2014/main" id="{6BD78E6B-4E05-7CB1-C503-3336AB98FDF7}"/>
              </a:ext>
            </a:extLst>
          </p:cNvPr>
          <p:cNvSpPr txBox="1"/>
          <p:nvPr/>
        </p:nvSpPr>
        <p:spPr>
          <a:xfrm>
            <a:off x="6243844" y="2162210"/>
            <a:ext cx="5093166" cy="253357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dirty="0"/>
              <a:t>Desbalanceo de clases.</a:t>
            </a:r>
          </a:p>
          <a:p>
            <a:pPr marL="285750" indent="-285750">
              <a:lnSpc>
                <a:spcPct val="150000"/>
              </a:lnSpc>
              <a:buFont typeface="Arial" panose="020B0604020202020204" pitchFamily="34" charset="0"/>
              <a:buChar char="•"/>
            </a:pPr>
            <a:r>
              <a:rPr lang="es-ES" dirty="0"/>
              <a:t>Alta representatividad de la clase abandono.</a:t>
            </a:r>
          </a:p>
          <a:p>
            <a:pPr marL="285750" indent="-285750">
              <a:lnSpc>
                <a:spcPct val="150000"/>
              </a:lnSpc>
              <a:buFont typeface="Arial" panose="020B0604020202020204" pitchFamily="34" charset="0"/>
              <a:buChar char="•"/>
            </a:pPr>
            <a:r>
              <a:rPr lang="es-ES" dirty="0"/>
              <a:t>Baja representatividad de la clase suspenso + hay una línea muy delgada entre estudiantes que abandonan y suspenden (problemas en clasificación </a:t>
            </a:r>
            <a:r>
              <a:rPr lang="es-ES" dirty="0" err="1"/>
              <a:t>trinaria</a:t>
            </a:r>
            <a:r>
              <a:rPr lang="es-ES" dirty="0"/>
              <a:t> o cuaternaria)</a:t>
            </a:r>
          </a:p>
        </p:txBody>
      </p:sp>
      <p:sp>
        <p:nvSpPr>
          <p:cNvPr id="22" name="Título 1">
            <a:extLst>
              <a:ext uri="{FF2B5EF4-FFF2-40B4-BE49-F238E27FC236}">
                <a16:creationId xmlns:a16="http://schemas.microsoft.com/office/drawing/2014/main" id="{46461525-6D4A-2BE8-ED24-542EAA260B99}"/>
              </a:ext>
            </a:extLst>
          </p:cNvPr>
          <p:cNvSpPr txBox="1">
            <a:spLocks/>
          </p:cNvSpPr>
          <p:nvPr/>
        </p:nvSpPr>
        <p:spPr>
          <a:xfrm>
            <a:off x="1018162" y="310468"/>
            <a:ext cx="8648771" cy="1192717"/>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ANÁLISIS EXPLORATORIO DE DATOS I</a:t>
            </a:r>
          </a:p>
        </p:txBody>
      </p:sp>
      <p:cxnSp>
        <p:nvCxnSpPr>
          <p:cNvPr id="23" name="Conector recto 22">
            <a:extLst>
              <a:ext uri="{FF2B5EF4-FFF2-40B4-BE49-F238E27FC236}">
                <a16:creationId xmlns:a16="http://schemas.microsoft.com/office/drawing/2014/main" id="{C50D97F3-420D-1C8A-1DB6-9A1A75580C60}"/>
              </a:ext>
            </a:extLst>
          </p:cNvPr>
          <p:cNvCxnSpPr>
            <a:cxnSpLocks/>
          </p:cNvCxnSpPr>
          <p:nvPr/>
        </p:nvCxnSpPr>
        <p:spPr>
          <a:xfrm>
            <a:off x="960780" y="1503185"/>
            <a:ext cx="1021305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901162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fecha 5">
            <a:extLst>
              <a:ext uri="{FF2B5EF4-FFF2-40B4-BE49-F238E27FC236}">
                <a16:creationId xmlns:a16="http://schemas.microsoft.com/office/drawing/2014/main" id="{250A5B19-A641-5E89-B71C-48BB7ACE14E2}"/>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029EAA3F-D02E-3022-FEB4-20DED456536D}"/>
              </a:ext>
            </a:extLst>
          </p:cNvPr>
          <p:cNvSpPr>
            <a:spLocks noGrp="1"/>
          </p:cNvSpPr>
          <p:nvPr>
            <p:ph type="sldNum" sz="quarter" idx="12"/>
          </p:nvPr>
        </p:nvSpPr>
        <p:spPr/>
        <p:txBody>
          <a:bodyPr/>
          <a:lstStyle/>
          <a:p>
            <a:pPr rtl="0"/>
            <a:fld id="{DD84031F-D6BF-4677-B12E-7D8B88BA70F7}" type="slidenum">
              <a:rPr lang="en-US" smtClean="0"/>
              <a:t>8</a:t>
            </a:fld>
            <a:endParaRPr lang="en-US"/>
          </a:p>
        </p:txBody>
      </p:sp>
      <p:pic>
        <p:nvPicPr>
          <p:cNvPr id="8" name="Imagen 7" descr="Gráfico&#10;&#10;El contenido generado por IA puede ser incorrecto.">
            <a:extLst>
              <a:ext uri="{FF2B5EF4-FFF2-40B4-BE49-F238E27FC236}">
                <a16:creationId xmlns:a16="http://schemas.microsoft.com/office/drawing/2014/main" id="{4C02F754-E555-A6BE-AF8A-0A3057A2B83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161" y="1925889"/>
            <a:ext cx="5354717" cy="4153050"/>
          </a:xfrm>
          <a:prstGeom prst="rect">
            <a:avLst/>
          </a:prstGeom>
          <a:noFill/>
          <a:ln>
            <a:noFill/>
          </a:ln>
        </p:spPr>
      </p:pic>
      <p:pic>
        <p:nvPicPr>
          <p:cNvPr id="9" name="Imagen 8">
            <a:extLst>
              <a:ext uri="{FF2B5EF4-FFF2-40B4-BE49-F238E27FC236}">
                <a16:creationId xmlns:a16="http://schemas.microsoft.com/office/drawing/2014/main" id="{976103F0-367C-1185-8A81-66B42202DF6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0403" y="1925889"/>
            <a:ext cx="4778420" cy="4153050"/>
          </a:xfrm>
          <a:prstGeom prst="rect">
            <a:avLst/>
          </a:prstGeom>
          <a:noFill/>
          <a:ln>
            <a:noFill/>
          </a:ln>
        </p:spPr>
      </p:pic>
      <p:pic>
        <p:nvPicPr>
          <p:cNvPr id="10" name="Imagen 9">
            <a:extLst>
              <a:ext uri="{FF2B5EF4-FFF2-40B4-BE49-F238E27FC236}">
                <a16:creationId xmlns:a16="http://schemas.microsoft.com/office/drawing/2014/main" id="{C8D90DEF-A5E9-B732-63C0-E874D3FE4C71}"/>
              </a:ext>
            </a:extLst>
          </p:cNvPr>
          <p:cNvPicPr>
            <a:picLocks noChangeAspect="1"/>
          </p:cNvPicPr>
          <p:nvPr/>
        </p:nvPicPr>
        <p:blipFill>
          <a:blip r:embed="rId4"/>
          <a:stretch>
            <a:fillRect/>
          </a:stretch>
        </p:blipFill>
        <p:spPr>
          <a:xfrm>
            <a:off x="9918084" y="99023"/>
            <a:ext cx="1871580" cy="799949"/>
          </a:xfrm>
          <a:prstGeom prst="rect">
            <a:avLst/>
          </a:prstGeom>
        </p:spPr>
      </p:pic>
      <p:sp>
        <p:nvSpPr>
          <p:cNvPr id="3" name="CuadroTexto 2">
            <a:extLst>
              <a:ext uri="{FF2B5EF4-FFF2-40B4-BE49-F238E27FC236}">
                <a16:creationId xmlns:a16="http://schemas.microsoft.com/office/drawing/2014/main" id="{9CF2CFD6-A3A5-4E38-D04C-86DB4B587E1F}"/>
              </a:ext>
            </a:extLst>
          </p:cNvPr>
          <p:cNvSpPr txBox="1"/>
          <p:nvPr/>
        </p:nvSpPr>
        <p:spPr>
          <a:xfrm>
            <a:off x="960780" y="6270533"/>
            <a:ext cx="9490932" cy="276999"/>
          </a:xfrm>
          <a:prstGeom prst="rect">
            <a:avLst/>
          </a:prstGeom>
          <a:noFill/>
        </p:spPr>
        <p:txBody>
          <a:bodyPr wrap="none" rtlCol="0">
            <a:spAutoFit/>
          </a:bodyPr>
          <a:lstStyle/>
          <a:p>
            <a:r>
              <a:rPr lang="es-ES" sz="1200" dirty="0" err="1">
                <a:latin typeface="Segoe UI" panose="020B0502040204020203" pitchFamily="34" charset="0"/>
              </a:rPr>
              <a:t>Kusumawardani</a:t>
            </a:r>
            <a:r>
              <a:rPr lang="es-ES" sz="1200" dirty="0">
                <a:latin typeface="Segoe UI" panose="020B0502040204020203" pitchFamily="34" charset="0"/>
              </a:rPr>
              <a:t> y </a:t>
            </a:r>
            <a:r>
              <a:rPr lang="es-ES" sz="1200" dirty="0" err="1">
                <a:latin typeface="Segoe UI" panose="020B0502040204020203" pitchFamily="34" charset="0"/>
              </a:rPr>
              <a:t>Alfarozi</a:t>
            </a:r>
            <a:r>
              <a:rPr lang="es-ES" sz="1200" dirty="0">
                <a:latin typeface="Segoe UI" panose="020B0502040204020203" pitchFamily="34" charset="0"/>
              </a:rPr>
              <a:t> (2023). </a:t>
            </a:r>
            <a:r>
              <a:rPr lang="en-GB" sz="1200" dirty="0"/>
              <a:t>Transformer Encoder Model for Sequential Prediction of Student Performance Based on Their Log Activities</a:t>
            </a:r>
            <a:endParaRPr lang="es-ES" dirty="0"/>
          </a:p>
        </p:txBody>
      </p:sp>
      <p:sp>
        <p:nvSpPr>
          <p:cNvPr id="2" name="Título 1">
            <a:extLst>
              <a:ext uri="{FF2B5EF4-FFF2-40B4-BE49-F238E27FC236}">
                <a16:creationId xmlns:a16="http://schemas.microsoft.com/office/drawing/2014/main" id="{B9EC8565-7918-28ED-83BF-1FF2FB811C22}"/>
              </a:ext>
            </a:extLst>
          </p:cNvPr>
          <p:cNvSpPr txBox="1">
            <a:spLocks/>
          </p:cNvSpPr>
          <p:nvPr/>
        </p:nvSpPr>
        <p:spPr>
          <a:xfrm>
            <a:off x="1018162" y="310468"/>
            <a:ext cx="8648771" cy="1192717"/>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ANÁLISIS EXPLORATORIO DE DATOS II</a:t>
            </a:r>
          </a:p>
        </p:txBody>
      </p:sp>
      <p:cxnSp>
        <p:nvCxnSpPr>
          <p:cNvPr id="4" name="Conector recto 3">
            <a:extLst>
              <a:ext uri="{FF2B5EF4-FFF2-40B4-BE49-F238E27FC236}">
                <a16:creationId xmlns:a16="http://schemas.microsoft.com/office/drawing/2014/main" id="{BD84E079-26FF-DC19-308C-9A2A785774DB}"/>
              </a:ext>
            </a:extLst>
          </p:cNvPr>
          <p:cNvCxnSpPr>
            <a:cxnSpLocks/>
          </p:cNvCxnSpPr>
          <p:nvPr/>
        </p:nvCxnSpPr>
        <p:spPr>
          <a:xfrm>
            <a:off x="960780" y="1503185"/>
            <a:ext cx="1021305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5957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B6AD5-2158-4A8E-C517-068E73D752D6}"/>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B1413F5A-5C02-1165-AED1-2EC2B3E2105E}"/>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AC9C2DB4-3F49-40FF-14EF-8520E9CAB723}"/>
              </a:ext>
            </a:extLst>
          </p:cNvPr>
          <p:cNvSpPr>
            <a:spLocks noGrp="1"/>
          </p:cNvSpPr>
          <p:nvPr>
            <p:ph type="sldNum" sz="quarter" idx="12"/>
          </p:nvPr>
        </p:nvSpPr>
        <p:spPr/>
        <p:txBody>
          <a:bodyPr/>
          <a:lstStyle/>
          <a:p>
            <a:pPr rtl="0"/>
            <a:fld id="{DD84031F-D6BF-4677-B12E-7D8B88BA70F7}" type="slidenum">
              <a:rPr lang="en-US" smtClean="0"/>
              <a:t>9</a:t>
            </a:fld>
            <a:endParaRPr lang="en-US"/>
          </a:p>
        </p:txBody>
      </p:sp>
      <p:pic>
        <p:nvPicPr>
          <p:cNvPr id="2" name="Imagen 1">
            <a:extLst>
              <a:ext uri="{FF2B5EF4-FFF2-40B4-BE49-F238E27FC236}">
                <a16:creationId xmlns:a16="http://schemas.microsoft.com/office/drawing/2014/main" id="{D53E17F3-387F-E5E4-DA1E-87AD6D39412B}"/>
              </a:ext>
            </a:extLst>
          </p:cNvPr>
          <p:cNvPicPr>
            <a:picLocks noChangeAspect="1"/>
          </p:cNvPicPr>
          <p:nvPr/>
        </p:nvPicPr>
        <p:blipFill>
          <a:blip r:embed="rId3"/>
          <a:stretch>
            <a:fillRect/>
          </a:stretch>
        </p:blipFill>
        <p:spPr>
          <a:xfrm>
            <a:off x="9918084" y="99023"/>
            <a:ext cx="1871580" cy="799949"/>
          </a:xfrm>
          <a:prstGeom prst="rect">
            <a:avLst/>
          </a:prstGeom>
        </p:spPr>
      </p:pic>
      <p:pic>
        <p:nvPicPr>
          <p:cNvPr id="5" name="Imagen 4">
            <a:extLst>
              <a:ext uri="{FF2B5EF4-FFF2-40B4-BE49-F238E27FC236}">
                <a16:creationId xmlns:a16="http://schemas.microsoft.com/office/drawing/2014/main" id="{A780F412-1DC3-284A-CE6A-9360AC76259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7767" y="2518986"/>
            <a:ext cx="3144025" cy="3145158"/>
          </a:xfrm>
          <a:prstGeom prst="rect">
            <a:avLst/>
          </a:prstGeom>
          <a:noFill/>
          <a:ln>
            <a:noFill/>
          </a:ln>
        </p:spPr>
      </p:pic>
      <p:pic>
        <p:nvPicPr>
          <p:cNvPr id="4" name="Imagen 3" descr="Gráfico, Gráfico de barras&#10;&#10;El contenido generado por IA puede ser incorrecto.">
            <a:extLst>
              <a:ext uri="{FF2B5EF4-FFF2-40B4-BE49-F238E27FC236}">
                <a16:creationId xmlns:a16="http://schemas.microsoft.com/office/drawing/2014/main" id="{98E1ECD9-49A2-DF13-A09E-58CCFF200487}"/>
              </a:ext>
            </a:extLst>
          </p:cNvPr>
          <p:cNvPicPr>
            <a:picLocks noChangeAspect="1"/>
          </p:cNvPicPr>
          <p:nvPr/>
        </p:nvPicPr>
        <p:blipFill>
          <a:blip r:embed="rId5"/>
          <a:stretch>
            <a:fillRect/>
          </a:stretch>
        </p:blipFill>
        <p:spPr>
          <a:xfrm>
            <a:off x="819188" y="2518986"/>
            <a:ext cx="3827727" cy="3145158"/>
          </a:xfrm>
          <a:prstGeom prst="rect">
            <a:avLst/>
          </a:prstGeom>
        </p:spPr>
      </p:pic>
      <p:pic>
        <p:nvPicPr>
          <p:cNvPr id="6" name="Imagen 5">
            <a:extLst>
              <a:ext uri="{FF2B5EF4-FFF2-40B4-BE49-F238E27FC236}">
                <a16:creationId xmlns:a16="http://schemas.microsoft.com/office/drawing/2014/main" id="{C91CAF9D-FA20-7F92-5B1A-E503C35FE344}"/>
              </a:ext>
            </a:extLst>
          </p:cNvPr>
          <p:cNvPicPr>
            <a:picLocks noChangeAspect="1"/>
          </p:cNvPicPr>
          <p:nvPr/>
        </p:nvPicPr>
        <p:blipFill>
          <a:blip r:embed="rId6" cstate="print">
            <a:extLst>
              <a:ext uri="{28A0092B-C50C-407E-A947-70E740481C1C}">
                <a14:useLocalDpi xmlns:a14="http://schemas.microsoft.com/office/drawing/2010/main" val="0"/>
              </a:ext>
            </a:extLst>
          </a:blip>
          <a:srcRect l="59604" t="10271" r="-441"/>
          <a:stretch>
            <a:fillRect/>
          </a:stretch>
        </p:blipFill>
        <p:spPr bwMode="auto">
          <a:xfrm>
            <a:off x="8232643" y="2518986"/>
            <a:ext cx="3370881" cy="3145158"/>
          </a:xfrm>
          <a:prstGeom prst="rect">
            <a:avLst/>
          </a:prstGeom>
          <a:noFill/>
          <a:ln>
            <a:noFill/>
          </a:ln>
        </p:spPr>
      </p:pic>
      <p:sp>
        <p:nvSpPr>
          <p:cNvPr id="13" name="Título 1">
            <a:extLst>
              <a:ext uri="{FF2B5EF4-FFF2-40B4-BE49-F238E27FC236}">
                <a16:creationId xmlns:a16="http://schemas.microsoft.com/office/drawing/2014/main" id="{C1327FFE-2EED-7EC1-57C5-4494C7F2A4F0}"/>
              </a:ext>
            </a:extLst>
          </p:cNvPr>
          <p:cNvSpPr txBox="1">
            <a:spLocks/>
          </p:cNvSpPr>
          <p:nvPr/>
        </p:nvSpPr>
        <p:spPr>
          <a:xfrm>
            <a:off x="1018162" y="310468"/>
            <a:ext cx="8648771" cy="1192717"/>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ANÁLISIS EXPLORATORIO DE DATOS II</a:t>
            </a:r>
          </a:p>
        </p:txBody>
      </p:sp>
      <p:cxnSp>
        <p:nvCxnSpPr>
          <p:cNvPr id="14" name="Conector recto 13">
            <a:extLst>
              <a:ext uri="{FF2B5EF4-FFF2-40B4-BE49-F238E27FC236}">
                <a16:creationId xmlns:a16="http://schemas.microsoft.com/office/drawing/2014/main" id="{2C98FF7D-FF24-E07B-8BA8-F10D134DE3E1}"/>
              </a:ext>
            </a:extLst>
          </p:cNvPr>
          <p:cNvCxnSpPr>
            <a:cxnSpLocks/>
          </p:cNvCxnSpPr>
          <p:nvPr/>
        </p:nvCxnSpPr>
        <p:spPr>
          <a:xfrm>
            <a:off x="960780" y="1503185"/>
            <a:ext cx="1021305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795733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4E2B9-05B0-0BA9-6649-7D091E4A34C4}"/>
            </a:ext>
          </a:extLst>
        </p:cNvPr>
        <p:cNvGrpSpPr/>
        <p:nvPr/>
      </p:nvGrpSpPr>
      <p:grpSpPr>
        <a:xfrm>
          <a:off x="0" y="0"/>
          <a:ext cx="0" cy="0"/>
          <a:chOff x="0" y="0"/>
          <a:chExt cx="0" cy="0"/>
        </a:xfrm>
      </p:grpSpPr>
      <p:sp>
        <p:nvSpPr>
          <p:cNvPr id="5" name="Marcador de fecha 4">
            <a:extLst>
              <a:ext uri="{FF2B5EF4-FFF2-40B4-BE49-F238E27FC236}">
                <a16:creationId xmlns:a16="http://schemas.microsoft.com/office/drawing/2014/main" id="{40C895B9-DA21-B8BD-F235-AA545DEED90C}"/>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0115C7F6-790E-8AD5-B552-B0A98C8A2FFC}"/>
              </a:ext>
            </a:extLst>
          </p:cNvPr>
          <p:cNvSpPr>
            <a:spLocks noGrp="1"/>
          </p:cNvSpPr>
          <p:nvPr>
            <p:ph type="sldNum" sz="quarter" idx="12"/>
          </p:nvPr>
        </p:nvSpPr>
        <p:spPr/>
        <p:txBody>
          <a:bodyPr/>
          <a:lstStyle/>
          <a:p>
            <a:pPr rtl="0"/>
            <a:fld id="{DD84031F-D6BF-4677-B12E-7D8B88BA70F7}" type="slidenum">
              <a:rPr lang="en-US" smtClean="0"/>
              <a:t>10</a:t>
            </a:fld>
            <a:endParaRPr lang="en-US"/>
          </a:p>
        </p:txBody>
      </p:sp>
      <p:pic>
        <p:nvPicPr>
          <p:cNvPr id="9" name="Imagen 8">
            <a:extLst>
              <a:ext uri="{FF2B5EF4-FFF2-40B4-BE49-F238E27FC236}">
                <a16:creationId xmlns:a16="http://schemas.microsoft.com/office/drawing/2014/main" id="{17AB2B37-D862-146B-C343-89DF1FE1C037}"/>
              </a:ext>
            </a:extLst>
          </p:cNvPr>
          <p:cNvPicPr>
            <a:picLocks noChangeAspect="1"/>
          </p:cNvPicPr>
          <p:nvPr/>
        </p:nvPicPr>
        <p:blipFill>
          <a:blip r:embed="rId2"/>
          <a:stretch>
            <a:fillRect/>
          </a:stretch>
        </p:blipFill>
        <p:spPr>
          <a:xfrm>
            <a:off x="9918084" y="99023"/>
            <a:ext cx="1871580" cy="799949"/>
          </a:xfrm>
          <a:prstGeom prst="rect">
            <a:avLst/>
          </a:prstGeom>
        </p:spPr>
      </p:pic>
      <p:pic>
        <p:nvPicPr>
          <p:cNvPr id="12" name="Gráfico 11" descr="Inventario de búsqueda con relleno sólido">
            <a:extLst>
              <a:ext uri="{FF2B5EF4-FFF2-40B4-BE49-F238E27FC236}">
                <a16:creationId xmlns:a16="http://schemas.microsoft.com/office/drawing/2014/main" id="{CD5191A0-7DDD-E001-0886-FEE9FF9E11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8397" y="2416530"/>
            <a:ext cx="1103086" cy="1103086"/>
          </a:xfrm>
          <a:prstGeom prst="rect">
            <a:avLst/>
          </a:prstGeom>
        </p:spPr>
      </p:pic>
      <p:sp>
        <p:nvSpPr>
          <p:cNvPr id="13" name="CuadroTexto 12">
            <a:extLst>
              <a:ext uri="{FF2B5EF4-FFF2-40B4-BE49-F238E27FC236}">
                <a16:creationId xmlns:a16="http://schemas.microsoft.com/office/drawing/2014/main" id="{3BBCF966-23EE-71F5-A7BB-A73B79258927}"/>
              </a:ext>
            </a:extLst>
          </p:cNvPr>
          <p:cNvSpPr txBox="1"/>
          <p:nvPr/>
        </p:nvSpPr>
        <p:spPr>
          <a:xfrm>
            <a:off x="359808" y="3548085"/>
            <a:ext cx="2557220" cy="707886"/>
          </a:xfrm>
          <a:prstGeom prst="rect">
            <a:avLst/>
          </a:prstGeom>
          <a:noFill/>
        </p:spPr>
        <p:txBody>
          <a:bodyPr wrap="square" rtlCol="0">
            <a:spAutoFit/>
          </a:bodyPr>
          <a:lstStyle/>
          <a:p>
            <a:pPr algn="ctr"/>
            <a:r>
              <a:rPr lang="es-ES" sz="2000" dirty="0">
                <a:latin typeface="CMU Serif" panose="02000603000000000000" pitchFamily="2" charset="0"/>
                <a:ea typeface="CMU Serif" panose="02000603000000000000" pitchFamily="2" charset="0"/>
                <a:cs typeface="CMU Serif" panose="02000603000000000000" pitchFamily="2" charset="0"/>
              </a:rPr>
              <a:t>Comprensión del negocio</a:t>
            </a:r>
          </a:p>
        </p:txBody>
      </p:sp>
      <p:pic>
        <p:nvPicPr>
          <p:cNvPr id="14" name="Gráfico 13" descr="Gráfico de barras con relleno sólido">
            <a:extLst>
              <a:ext uri="{FF2B5EF4-FFF2-40B4-BE49-F238E27FC236}">
                <a16:creationId xmlns:a16="http://schemas.microsoft.com/office/drawing/2014/main" id="{780C17B0-92C2-0F6C-7B8F-8308832590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0373" y="2420680"/>
            <a:ext cx="1071968" cy="1071968"/>
          </a:xfrm>
          <a:prstGeom prst="rect">
            <a:avLst/>
          </a:prstGeom>
        </p:spPr>
      </p:pic>
      <p:sp>
        <p:nvSpPr>
          <p:cNvPr id="15" name="CuadroTexto 14">
            <a:extLst>
              <a:ext uri="{FF2B5EF4-FFF2-40B4-BE49-F238E27FC236}">
                <a16:creationId xmlns:a16="http://schemas.microsoft.com/office/drawing/2014/main" id="{556E0BBA-72A8-0077-72B8-254543086147}"/>
              </a:ext>
            </a:extLst>
          </p:cNvPr>
          <p:cNvSpPr txBox="1"/>
          <p:nvPr/>
        </p:nvSpPr>
        <p:spPr>
          <a:xfrm>
            <a:off x="2917028" y="3519616"/>
            <a:ext cx="1656917" cy="646331"/>
          </a:xfrm>
          <a:prstGeom prst="rect">
            <a:avLst/>
          </a:prstGeom>
          <a:solidFill>
            <a:schemeClr val="bg1"/>
          </a:solid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Entender datos</a:t>
            </a:r>
          </a:p>
        </p:txBody>
      </p:sp>
      <p:pic>
        <p:nvPicPr>
          <p:cNvPr id="16" name="Gráfico 15" descr="Herramientas de minería con relleno sólido">
            <a:extLst>
              <a:ext uri="{FF2B5EF4-FFF2-40B4-BE49-F238E27FC236}">
                <a16:creationId xmlns:a16="http://schemas.microsoft.com/office/drawing/2014/main" id="{8D9CF1A7-4B41-65E3-CE81-947D93399D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45970" y="2485644"/>
            <a:ext cx="914400" cy="914400"/>
          </a:xfrm>
          <a:prstGeom prst="rect">
            <a:avLst/>
          </a:prstGeom>
        </p:spPr>
      </p:pic>
      <p:sp>
        <p:nvSpPr>
          <p:cNvPr id="17" name="CuadroTexto 16">
            <a:extLst>
              <a:ext uri="{FF2B5EF4-FFF2-40B4-BE49-F238E27FC236}">
                <a16:creationId xmlns:a16="http://schemas.microsoft.com/office/drawing/2014/main" id="{1DC649A5-8540-08AA-A103-89FFCB84176B}"/>
              </a:ext>
            </a:extLst>
          </p:cNvPr>
          <p:cNvSpPr txBox="1"/>
          <p:nvPr/>
        </p:nvSpPr>
        <p:spPr>
          <a:xfrm>
            <a:off x="4941300" y="3492648"/>
            <a:ext cx="1656917" cy="646331"/>
          </a:xfrm>
          <a:prstGeom prst="rect">
            <a:avLst/>
          </a:prstGeom>
          <a:noFill/>
        </p:spPr>
        <p:txBody>
          <a:bodyPr wrap="square" rtlCol="0">
            <a:spAutoFit/>
          </a:bodyPr>
          <a:lstStyle/>
          <a:p>
            <a:pPr algn="ctr"/>
            <a:r>
              <a:rPr lang="es-ES" b="1" dirty="0">
                <a:solidFill>
                  <a:srgbClr val="FF6600"/>
                </a:solidFill>
                <a:latin typeface="CMU Serif" panose="02000603000000000000" pitchFamily="2" charset="0"/>
                <a:ea typeface="CMU Serif" panose="02000603000000000000" pitchFamily="2" charset="0"/>
                <a:cs typeface="CMU Serif" panose="02000603000000000000" pitchFamily="2" charset="0"/>
              </a:rPr>
              <a:t>Preparación de datos</a:t>
            </a:r>
          </a:p>
        </p:txBody>
      </p:sp>
      <p:pic>
        <p:nvPicPr>
          <p:cNvPr id="18" name="Gráfico 17" descr="Portapapeles parcialmente comprobado con relleno sólido">
            <a:extLst>
              <a:ext uri="{FF2B5EF4-FFF2-40B4-BE49-F238E27FC236}">
                <a16:creationId xmlns:a16="http://schemas.microsoft.com/office/drawing/2014/main" id="{940D2AF3-EA26-FE5A-2BB5-51F65F3150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58230" y="2441942"/>
            <a:ext cx="914400" cy="914400"/>
          </a:xfrm>
          <a:prstGeom prst="rect">
            <a:avLst/>
          </a:prstGeom>
        </p:spPr>
      </p:pic>
      <p:sp>
        <p:nvSpPr>
          <p:cNvPr id="19" name="CuadroTexto 18">
            <a:extLst>
              <a:ext uri="{FF2B5EF4-FFF2-40B4-BE49-F238E27FC236}">
                <a16:creationId xmlns:a16="http://schemas.microsoft.com/office/drawing/2014/main" id="{31E76357-1550-D243-AD1D-6F8890413755}"/>
              </a:ext>
            </a:extLst>
          </p:cNvPr>
          <p:cNvSpPr txBox="1"/>
          <p:nvPr/>
        </p:nvSpPr>
        <p:spPr>
          <a:xfrm>
            <a:off x="7145072" y="3424586"/>
            <a:ext cx="1656917" cy="369332"/>
          </a:xfrm>
          <a:prstGeom prst="rect">
            <a:avLst/>
          </a:prstGeom>
          <a:no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Modelado</a:t>
            </a:r>
          </a:p>
        </p:txBody>
      </p:sp>
      <p:sp>
        <p:nvSpPr>
          <p:cNvPr id="20" name="CuadroTexto 19">
            <a:extLst>
              <a:ext uri="{FF2B5EF4-FFF2-40B4-BE49-F238E27FC236}">
                <a16:creationId xmlns:a16="http://schemas.microsoft.com/office/drawing/2014/main" id="{788E5727-F944-905B-C01B-A5041E865867}"/>
              </a:ext>
            </a:extLst>
          </p:cNvPr>
          <p:cNvSpPr txBox="1"/>
          <p:nvPr/>
        </p:nvSpPr>
        <p:spPr>
          <a:xfrm>
            <a:off x="9252842" y="3436416"/>
            <a:ext cx="1656917" cy="646331"/>
          </a:xfrm>
          <a:prstGeom prst="rect">
            <a:avLst/>
          </a:prstGeom>
          <a:no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Evaluación y XAI</a:t>
            </a:r>
          </a:p>
        </p:txBody>
      </p:sp>
      <p:pic>
        <p:nvPicPr>
          <p:cNvPr id="21" name="Gráfico 20" descr="Robot con relleno sólido">
            <a:extLst>
              <a:ext uri="{FF2B5EF4-FFF2-40B4-BE49-F238E27FC236}">
                <a16:creationId xmlns:a16="http://schemas.microsoft.com/office/drawing/2014/main" id="{0ED7C1EC-9A82-F298-5EA6-55595A7550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16331" y="2485644"/>
            <a:ext cx="914400" cy="914400"/>
          </a:xfrm>
          <a:prstGeom prst="rect">
            <a:avLst/>
          </a:prstGeom>
        </p:spPr>
      </p:pic>
    </p:spTree>
    <p:extLst>
      <p:ext uri="{BB962C8B-B14F-4D97-AF65-F5344CB8AC3E}">
        <p14:creationId xmlns:p14="http://schemas.microsoft.com/office/powerpoint/2010/main" val="309098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6A54A-2D93-400B-7B77-F525916CF29B}"/>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D8DF61A4-588D-D161-2DB8-56CFB10D714E}"/>
              </a:ext>
            </a:extLst>
          </p:cNvPr>
          <p:cNvSpPr>
            <a:spLocks noGrp="1"/>
          </p:cNvSpPr>
          <p:nvPr>
            <p:ph type="dt" sz="half" idx="10"/>
          </p:nvPr>
        </p:nvSpPr>
        <p:spPr/>
        <p:txBody>
          <a:bodyPr/>
          <a:lstStyle/>
          <a:p>
            <a:pPr rtl="0"/>
            <a:r>
              <a:rPr lang="es-ES" dirty="0"/>
              <a:t>4/8/2025</a:t>
            </a:r>
            <a:endParaRPr lang="en-US" dirty="0"/>
          </a:p>
        </p:txBody>
      </p:sp>
      <p:sp>
        <p:nvSpPr>
          <p:cNvPr id="7" name="Marcador de número de diapositiva 6">
            <a:extLst>
              <a:ext uri="{FF2B5EF4-FFF2-40B4-BE49-F238E27FC236}">
                <a16:creationId xmlns:a16="http://schemas.microsoft.com/office/drawing/2014/main" id="{4A27E0D0-2519-E8F4-4F83-8CBF243A4BF9}"/>
              </a:ext>
            </a:extLst>
          </p:cNvPr>
          <p:cNvSpPr>
            <a:spLocks noGrp="1"/>
          </p:cNvSpPr>
          <p:nvPr>
            <p:ph type="sldNum" sz="quarter" idx="12"/>
          </p:nvPr>
        </p:nvSpPr>
        <p:spPr/>
        <p:txBody>
          <a:bodyPr/>
          <a:lstStyle/>
          <a:p>
            <a:pPr rtl="0"/>
            <a:fld id="{DD84031F-D6BF-4677-B12E-7D8B88BA70F7}" type="slidenum">
              <a:rPr lang="en-US" smtClean="0"/>
              <a:t>11</a:t>
            </a:fld>
            <a:endParaRPr lang="en-US"/>
          </a:p>
        </p:txBody>
      </p:sp>
      <p:pic>
        <p:nvPicPr>
          <p:cNvPr id="32" name="Imagen 31">
            <a:extLst>
              <a:ext uri="{FF2B5EF4-FFF2-40B4-BE49-F238E27FC236}">
                <a16:creationId xmlns:a16="http://schemas.microsoft.com/office/drawing/2014/main" id="{1014DD5D-2751-8273-C328-14F4147DA20D}"/>
              </a:ext>
            </a:extLst>
          </p:cNvPr>
          <p:cNvPicPr>
            <a:picLocks noChangeAspect="1"/>
          </p:cNvPicPr>
          <p:nvPr/>
        </p:nvPicPr>
        <p:blipFill>
          <a:blip r:embed="rId3"/>
          <a:stretch>
            <a:fillRect/>
          </a:stretch>
        </p:blipFill>
        <p:spPr>
          <a:xfrm>
            <a:off x="9918084" y="99023"/>
            <a:ext cx="1871580" cy="799949"/>
          </a:xfrm>
          <a:prstGeom prst="rect">
            <a:avLst/>
          </a:prstGeom>
        </p:spPr>
      </p:pic>
      <p:sp>
        <p:nvSpPr>
          <p:cNvPr id="2" name="Título 1">
            <a:extLst>
              <a:ext uri="{FF2B5EF4-FFF2-40B4-BE49-F238E27FC236}">
                <a16:creationId xmlns:a16="http://schemas.microsoft.com/office/drawing/2014/main" id="{5B94FA7C-60BB-2A7C-0073-282E4C5ABE19}"/>
              </a:ext>
            </a:extLst>
          </p:cNvPr>
          <p:cNvSpPr txBox="1">
            <a:spLocks/>
          </p:cNvSpPr>
          <p:nvPr/>
        </p:nvSpPr>
        <p:spPr>
          <a:xfrm>
            <a:off x="1018162" y="310468"/>
            <a:ext cx="8648771" cy="1192717"/>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INGENIERÍA DE CARACTERÍSTICAS I</a:t>
            </a:r>
          </a:p>
        </p:txBody>
      </p:sp>
      <p:cxnSp>
        <p:nvCxnSpPr>
          <p:cNvPr id="4" name="Conector recto 3">
            <a:extLst>
              <a:ext uri="{FF2B5EF4-FFF2-40B4-BE49-F238E27FC236}">
                <a16:creationId xmlns:a16="http://schemas.microsoft.com/office/drawing/2014/main" id="{121C2608-71E3-F563-9E1A-9F5C3477284B}"/>
              </a:ext>
            </a:extLst>
          </p:cNvPr>
          <p:cNvCxnSpPr>
            <a:cxnSpLocks/>
          </p:cNvCxnSpPr>
          <p:nvPr/>
        </p:nvCxnSpPr>
        <p:spPr>
          <a:xfrm>
            <a:off x="960780" y="1503185"/>
            <a:ext cx="10213058"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9" name="Tabla 8">
            <a:extLst>
              <a:ext uri="{FF2B5EF4-FFF2-40B4-BE49-F238E27FC236}">
                <a16:creationId xmlns:a16="http://schemas.microsoft.com/office/drawing/2014/main" id="{7F2A7F47-9034-E74D-BB33-975D29B3A7C4}"/>
              </a:ext>
            </a:extLst>
          </p:cNvPr>
          <p:cNvGraphicFramePr>
            <a:graphicFrameLocks noGrp="1"/>
          </p:cNvGraphicFramePr>
          <p:nvPr>
            <p:extLst>
              <p:ext uri="{D42A27DB-BD31-4B8C-83A1-F6EECF244321}">
                <p14:modId xmlns:p14="http://schemas.microsoft.com/office/powerpoint/2010/main" val="3517825005"/>
              </p:ext>
            </p:extLst>
          </p:nvPr>
        </p:nvGraphicFramePr>
        <p:xfrm>
          <a:off x="1018163" y="2186763"/>
          <a:ext cx="10324587" cy="4239327"/>
        </p:xfrm>
        <a:graphic>
          <a:graphicData uri="http://schemas.openxmlformats.org/drawingml/2006/table">
            <a:tbl>
              <a:tblPr/>
              <a:tblGrid>
                <a:gridCol w="3441529">
                  <a:extLst>
                    <a:ext uri="{9D8B030D-6E8A-4147-A177-3AD203B41FA5}">
                      <a16:colId xmlns:a16="http://schemas.microsoft.com/office/drawing/2014/main" val="4006634752"/>
                    </a:ext>
                  </a:extLst>
                </a:gridCol>
                <a:gridCol w="3441529">
                  <a:extLst>
                    <a:ext uri="{9D8B030D-6E8A-4147-A177-3AD203B41FA5}">
                      <a16:colId xmlns:a16="http://schemas.microsoft.com/office/drawing/2014/main" val="4159061759"/>
                    </a:ext>
                  </a:extLst>
                </a:gridCol>
                <a:gridCol w="3441529">
                  <a:extLst>
                    <a:ext uri="{9D8B030D-6E8A-4147-A177-3AD203B41FA5}">
                      <a16:colId xmlns:a16="http://schemas.microsoft.com/office/drawing/2014/main" val="1699541268"/>
                    </a:ext>
                  </a:extLst>
                </a:gridCol>
              </a:tblGrid>
              <a:tr h="330698">
                <a:tc>
                  <a:txBody>
                    <a:bodyPr/>
                    <a:lstStyle/>
                    <a:p>
                      <a:pPr algn="l">
                        <a:buNone/>
                      </a:pPr>
                      <a:r>
                        <a:rPr lang="es-ES" sz="1600" dirty="0">
                          <a:solidFill>
                            <a:schemeClr val="bg1"/>
                          </a:solidFill>
                          <a:effectLst/>
                        </a:rPr>
                        <a:t>Bloque</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F6600"/>
                    </a:solidFill>
                  </a:tcPr>
                </a:tc>
                <a:tc>
                  <a:txBody>
                    <a:bodyPr/>
                    <a:lstStyle/>
                    <a:p>
                      <a:pPr algn="l">
                        <a:buNone/>
                      </a:pPr>
                      <a:r>
                        <a:rPr lang="es-ES" sz="1600" dirty="0">
                          <a:solidFill>
                            <a:schemeClr val="bg1"/>
                          </a:solidFill>
                          <a:effectLst/>
                        </a:rPr>
                        <a:t>Variables</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F6600"/>
                    </a:solidFill>
                  </a:tcPr>
                </a:tc>
                <a:tc>
                  <a:txBody>
                    <a:bodyPr/>
                    <a:lstStyle/>
                    <a:p>
                      <a:pPr algn="l">
                        <a:buNone/>
                      </a:pPr>
                      <a:r>
                        <a:rPr lang="es-ES" sz="1600" dirty="0">
                          <a:solidFill>
                            <a:schemeClr val="bg1"/>
                          </a:solidFill>
                          <a:effectLst/>
                        </a:rPr>
                        <a:t>Finalidad</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F6600"/>
                    </a:solidFill>
                  </a:tcPr>
                </a:tc>
                <a:extLst>
                  <a:ext uri="{0D108BD9-81ED-4DB2-BD59-A6C34878D82A}">
                    <a16:rowId xmlns:a16="http://schemas.microsoft.com/office/drawing/2014/main" val="406733698"/>
                  </a:ext>
                </a:extLst>
              </a:tr>
              <a:tr h="831840">
                <a:tc>
                  <a:txBody>
                    <a:bodyPr/>
                    <a:lstStyle/>
                    <a:p>
                      <a:pPr algn="l">
                        <a:buNone/>
                      </a:pPr>
                      <a:r>
                        <a:rPr lang="es-ES" sz="1600" dirty="0">
                          <a:effectLst/>
                        </a:rPr>
                        <a:t>Datos sociodemográficos</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sz="1600">
                          <a:effectLst/>
                          <a:latin typeface="Courier New" panose="02070309020205020404" pitchFamily="49" charset="0"/>
                        </a:rPr>
                        <a:t>imd_band</a:t>
                      </a:r>
                      <a:r>
                        <a:rPr lang="en-US" sz="1600">
                          <a:effectLst/>
                        </a:rPr>
                        <a:t>, </a:t>
                      </a:r>
                      <a:r>
                        <a:rPr lang="en-US" sz="1600">
                          <a:effectLst/>
                          <a:latin typeface="Courier New" panose="02070309020205020404" pitchFamily="49" charset="0"/>
                        </a:rPr>
                        <a:t>age_band</a:t>
                      </a:r>
                      <a:r>
                        <a:rPr lang="en-US" sz="1600">
                          <a:effectLst/>
                        </a:rPr>
                        <a:t>, </a:t>
                      </a:r>
                      <a:r>
                        <a:rPr lang="en-US" sz="1600">
                          <a:effectLst/>
                          <a:latin typeface="Courier New" panose="02070309020205020404" pitchFamily="49" charset="0"/>
                        </a:rPr>
                        <a:t>highest_education</a:t>
                      </a:r>
                      <a:r>
                        <a:rPr lang="en-US" sz="1600">
                          <a:effectLst/>
                        </a:rPr>
                        <a:t>, </a:t>
                      </a:r>
                      <a:r>
                        <a:rPr lang="en-US" sz="1600">
                          <a:effectLst/>
                          <a:latin typeface="Courier New" panose="02070309020205020404" pitchFamily="49" charset="0"/>
                        </a:rPr>
                        <a:t>region_encoded</a:t>
                      </a:r>
                      <a:endParaRPr lang="en-US" sz="1600">
                        <a:effectLst/>
                      </a:endParaRP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sz="1600">
                          <a:effectLst/>
                        </a:rPr>
                        <a:t>Caracterizar el contexto personal del estudiante.</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940653118"/>
                  </a:ext>
                </a:extLst>
              </a:tr>
              <a:tr h="581269">
                <a:tc>
                  <a:txBody>
                    <a:bodyPr/>
                    <a:lstStyle/>
                    <a:p>
                      <a:pPr algn="l">
                        <a:buNone/>
                      </a:pPr>
                      <a:r>
                        <a:rPr lang="es-ES" sz="1600" dirty="0">
                          <a:effectLst/>
                        </a:rPr>
                        <a:t>Historial académico</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sz="1600" dirty="0" err="1">
                          <a:effectLst/>
                          <a:latin typeface="Courier New" panose="02070309020205020404" pitchFamily="49" charset="0"/>
                        </a:rPr>
                        <a:t>num_of_prev_attempts</a:t>
                      </a:r>
                      <a:r>
                        <a:rPr lang="en-US" sz="1600" dirty="0">
                          <a:effectLst/>
                        </a:rPr>
                        <a:t>, </a:t>
                      </a:r>
                      <a:r>
                        <a:rPr lang="en-US" sz="1600" dirty="0" err="1">
                          <a:effectLst/>
                          <a:latin typeface="Courier New" panose="02070309020205020404" pitchFamily="49" charset="0"/>
                        </a:rPr>
                        <a:t>studied_credits</a:t>
                      </a:r>
                      <a:endParaRPr lang="en-US" sz="1600" dirty="0">
                        <a:effectLst/>
                      </a:endParaRP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sz="1600">
                          <a:effectLst/>
                        </a:rPr>
                        <a:t>Incorporar antecedentes académicos relevantes.</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228936958"/>
                  </a:ext>
                </a:extLst>
              </a:tr>
              <a:tr h="581269">
                <a:tc>
                  <a:txBody>
                    <a:bodyPr/>
                    <a:lstStyle/>
                    <a:p>
                      <a:pPr algn="l">
                        <a:buNone/>
                      </a:pPr>
                      <a:r>
                        <a:rPr lang="es-ES" sz="1600" dirty="0">
                          <a:effectLst/>
                        </a:rPr>
                        <a:t>Información temporal inicial</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sz="1600">
                          <a:effectLst/>
                          <a:latin typeface="Courier New" panose="02070309020205020404" pitchFamily="49" charset="0"/>
                        </a:rPr>
                        <a:t>date_registration</a:t>
                      </a:r>
                      <a:endParaRPr lang="es-ES" sz="1600">
                        <a:effectLst/>
                      </a:endParaRP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sz="1600">
                          <a:effectLst/>
                        </a:rPr>
                        <a:t>Capturar el momento de incorporación al curso.</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56064995"/>
                  </a:ext>
                </a:extLst>
              </a:tr>
              <a:tr h="1082411">
                <a:tc>
                  <a:txBody>
                    <a:bodyPr/>
                    <a:lstStyle/>
                    <a:p>
                      <a:pPr algn="l">
                        <a:buNone/>
                      </a:pPr>
                      <a:r>
                        <a:rPr lang="es-ES" sz="1600">
                          <a:effectLst/>
                        </a:rPr>
                        <a:t>Actividad previa al inicio</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sz="1600">
                          <a:effectLst/>
                          <a:latin typeface="Courier New" panose="02070309020205020404" pitchFamily="49" charset="0"/>
                        </a:rPr>
                        <a:t>prestart_clicks_total</a:t>
                      </a:r>
                      <a:r>
                        <a:rPr lang="en-US" sz="1600">
                          <a:effectLst/>
                        </a:rPr>
                        <a:t>, </a:t>
                      </a:r>
                      <a:r>
                        <a:rPr lang="en-US" sz="1600">
                          <a:effectLst/>
                          <a:latin typeface="Courier New" panose="02070309020205020404" pitchFamily="49" charset="0"/>
                        </a:rPr>
                        <a:t>prestart_active_days</a:t>
                      </a:r>
                      <a:r>
                        <a:rPr lang="en-US" sz="1600">
                          <a:effectLst/>
                        </a:rPr>
                        <a:t>, </a:t>
                      </a:r>
                      <a:r>
                        <a:rPr lang="en-US" sz="1600">
                          <a:effectLst/>
                          <a:latin typeface="Courier New" panose="02070309020205020404" pitchFamily="49" charset="0"/>
                        </a:rPr>
                        <a:t>prestart_active_weeks</a:t>
                      </a:r>
                      <a:r>
                        <a:rPr lang="en-US" sz="1600">
                          <a:effectLst/>
                        </a:rPr>
                        <a:t>, </a:t>
                      </a:r>
                      <a:r>
                        <a:rPr lang="en-US" sz="1600">
                          <a:effectLst/>
                          <a:latin typeface="Courier New" panose="02070309020205020404" pitchFamily="49" charset="0"/>
                        </a:rPr>
                        <a:t>prestart_earliest_day</a:t>
                      </a:r>
                      <a:endParaRPr lang="en-US" sz="1600">
                        <a:effectLst/>
                      </a:endParaRP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sz="1600">
                          <a:effectLst/>
                        </a:rPr>
                        <a:t>Medir interacción temprana con la plataforma.</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534385777"/>
                  </a:ext>
                </a:extLst>
              </a:tr>
              <a:tr h="831840">
                <a:tc>
                  <a:txBody>
                    <a:bodyPr/>
                    <a:lstStyle/>
                    <a:p>
                      <a:pPr algn="l">
                        <a:buNone/>
                      </a:pPr>
                      <a:r>
                        <a:rPr lang="es-ES" sz="1600">
                          <a:effectLst/>
                        </a:rPr>
                        <a:t>Rasgos conductuales previos</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sz="1600">
                          <a:effectLst/>
                          <a:latin typeface="Courier New" panose="02070309020205020404" pitchFamily="49" charset="0"/>
                        </a:rPr>
                        <a:t>investigated_platform</a:t>
                      </a:r>
                      <a:r>
                        <a:rPr lang="en-US" sz="1600">
                          <a:effectLst/>
                        </a:rPr>
                        <a:t>, </a:t>
                      </a:r>
                      <a:r>
                        <a:rPr lang="en-US" sz="1600">
                          <a:effectLst/>
                          <a:latin typeface="Courier New" panose="02070309020205020404" pitchFamily="49" charset="0"/>
                        </a:rPr>
                        <a:t>prestart_intensity</a:t>
                      </a:r>
                      <a:r>
                        <a:rPr lang="en-US" sz="1600">
                          <a:effectLst/>
                        </a:rPr>
                        <a:t>, </a:t>
                      </a:r>
                      <a:r>
                        <a:rPr lang="en-US" sz="1600">
                          <a:effectLst/>
                          <a:latin typeface="Courier New" panose="02070309020205020404" pitchFamily="49" charset="0"/>
                        </a:rPr>
                        <a:t>prestart_anticipation</a:t>
                      </a:r>
                      <a:endParaRPr lang="en-US" sz="1600">
                        <a:effectLst/>
                      </a:endParaRP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sz="1600" dirty="0">
                          <a:effectLst/>
                        </a:rPr>
                        <a:t>Resumir exploración, intensidad y anticipación de uso.</a:t>
                      </a:r>
                    </a:p>
                  </a:txBody>
                  <a:tcPr marL="41424" marR="41424" marT="41424" marB="41424"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63748153"/>
                  </a:ext>
                </a:extLst>
              </a:tr>
            </a:tbl>
          </a:graphicData>
        </a:graphic>
      </p:graphicFrame>
      <p:sp>
        <p:nvSpPr>
          <p:cNvPr id="10" name="CuadroTexto 9">
            <a:extLst>
              <a:ext uri="{FF2B5EF4-FFF2-40B4-BE49-F238E27FC236}">
                <a16:creationId xmlns:a16="http://schemas.microsoft.com/office/drawing/2014/main" id="{94ADDDC1-B1AA-4D20-6455-272221469264}"/>
              </a:ext>
            </a:extLst>
          </p:cNvPr>
          <p:cNvSpPr txBox="1"/>
          <p:nvPr/>
        </p:nvSpPr>
        <p:spPr>
          <a:xfrm>
            <a:off x="1018161" y="1660307"/>
            <a:ext cx="10659633" cy="369332"/>
          </a:xfrm>
          <a:prstGeom prst="rect">
            <a:avLst/>
          </a:prstGeom>
          <a:solidFill>
            <a:schemeClr val="bg1"/>
          </a:solidFill>
        </p:spPr>
        <p:txBody>
          <a:bodyPr wrap="square" rtlCol="0">
            <a:spAutoFit/>
          </a:bodyPr>
          <a:lstStyle/>
          <a:p>
            <a:r>
              <a:rPr lang="es-ES" dirty="0"/>
              <a:t>Se usan tanto para </a:t>
            </a:r>
            <a:r>
              <a:rPr lang="es-ES" dirty="0" err="1"/>
              <a:t>clustering</a:t>
            </a:r>
            <a:r>
              <a:rPr lang="es-ES" dirty="0"/>
              <a:t> como para clasificación</a:t>
            </a:r>
          </a:p>
        </p:txBody>
      </p:sp>
    </p:spTree>
    <p:extLst>
      <p:ext uri="{BB962C8B-B14F-4D97-AF65-F5344CB8AC3E}">
        <p14:creationId xmlns:p14="http://schemas.microsoft.com/office/powerpoint/2010/main" val="320562972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F4126-E1C9-F6ED-FB0F-8B7E8038974C}"/>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3C0747C2-FAB9-7FDC-ADC7-A9F8D696B445}"/>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BB517A1A-D387-B68B-9762-7B34119B3496}"/>
              </a:ext>
            </a:extLst>
          </p:cNvPr>
          <p:cNvSpPr>
            <a:spLocks noGrp="1"/>
          </p:cNvSpPr>
          <p:nvPr>
            <p:ph type="sldNum" sz="quarter" idx="12"/>
          </p:nvPr>
        </p:nvSpPr>
        <p:spPr/>
        <p:txBody>
          <a:bodyPr/>
          <a:lstStyle/>
          <a:p>
            <a:pPr rtl="0"/>
            <a:fld id="{DD84031F-D6BF-4677-B12E-7D8B88BA70F7}" type="slidenum">
              <a:rPr lang="en-US" smtClean="0"/>
              <a:t>12</a:t>
            </a:fld>
            <a:endParaRPr lang="en-US"/>
          </a:p>
        </p:txBody>
      </p:sp>
      <p:pic>
        <p:nvPicPr>
          <p:cNvPr id="32" name="Imagen 31">
            <a:extLst>
              <a:ext uri="{FF2B5EF4-FFF2-40B4-BE49-F238E27FC236}">
                <a16:creationId xmlns:a16="http://schemas.microsoft.com/office/drawing/2014/main" id="{C96711D9-4975-C2D1-E560-0BD9238A9EB5}"/>
              </a:ext>
            </a:extLst>
          </p:cNvPr>
          <p:cNvPicPr>
            <a:picLocks noChangeAspect="1"/>
          </p:cNvPicPr>
          <p:nvPr/>
        </p:nvPicPr>
        <p:blipFill>
          <a:blip r:embed="rId3"/>
          <a:stretch>
            <a:fillRect/>
          </a:stretch>
        </p:blipFill>
        <p:spPr>
          <a:xfrm>
            <a:off x="9918084" y="99023"/>
            <a:ext cx="1871580" cy="799949"/>
          </a:xfrm>
          <a:prstGeom prst="rect">
            <a:avLst/>
          </a:prstGeom>
        </p:spPr>
      </p:pic>
      <p:sp>
        <p:nvSpPr>
          <p:cNvPr id="8" name="Título 1">
            <a:extLst>
              <a:ext uri="{FF2B5EF4-FFF2-40B4-BE49-F238E27FC236}">
                <a16:creationId xmlns:a16="http://schemas.microsoft.com/office/drawing/2014/main" id="{A09C558E-9A8C-2FE0-2CFF-4ED048C48D2D}"/>
              </a:ext>
            </a:extLst>
          </p:cNvPr>
          <p:cNvSpPr txBox="1">
            <a:spLocks/>
          </p:cNvSpPr>
          <p:nvPr/>
        </p:nvSpPr>
        <p:spPr>
          <a:xfrm>
            <a:off x="1018162" y="310468"/>
            <a:ext cx="8648771" cy="1192717"/>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INGENIERÍA DE CARACTERÍSTICAS II</a:t>
            </a:r>
          </a:p>
        </p:txBody>
      </p:sp>
      <p:cxnSp>
        <p:nvCxnSpPr>
          <p:cNvPr id="10" name="Conector recto 9">
            <a:extLst>
              <a:ext uri="{FF2B5EF4-FFF2-40B4-BE49-F238E27FC236}">
                <a16:creationId xmlns:a16="http://schemas.microsoft.com/office/drawing/2014/main" id="{467FE3E9-EFB1-BBE5-5885-BE1ABD843136}"/>
              </a:ext>
            </a:extLst>
          </p:cNvPr>
          <p:cNvCxnSpPr>
            <a:cxnSpLocks/>
          </p:cNvCxnSpPr>
          <p:nvPr/>
        </p:nvCxnSpPr>
        <p:spPr>
          <a:xfrm>
            <a:off x="960780" y="1503185"/>
            <a:ext cx="10213058"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12" name="Tabla 11">
            <a:extLst>
              <a:ext uri="{FF2B5EF4-FFF2-40B4-BE49-F238E27FC236}">
                <a16:creationId xmlns:a16="http://schemas.microsoft.com/office/drawing/2014/main" id="{B28F52BE-608B-B5C5-CDA0-0DEB0AF3FB1F}"/>
              </a:ext>
            </a:extLst>
          </p:cNvPr>
          <p:cNvGraphicFramePr>
            <a:graphicFrameLocks noGrp="1"/>
          </p:cNvGraphicFramePr>
          <p:nvPr>
            <p:extLst>
              <p:ext uri="{D42A27DB-BD31-4B8C-83A1-F6EECF244321}">
                <p14:modId xmlns:p14="http://schemas.microsoft.com/office/powerpoint/2010/main" val="107718927"/>
              </p:ext>
            </p:extLst>
          </p:nvPr>
        </p:nvGraphicFramePr>
        <p:xfrm>
          <a:off x="1018162" y="2245842"/>
          <a:ext cx="10499091" cy="3814356"/>
        </p:xfrm>
        <a:graphic>
          <a:graphicData uri="http://schemas.openxmlformats.org/drawingml/2006/table">
            <a:tbl>
              <a:tblPr/>
              <a:tblGrid>
                <a:gridCol w="3499697">
                  <a:extLst>
                    <a:ext uri="{9D8B030D-6E8A-4147-A177-3AD203B41FA5}">
                      <a16:colId xmlns:a16="http://schemas.microsoft.com/office/drawing/2014/main" val="950356906"/>
                    </a:ext>
                  </a:extLst>
                </a:gridCol>
                <a:gridCol w="3499697">
                  <a:extLst>
                    <a:ext uri="{9D8B030D-6E8A-4147-A177-3AD203B41FA5}">
                      <a16:colId xmlns:a16="http://schemas.microsoft.com/office/drawing/2014/main" val="3558783333"/>
                    </a:ext>
                  </a:extLst>
                </a:gridCol>
                <a:gridCol w="3499697">
                  <a:extLst>
                    <a:ext uri="{9D8B030D-6E8A-4147-A177-3AD203B41FA5}">
                      <a16:colId xmlns:a16="http://schemas.microsoft.com/office/drawing/2014/main" val="801812038"/>
                    </a:ext>
                  </a:extLst>
                </a:gridCol>
              </a:tblGrid>
              <a:tr h="0">
                <a:tc>
                  <a:txBody>
                    <a:bodyPr/>
                    <a:lstStyle/>
                    <a:p>
                      <a:pPr algn="l">
                        <a:buNone/>
                      </a:pPr>
                      <a:r>
                        <a:rPr lang="es-ES" dirty="0">
                          <a:solidFill>
                            <a:schemeClr val="bg1"/>
                          </a:solidFill>
                          <a:effectLst/>
                        </a:rPr>
                        <a:t>Grupo</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F6600"/>
                    </a:solidFill>
                  </a:tcPr>
                </a:tc>
                <a:tc>
                  <a:txBody>
                    <a:bodyPr/>
                    <a:lstStyle/>
                    <a:p>
                      <a:pPr algn="l">
                        <a:buNone/>
                      </a:pPr>
                      <a:r>
                        <a:rPr lang="es-ES" dirty="0">
                          <a:solidFill>
                            <a:schemeClr val="bg1"/>
                          </a:solidFill>
                          <a:effectLst/>
                        </a:rPr>
                        <a:t>Ejemplos</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F6600"/>
                    </a:solidFill>
                  </a:tcPr>
                </a:tc>
                <a:tc>
                  <a:txBody>
                    <a:bodyPr/>
                    <a:lstStyle/>
                    <a:p>
                      <a:pPr algn="l">
                        <a:buNone/>
                      </a:pPr>
                      <a:r>
                        <a:rPr lang="es-ES" dirty="0">
                          <a:solidFill>
                            <a:schemeClr val="bg1"/>
                          </a:solidFill>
                          <a:effectLst/>
                        </a:rPr>
                        <a:t>Función</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F6600"/>
                    </a:solidFill>
                  </a:tcPr>
                </a:tc>
                <a:extLst>
                  <a:ext uri="{0D108BD9-81ED-4DB2-BD59-A6C34878D82A}">
                    <a16:rowId xmlns:a16="http://schemas.microsoft.com/office/drawing/2014/main" val="362057160"/>
                  </a:ext>
                </a:extLst>
              </a:tr>
              <a:tr h="0">
                <a:tc>
                  <a:txBody>
                    <a:bodyPr/>
                    <a:lstStyle/>
                    <a:p>
                      <a:pPr algn="l">
                        <a:buNone/>
                      </a:pPr>
                      <a:r>
                        <a:rPr lang="es-ES">
                          <a:effectLst/>
                        </a:rPr>
                        <a:t>Interacción semanal</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a:effectLst/>
                          <a:latin typeface="Courier New" panose="02070309020205020404" pitchFamily="49" charset="0"/>
                        </a:rPr>
                        <a:t>clicks_*</a:t>
                      </a:r>
                      <a:r>
                        <a:rPr lang="es-ES">
                          <a:effectLst/>
                        </a:rPr>
                        <a:t> por tipo de recurso</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a:effectLst/>
                        </a:rPr>
                        <a:t>Modelar la secuencia temporal de uso del LMS.</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801132862"/>
                  </a:ext>
                </a:extLst>
              </a:tr>
              <a:tr h="0">
                <a:tc>
                  <a:txBody>
                    <a:bodyPr/>
                    <a:lstStyle/>
                    <a:p>
                      <a:pPr algn="l">
                        <a:buNone/>
                      </a:pPr>
                      <a:r>
                        <a:rPr lang="es-ES" dirty="0">
                          <a:effectLst/>
                        </a:rPr>
                        <a:t>Constancia</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latin typeface="Courier New" panose="02070309020205020404" pitchFamily="49" charset="0"/>
                        </a:rPr>
                        <a:t>streak</a:t>
                      </a:r>
                      <a:r>
                        <a:rPr lang="en-US">
                          <a:effectLst/>
                        </a:rPr>
                        <a:t>, </a:t>
                      </a:r>
                      <a:r>
                        <a:rPr lang="en-US">
                          <a:effectLst/>
                          <a:latin typeface="Courier New" panose="02070309020205020404" pitchFamily="49" charset="0"/>
                        </a:rPr>
                        <a:t>active_weeks</a:t>
                      </a:r>
                      <a:r>
                        <a:rPr lang="en-US">
                          <a:effectLst/>
                        </a:rPr>
                        <a:t>, </a:t>
                      </a:r>
                      <a:r>
                        <a:rPr lang="en-US">
                          <a:effectLst/>
                          <a:latin typeface="Courier New" panose="02070309020205020404" pitchFamily="49" charset="0"/>
                        </a:rPr>
                        <a:t>weeks_since_last_activity</a:t>
                      </a:r>
                      <a:endParaRPr lang="en-U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a:effectLst/>
                        </a:rPr>
                        <a:t>Detectar continuidad o riesgo de desconexión.</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379173088"/>
                  </a:ext>
                </a:extLst>
              </a:tr>
              <a:tr h="0">
                <a:tc>
                  <a:txBody>
                    <a:bodyPr/>
                    <a:lstStyle/>
                    <a:p>
                      <a:pPr algn="l">
                        <a:buNone/>
                      </a:pPr>
                      <a:r>
                        <a:rPr lang="es-ES">
                          <a:effectLst/>
                        </a:rPr>
                        <a:t>Engagement</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latin typeface="Courier New" panose="02070309020205020404" pitchFamily="49" charset="0"/>
                        </a:rPr>
                        <a:t>weighted_engagement</a:t>
                      </a:r>
                      <a:r>
                        <a:rPr lang="en-US">
                          <a:effectLst/>
                        </a:rPr>
                        <a:t>, </a:t>
                      </a:r>
                      <a:r>
                        <a:rPr lang="en-US">
                          <a:effectLst/>
                          <a:latin typeface="Courier New" panose="02070309020205020404" pitchFamily="49" charset="0"/>
                        </a:rPr>
                        <a:t>momentum</a:t>
                      </a:r>
                      <a:r>
                        <a:rPr lang="en-US">
                          <a:effectLst/>
                        </a:rPr>
                        <a:t>, </a:t>
                      </a:r>
                      <a:r>
                        <a:rPr lang="en-US">
                          <a:effectLst/>
                          <a:latin typeface="Courier New" panose="02070309020205020404" pitchFamily="49" charset="0"/>
                        </a:rPr>
                        <a:t>effort_slope</a:t>
                      </a:r>
                      <a:endParaRPr lang="en-U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a:effectLst/>
                        </a:rPr>
                        <a:t>Medir intensidad y cambio reciente del esfuerzo.</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996128670"/>
                  </a:ext>
                </a:extLst>
              </a:tr>
              <a:tr h="0">
                <a:tc>
                  <a:txBody>
                    <a:bodyPr/>
                    <a:lstStyle/>
                    <a:p>
                      <a:pPr algn="l">
                        <a:buNone/>
                      </a:pPr>
                      <a:r>
                        <a:rPr lang="es-ES">
                          <a:effectLst/>
                        </a:rPr>
                        <a:t>Estilo de uso</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latin typeface="Courier New" panose="02070309020205020404" pitchFamily="49" charset="0"/>
                        </a:rPr>
                        <a:t>diversity</a:t>
                      </a:r>
                      <a:r>
                        <a:rPr lang="en-US">
                          <a:effectLst/>
                        </a:rPr>
                        <a:t>, </a:t>
                      </a:r>
                      <a:r>
                        <a:rPr lang="en-US">
                          <a:effectLst/>
                          <a:latin typeface="Courier New" panose="02070309020205020404" pitchFamily="49" charset="0"/>
                        </a:rPr>
                        <a:t>top1_share</a:t>
                      </a:r>
                      <a:r>
                        <a:rPr lang="en-US">
                          <a:effectLst/>
                        </a:rPr>
                        <a:t>, </a:t>
                      </a:r>
                      <a:r>
                        <a:rPr lang="en-US">
                          <a:effectLst/>
                          <a:latin typeface="Courier New" panose="02070309020205020404" pitchFamily="49" charset="0"/>
                        </a:rPr>
                        <a:t>entropy</a:t>
                      </a:r>
                      <a:r>
                        <a:rPr lang="en-US">
                          <a:effectLst/>
                        </a:rPr>
                        <a:t>, </a:t>
                      </a:r>
                      <a:r>
                        <a:rPr lang="en-US">
                          <a:effectLst/>
                          <a:latin typeface="Courier New" panose="02070309020205020404" pitchFamily="49" charset="0"/>
                        </a:rPr>
                        <a:t>curiosity</a:t>
                      </a:r>
                      <a:endParaRPr lang="en-U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a:effectLst/>
                        </a:rPr>
                        <a:t>Caracterizar el patrón de navegación.</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6842257"/>
                  </a:ext>
                </a:extLst>
              </a:tr>
              <a:tr h="0">
                <a:tc>
                  <a:txBody>
                    <a:bodyPr/>
                    <a:lstStyle/>
                    <a:p>
                      <a:pPr algn="l">
                        <a:buNone/>
                      </a:pPr>
                      <a:r>
                        <a:rPr lang="es-ES">
                          <a:effectLst/>
                        </a:rPr>
                        <a:t>Rendimiento</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a:effectLst/>
                          <a:latin typeface="Courier New" panose="02070309020205020404" pitchFamily="49" charset="0"/>
                        </a:rPr>
                        <a:t>avg_score</a:t>
                      </a:r>
                      <a:r>
                        <a:rPr lang="es-ES">
                          <a:effectLst/>
                        </a:rPr>
                        <a:t>, </a:t>
                      </a:r>
                      <a:r>
                        <a:rPr lang="es-ES">
                          <a:effectLst/>
                          <a:latin typeface="Courier New" panose="02070309020205020404" pitchFamily="49" charset="0"/>
                        </a:rPr>
                        <a:t>pass_ratio</a:t>
                      </a:r>
                      <a:r>
                        <a:rPr lang="es-ES">
                          <a:effectLst/>
                        </a:rPr>
                        <a:t>, </a:t>
                      </a:r>
                      <a:r>
                        <a:rPr lang="es-ES">
                          <a:effectLst/>
                          <a:latin typeface="Courier New" panose="02070309020205020404" pitchFamily="49" charset="0"/>
                        </a:rPr>
                        <a:t>late_ratio</a:t>
                      </a:r>
                      <a:r>
                        <a:rPr lang="es-ES">
                          <a:effectLst/>
                        </a:rPr>
                        <a:t>, </a:t>
                      </a:r>
                      <a:r>
                        <a:rPr lang="es-ES">
                          <a:effectLst/>
                          <a:latin typeface="Courier New" panose="02070309020205020404" pitchFamily="49" charset="0"/>
                        </a:rPr>
                        <a:t>score_slope</a:t>
                      </a:r>
                      <a:endParaRPr lang="es-E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s-ES" dirty="0">
                          <a:effectLst/>
                        </a:rPr>
                        <a:t>Incorporar el historial académico hasta W.</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359479025"/>
                  </a:ext>
                </a:extLst>
              </a:tr>
            </a:tbl>
          </a:graphicData>
        </a:graphic>
      </p:graphicFrame>
      <p:sp>
        <p:nvSpPr>
          <p:cNvPr id="14" name="CuadroTexto 13">
            <a:extLst>
              <a:ext uri="{FF2B5EF4-FFF2-40B4-BE49-F238E27FC236}">
                <a16:creationId xmlns:a16="http://schemas.microsoft.com/office/drawing/2014/main" id="{6CF04120-8312-39CF-66A6-C482DA0BC0C6}"/>
              </a:ext>
            </a:extLst>
          </p:cNvPr>
          <p:cNvSpPr txBox="1"/>
          <p:nvPr/>
        </p:nvSpPr>
        <p:spPr>
          <a:xfrm>
            <a:off x="960779" y="1738066"/>
            <a:ext cx="10213057" cy="369332"/>
          </a:xfrm>
          <a:prstGeom prst="rect">
            <a:avLst/>
          </a:prstGeom>
          <a:solidFill>
            <a:schemeClr val="bg1"/>
          </a:solidFill>
        </p:spPr>
        <p:txBody>
          <a:bodyPr wrap="square">
            <a:spAutoFit/>
          </a:bodyPr>
          <a:lstStyle/>
          <a:p>
            <a:r>
              <a:rPr lang="es-ES" dirty="0"/>
              <a:t>Se usan tanto para </a:t>
            </a:r>
            <a:r>
              <a:rPr lang="es-ES" dirty="0" err="1"/>
              <a:t>clustering</a:t>
            </a:r>
            <a:r>
              <a:rPr lang="es-ES" dirty="0"/>
              <a:t> como para clasificación</a:t>
            </a:r>
          </a:p>
        </p:txBody>
      </p:sp>
    </p:spTree>
    <p:extLst>
      <p:ext uri="{BB962C8B-B14F-4D97-AF65-F5344CB8AC3E}">
        <p14:creationId xmlns:p14="http://schemas.microsoft.com/office/powerpoint/2010/main" val="24053745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42DC0-D556-6B24-E4FE-806DAD131C23}"/>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DD6EFAFB-AED8-FF10-0588-B662ED849D79}"/>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4815DF3B-A538-85A3-FD31-8CF5FE20DB16}"/>
              </a:ext>
            </a:extLst>
          </p:cNvPr>
          <p:cNvSpPr>
            <a:spLocks noGrp="1"/>
          </p:cNvSpPr>
          <p:nvPr>
            <p:ph type="sldNum" sz="quarter" idx="12"/>
          </p:nvPr>
        </p:nvSpPr>
        <p:spPr/>
        <p:txBody>
          <a:bodyPr/>
          <a:lstStyle/>
          <a:p>
            <a:pPr rtl="0"/>
            <a:fld id="{DD84031F-D6BF-4677-B12E-7D8B88BA70F7}" type="slidenum">
              <a:rPr lang="en-US" smtClean="0"/>
              <a:t>13</a:t>
            </a:fld>
            <a:endParaRPr lang="en-US"/>
          </a:p>
        </p:txBody>
      </p:sp>
      <p:pic>
        <p:nvPicPr>
          <p:cNvPr id="32" name="Imagen 31">
            <a:extLst>
              <a:ext uri="{FF2B5EF4-FFF2-40B4-BE49-F238E27FC236}">
                <a16:creationId xmlns:a16="http://schemas.microsoft.com/office/drawing/2014/main" id="{ED6EDE7C-F421-541B-5B96-B56B0673EB17}"/>
              </a:ext>
            </a:extLst>
          </p:cNvPr>
          <p:cNvPicPr>
            <a:picLocks noChangeAspect="1"/>
          </p:cNvPicPr>
          <p:nvPr/>
        </p:nvPicPr>
        <p:blipFill>
          <a:blip r:embed="rId3"/>
          <a:stretch>
            <a:fillRect/>
          </a:stretch>
        </p:blipFill>
        <p:spPr>
          <a:xfrm>
            <a:off x="9918084" y="99023"/>
            <a:ext cx="1871580" cy="799949"/>
          </a:xfrm>
          <a:prstGeom prst="rect">
            <a:avLst/>
          </a:prstGeom>
        </p:spPr>
      </p:pic>
      <p:sp>
        <p:nvSpPr>
          <p:cNvPr id="2" name="CuadroTexto 1">
            <a:extLst>
              <a:ext uri="{FF2B5EF4-FFF2-40B4-BE49-F238E27FC236}">
                <a16:creationId xmlns:a16="http://schemas.microsoft.com/office/drawing/2014/main" id="{D6BCF65E-EC1F-DA1C-A80D-B52142751523}"/>
              </a:ext>
            </a:extLst>
          </p:cNvPr>
          <p:cNvSpPr txBox="1"/>
          <p:nvPr/>
        </p:nvSpPr>
        <p:spPr>
          <a:xfrm>
            <a:off x="960780" y="1958731"/>
            <a:ext cx="4314993" cy="3247043"/>
          </a:xfrm>
          <a:prstGeom prst="rect">
            <a:avLst/>
          </a:prstGeom>
          <a:noFill/>
        </p:spPr>
        <p:txBody>
          <a:bodyPr wrap="square" rtlCol="0">
            <a:spAutoFit/>
          </a:bodyPr>
          <a:lstStyle/>
          <a:p>
            <a:pPr marL="285750" indent="-285750">
              <a:spcAft>
                <a:spcPts val="600"/>
              </a:spcAft>
              <a:buFont typeface="Arial" panose="020B0604020202020204" pitchFamily="34" charset="0"/>
              <a:buChar char="•"/>
            </a:pPr>
            <a:endParaRPr lang="es-ES" dirty="0"/>
          </a:p>
          <a:p>
            <a:pPr marL="285750" indent="-285750">
              <a:spcAft>
                <a:spcPts val="600"/>
              </a:spcAft>
              <a:buFont typeface="Arial" panose="020B0604020202020204" pitchFamily="34" charset="0"/>
              <a:buChar char="•"/>
            </a:pPr>
            <a:r>
              <a:rPr lang="es-ES" dirty="0"/>
              <a:t>Concepto de ventana de tiempo.</a:t>
            </a:r>
          </a:p>
          <a:p>
            <a:pPr marL="285750" indent="-285750">
              <a:spcAft>
                <a:spcPts val="600"/>
              </a:spcAft>
              <a:buFont typeface="Arial" panose="020B0604020202020204" pitchFamily="34" charset="0"/>
              <a:buChar char="•"/>
            </a:pPr>
            <a:r>
              <a:rPr lang="es-ES" dirty="0"/>
              <a:t>División en 3 subconjuntos: Train, </a:t>
            </a:r>
            <a:r>
              <a:rPr lang="es-ES" dirty="0" err="1"/>
              <a:t>evaluation</a:t>
            </a:r>
            <a:r>
              <a:rPr lang="es-ES" dirty="0"/>
              <a:t>, test.</a:t>
            </a:r>
          </a:p>
          <a:p>
            <a:pPr marL="285750" indent="-285750">
              <a:spcAft>
                <a:spcPts val="600"/>
              </a:spcAft>
              <a:buFont typeface="Arial" panose="020B0604020202020204" pitchFamily="34" charset="0"/>
              <a:buChar char="•"/>
            </a:pPr>
            <a:r>
              <a:rPr lang="es-ES" dirty="0"/>
              <a:t>Datos sensibles o poco éticos se excluyen (AI </a:t>
            </a:r>
            <a:r>
              <a:rPr lang="es-ES" dirty="0" err="1"/>
              <a:t>Act</a:t>
            </a:r>
            <a:r>
              <a:rPr lang="es-ES" dirty="0"/>
              <a:t>)</a:t>
            </a:r>
          </a:p>
          <a:p>
            <a:pPr marL="285750" indent="-285750">
              <a:spcAft>
                <a:spcPts val="600"/>
              </a:spcAft>
              <a:buFont typeface="Arial" panose="020B0604020202020204" pitchFamily="34" charset="0"/>
              <a:buChar char="•"/>
            </a:pPr>
            <a:r>
              <a:rPr lang="es-ES" dirty="0"/>
              <a:t>Normalización por curso. </a:t>
            </a:r>
          </a:p>
          <a:p>
            <a:pPr marL="285750" indent="-285750">
              <a:spcAft>
                <a:spcPts val="600"/>
              </a:spcAft>
              <a:buFont typeface="Arial" panose="020B0604020202020204" pitchFamily="34" charset="0"/>
              <a:buChar char="•"/>
            </a:pPr>
            <a:r>
              <a:rPr lang="es-ES" dirty="0"/>
              <a:t>Para el </a:t>
            </a:r>
            <a:r>
              <a:rPr lang="es-ES" dirty="0" err="1"/>
              <a:t>transformer</a:t>
            </a:r>
            <a:r>
              <a:rPr lang="es-ES" dirty="0"/>
              <a:t> se añade adicionalmente comportamiento semana a semana.</a:t>
            </a:r>
          </a:p>
        </p:txBody>
      </p:sp>
      <p:pic>
        <p:nvPicPr>
          <p:cNvPr id="17" name="Imagen 16">
            <a:extLst>
              <a:ext uri="{FF2B5EF4-FFF2-40B4-BE49-F238E27FC236}">
                <a16:creationId xmlns:a16="http://schemas.microsoft.com/office/drawing/2014/main" id="{141C0EE7-78AC-9A08-2197-EDC44788075D}"/>
              </a:ext>
            </a:extLst>
          </p:cNvPr>
          <p:cNvPicPr>
            <a:picLocks noChangeAspect="1"/>
          </p:cNvPicPr>
          <p:nvPr/>
        </p:nvPicPr>
        <p:blipFill>
          <a:blip r:embed="rId4"/>
          <a:stretch>
            <a:fillRect/>
          </a:stretch>
        </p:blipFill>
        <p:spPr>
          <a:xfrm>
            <a:off x="5488182" y="1869710"/>
            <a:ext cx="2795662" cy="4181417"/>
          </a:xfrm>
          <a:prstGeom prst="rect">
            <a:avLst/>
          </a:prstGeom>
        </p:spPr>
      </p:pic>
      <p:pic>
        <p:nvPicPr>
          <p:cNvPr id="19" name="Imagen 18">
            <a:extLst>
              <a:ext uri="{FF2B5EF4-FFF2-40B4-BE49-F238E27FC236}">
                <a16:creationId xmlns:a16="http://schemas.microsoft.com/office/drawing/2014/main" id="{5525EFAB-A58E-71DA-0C92-72990B1A2579}"/>
              </a:ext>
            </a:extLst>
          </p:cNvPr>
          <p:cNvPicPr>
            <a:picLocks noChangeAspect="1"/>
          </p:cNvPicPr>
          <p:nvPr/>
        </p:nvPicPr>
        <p:blipFill>
          <a:blip r:embed="rId5"/>
          <a:stretch>
            <a:fillRect/>
          </a:stretch>
        </p:blipFill>
        <p:spPr>
          <a:xfrm>
            <a:off x="8445069" y="1869710"/>
            <a:ext cx="2876981" cy="4199062"/>
          </a:xfrm>
          <a:prstGeom prst="rect">
            <a:avLst/>
          </a:prstGeom>
        </p:spPr>
      </p:pic>
      <p:sp>
        <p:nvSpPr>
          <p:cNvPr id="10" name="Título 1">
            <a:extLst>
              <a:ext uri="{FF2B5EF4-FFF2-40B4-BE49-F238E27FC236}">
                <a16:creationId xmlns:a16="http://schemas.microsoft.com/office/drawing/2014/main" id="{C132E21E-83AF-BEF2-F889-11E48E0C9136}"/>
              </a:ext>
            </a:extLst>
          </p:cNvPr>
          <p:cNvSpPr txBox="1">
            <a:spLocks/>
          </p:cNvSpPr>
          <p:nvPr/>
        </p:nvSpPr>
        <p:spPr>
          <a:xfrm>
            <a:off x="1018162" y="310468"/>
            <a:ext cx="8648771" cy="1192717"/>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INGENIERÍA DE CARACTERÍSTICAS III</a:t>
            </a:r>
          </a:p>
        </p:txBody>
      </p:sp>
      <p:cxnSp>
        <p:nvCxnSpPr>
          <p:cNvPr id="11" name="Conector recto 10">
            <a:extLst>
              <a:ext uri="{FF2B5EF4-FFF2-40B4-BE49-F238E27FC236}">
                <a16:creationId xmlns:a16="http://schemas.microsoft.com/office/drawing/2014/main" id="{8062FE40-B63B-C1B4-14E5-3A74E1338AD8}"/>
              </a:ext>
            </a:extLst>
          </p:cNvPr>
          <p:cNvCxnSpPr>
            <a:cxnSpLocks/>
          </p:cNvCxnSpPr>
          <p:nvPr/>
        </p:nvCxnSpPr>
        <p:spPr>
          <a:xfrm>
            <a:off x="960780" y="1503185"/>
            <a:ext cx="1021305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853301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55A2-E42E-A3DB-497A-3D3160E3F19D}"/>
            </a:ext>
          </a:extLst>
        </p:cNvPr>
        <p:cNvGrpSpPr/>
        <p:nvPr/>
      </p:nvGrpSpPr>
      <p:grpSpPr>
        <a:xfrm>
          <a:off x="0" y="0"/>
          <a:ext cx="0" cy="0"/>
          <a:chOff x="0" y="0"/>
          <a:chExt cx="0" cy="0"/>
        </a:xfrm>
      </p:grpSpPr>
      <p:sp>
        <p:nvSpPr>
          <p:cNvPr id="5" name="Marcador de fecha 4">
            <a:extLst>
              <a:ext uri="{FF2B5EF4-FFF2-40B4-BE49-F238E27FC236}">
                <a16:creationId xmlns:a16="http://schemas.microsoft.com/office/drawing/2014/main" id="{4BF9ECB3-5F33-6000-751C-F71DBB22917E}"/>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1061758E-6C6E-A4DC-F8C2-FB1010268331}"/>
              </a:ext>
            </a:extLst>
          </p:cNvPr>
          <p:cNvSpPr>
            <a:spLocks noGrp="1"/>
          </p:cNvSpPr>
          <p:nvPr>
            <p:ph type="sldNum" sz="quarter" idx="12"/>
          </p:nvPr>
        </p:nvSpPr>
        <p:spPr/>
        <p:txBody>
          <a:bodyPr/>
          <a:lstStyle/>
          <a:p>
            <a:pPr rtl="0"/>
            <a:fld id="{DD84031F-D6BF-4677-B12E-7D8B88BA70F7}" type="slidenum">
              <a:rPr lang="en-US" smtClean="0"/>
              <a:t>14</a:t>
            </a:fld>
            <a:endParaRPr lang="en-US"/>
          </a:p>
        </p:txBody>
      </p:sp>
      <p:pic>
        <p:nvPicPr>
          <p:cNvPr id="9" name="Imagen 8">
            <a:extLst>
              <a:ext uri="{FF2B5EF4-FFF2-40B4-BE49-F238E27FC236}">
                <a16:creationId xmlns:a16="http://schemas.microsoft.com/office/drawing/2014/main" id="{6915B9B3-4B99-D602-1211-89F5EFE38DDB}"/>
              </a:ext>
            </a:extLst>
          </p:cNvPr>
          <p:cNvPicPr>
            <a:picLocks noChangeAspect="1"/>
          </p:cNvPicPr>
          <p:nvPr/>
        </p:nvPicPr>
        <p:blipFill>
          <a:blip r:embed="rId2"/>
          <a:stretch>
            <a:fillRect/>
          </a:stretch>
        </p:blipFill>
        <p:spPr>
          <a:xfrm>
            <a:off x="9918084" y="99023"/>
            <a:ext cx="1871580" cy="799949"/>
          </a:xfrm>
          <a:prstGeom prst="rect">
            <a:avLst/>
          </a:prstGeom>
        </p:spPr>
      </p:pic>
      <p:pic>
        <p:nvPicPr>
          <p:cNvPr id="12" name="Gráfico 11" descr="Inventario de búsqueda con relleno sólido">
            <a:extLst>
              <a:ext uri="{FF2B5EF4-FFF2-40B4-BE49-F238E27FC236}">
                <a16:creationId xmlns:a16="http://schemas.microsoft.com/office/drawing/2014/main" id="{5459550C-7454-9607-4DD3-4AE2557084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8397" y="2416530"/>
            <a:ext cx="1103086" cy="1103086"/>
          </a:xfrm>
          <a:prstGeom prst="rect">
            <a:avLst/>
          </a:prstGeom>
        </p:spPr>
      </p:pic>
      <p:sp>
        <p:nvSpPr>
          <p:cNvPr id="13" name="CuadroTexto 12">
            <a:extLst>
              <a:ext uri="{FF2B5EF4-FFF2-40B4-BE49-F238E27FC236}">
                <a16:creationId xmlns:a16="http://schemas.microsoft.com/office/drawing/2014/main" id="{6D87D5C1-042D-2054-0063-E6A4105CCB36}"/>
              </a:ext>
            </a:extLst>
          </p:cNvPr>
          <p:cNvSpPr txBox="1"/>
          <p:nvPr/>
        </p:nvSpPr>
        <p:spPr>
          <a:xfrm>
            <a:off x="359808" y="3548085"/>
            <a:ext cx="2557220" cy="707886"/>
          </a:xfrm>
          <a:prstGeom prst="rect">
            <a:avLst/>
          </a:prstGeom>
          <a:noFill/>
        </p:spPr>
        <p:txBody>
          <a:bodyPr wrap="square" rtlCol="0">
            <a:spAutoFit/>
          </a:bodyPr>
          <a:lstStyle/>
          <a:p>
            <a:pPr algn="ctr"/>
            <a:r>
              <a:rPr lang="es-ES" sz="2000" dirty="0">
                <a:latin typeface="CMU Serif" panose="02000603000000000000" pitchFamily="2" charset="0"/>
                <a:ea typeface="CMU Serif" panose="02000603000000000000" pitchFamily="2" charset="0"/>
                <a:cs typeface="CMU Serif" panose="02000603000000000000" pitchFamily="2" charset="0"/>
              </a:rPr>
              <a:t>Comprensión del negocio</a:t>
            </a:r>
          </a:p>
        </p:txBody>
      </p:sp>
      <p:pic>
        <p:nvPicPr>
          <p:cNvPr id="14" name="Gráfico 13" descr="Gráfico de barras con relleno sólido">
            <a:extLst>
              <a:ext uri="{FF2B5EF4-FFF2-40B4-BE49-F238E27FC236}">
                <a16:creationId xmlns:a16="http://schemas.microsoft.com/office/drawing/2014/main" id="{C27A4490-D805-315D-6C94-08C7406A43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0373" y="2420680"/>
            <a:ext cx="1071968" cy="1071968"/>
          </a:xfrm>
          <a:prstGeom prst="rect">
            <a:avLst/>
          </a:prstGeom>
        </p:spPr>
      </p:pic>
      <p:sp>
        <p:nvSpPr>
          <p:cNvPr id="15" name="CuadroTexto 14">
            <a:extLst>
              <a:ext uri="{FF2B5EF4-FFF2-40B4-BE49-F238E27FC236}">
                <a16:creationId xmlns:a16="http://schemas.microsoft.com/office/drawing/2014/main" id="{A9EBA3C7-3191-8BBE-2F11-94B7E1DBD86F}"/>
              </a:ext>
            </a:extLst>
          </p:cNvPr>
          <p:cNvSpPr txBox="1"/>
          <p:nvPr/>
        </p:nvSpPr>
        <p:spPr>
          <a:xfrm>
            <a:off x="2917028" y="3519616"/>
            <a:ext cx="1656917" cy="646331"/>
          </a:xfrm>
          <a:prstGeom prst="rect">
            <a:avLst/>
          </a:prstGeom>
          <a:solidFill>
            <a:schemeClr val="bg1"/>
          </a:solid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Entender datos</a:t>
            </a:r>
          </a:p>
        </p:txBody>
      </p:sp>
      <p:pic>
        <p:nvPicPr>
          <p:cNvPr id="16" name="Gráfico 15" descr="Herramientas de minería con relleno sólido">
            <a:extLst>
              <a:ext uri="{FF2B5EF4-FFF2-40B4-BE49-F238E27FC236}">
                <a16:creationId xmlns:a16="http://schemas.microsoft.com/office/drawing/2014/main" id="{72692AEE-1C57-C942-7FAD-AE22054570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8259" y="2485644"/>
            <a:ext cx="914400" cy="914400"/>
          </a:xfrm>
          <a:prstGeom prst="rect">
            <a:avLst/>
          </a:prstGeom>
        </p:spPr>
      </p:pic>
      <p:sp>
        <p:nvSpPr>
          <p:cNvPr id="17" name="CuadroTexto 16">
            <a:extLst>
              <a:ext uri="{FF2B5EF4-FFF2-40B4-BE49-F238E27FC236}">
                <a16:creationId xmlns:a16="http://schemas.microsoft.com/office/drawing/2014/main" id="{67AC6C92-2B53-4543-CE3E-2C9703EE3725}"/>
              </a:ext>
            </a:extLst>
          </p:cNvPr>
          <p:cNvSpPr txBox="1"/>
          <p:nvPr/>
        </p:nvSpPr>
        <p:spPr>
          <a:xfrm>
            <a:off x="5123589" y="3492648"/>
            <a:ext cx="1656917" cy="646331"/>
          </a:xfrm>
          <a:prstGeom prst="rect">
            <a:avLst/>
          </a:prstGeom>
          <a:no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Preparación de datos</a:t>
            </a:r>
          </a:p>
        </p:txBody>
      </p:sp>
      <p:pic>
        <p:nvPicPr>
          <p:cNvPr id="18" name="Gráfico 17" descr="Portapapeles parcialmente comprobado con relleno sólido">
            <a:extLst>
              <a:ext uri="{FF2B5EF4-FFF2-40B4-BE49-F238E27FC236}">
                <a16:creationId xmlns:a16="http://schemas.microsoft.com/office/drawing/2014/main" id="{C1C7DDE6-1761-CD7F-30DE-B121E4F940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58230" y="2441942"/>
            <a:ext cx="914400" cy="914400"/>
          </a:xfrm>
          <a:prstGeom prst="rect">
            <a:avLst/>
          </a:prstGeom>
        </p:spPr>
      </p:pic>
      <p:sp>
        <p:nvSpPr>
          <p:cNvPr id="19" name="CuadroTexto 18">
            <a:extLst>
              <a:ext uri="{FF2B5EF4-FFF2-40B4-BE49-F238E27FC236}">
                <a16:creationId xmlns:a16="http://schemas.microsoft.com/office/drawing/2014/main" id="{7956C82F-DC5E-AF4C-A962-14DAAF0147FB}"/>
              </a:ext>
            </a:extLst>
          </p:cNvPr>
          <p:cNvSpPr txBox="1"/>
          <p:nvPr/>
        </p:nvSpPr>
        <p:spPr>
          <a:xfrm>
            <a:off x="7228570" y="3457957"/>
            <a:ext cx="1656917" cy="369332"/>
          </a:xfrm>
          <a:prstGeom prst="rect">
            <a:avLst/>
          </a:prstGeom>
          <a:noFill/>
        </p:spPr>
        <p:txBody>
          <a:bodyPr wrap="square" rtlCol="0">
            <a:spAutoFit/>
          </a:bodyPr>
          <a:lstStyle/>
          <a:p>
            <a:pPr algn="ctr"/>
            <a:r>
              <a:rPr lang="es-ES" b="1" dirty="0">
                <a:solidFill>
                  <a:srgbClr val="FF6600"/>
                </a:solidFill>
                <a:latin typeface="CMU Serif" panose="02000603000000000000" pitchFamily="2" charset="0"/>
                <a:ea typeface="CMU Serif" panose="02000603000000000000" pitchFamily="2" charset="0"/>
                <a:cs typeface="CMU Serif" panose="02000603000000000000" pitchFamily="2" charset="0"/>
              </a:rPr>
              <a:t>Modelado</a:t>
            </a:r>
          </a:p>
        </p:txBody>
      </p:sp>
      <p:sp>
        <p:nvSpPr>
          <p:cNvPr id="20" name="CuadroTexto 19">
            <a:extLst>
              <a:ext uri="{FF2B5EF4-FFF2-40B4-BE49-F238E27FC236}">
                <a16:creationId xmlns:a16="http://schemas.microsoft.com/office/drawing/2014/main" id="{F0DDCE18-65B6-C9A1-66EC-BF790F90BEA1}"/>
              </a:ext>
            </a:extLst>
          </p:cNvPr>
          <p:cNvSpPr txBox="1"/>
          <p:nvPr/>
        </p:nvSpPr>
        <p:spPr>
          <a:xfrm>
            <a:off x="9252842" y="3436416"/>
            <a:ext cx="1656917" cy="646331"/>
          </a:xfrm>
          <a:prstGeom prst="rect">
            <a:avLst/>
          </a:prstGeom>
          <a:no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Evaluación y XAI</a:t>
            </a:r>
          </a:p>
        </p:txBody>
      </p:sp>
      <p:pic>
        <p:nvPicPr>
          <p:cNvPr id="21" name="Gráfico 20" descr="Robot con relleno sólido">
            <a:extLst>
              <a:ext uri="{FF2B5EF4-FFF2-40B4-BE49-F238E27FC236}">
                <a16:creationId xmlns:a16="http://schemas.microsoft.com/office/drawing/2014/main" id="{2C36208B-3275-79FB-07F9-765BB27572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16331" y="2485644"/>
            <a:ext cx="914400" cy="914400"/>
          </a:xfrm>
          <a:prstGeom prst="rect">
            <a:avLst/>
          </a:prstGeom>
        </p:spPr>
      </p:pic>
    </p:spTree>
    <p:extLst>
      <p:ext uri="{BB962C8B-B14F-4D97-AF65-F5344CB8AC3E}">
        <p14:creationId xmlns:p14="http://schemas.microsoft.com/office/powerpoint/2010/main" val="4202142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A9FE-F7F4-2CEB-750D-C69AB4F7A9E9}"/>
            </a:ext>
          </a:extLst>
        </p:cNvPr>
        <p:cNvGrpSpPr/>
        <p:nvPr/>
      </p:nvGrpSpPr>
      <p:grpSpPr>
        <a:xfrm>
          <a:off x="0" y="0"/>
          <a:ext cx="0" cy="0"/>
          <a:chOff x="0" y="0"/>
          <a:chExt cx="0" cy="0"/>
        </a:xfrm>
      </p:grpSpPr>
      <p:sp>
        <p:nvSpPr>
          <p:cNvPr id="4" name="Marcador de fecha 3">
            <a:extLst>
              <a:ext uri="{FF2B5EF4-FFF2-40B4-BE49-F238E27FC236}">
                <a16:creationId xmlns:a16="http://schemas.microsoft.com/office/drawing/2014/main" id="{F59EEAE5-FB32-CDFA-9EBD-ADDC9899F713}"/>
              </a:ext>
            </a:extLst>
          </p:cNvPr>
          <p:cNvSpPr>
            <a:spLocks noGrp="1"/>
          </p:cNvSpPr>
          <p:nvPr>
            <p:ph type="dt" sz="half" idx="10"/>
          </p:nvPr>
        </p:nvSpPr>
        <p:spPr>
          <a:xfrm>
            <a:off x="8568580" y="6163420"/>
            <a:ext cx="3327634" cy="365125"/>
          </a:xfrm>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C4C4C1F8-5F53-611D-404A-47523DD86D98}"/>
              </a:ext>
            </a:extLst>
          </p:cNvPr>
          <p:cNvSpPr>
            <a:spLocks noGrp="1"/>
          </p:cNvSpPr>
          <p:nvPr>
            <p:ph type="sldNum" sz="quarter" idx="12"/>
          </p:nvPr>
        </p:nvSpPr>
        <p:spPr>
          <a:xfrm>
            <a:off x="11166187" y="6163420"/>
            <a:ext cx="603114" cy="365125"/>
          </a:xfrm>
        </p:spPr>
        <p:txBody>
          <a:bodyPr/>
          <a:lstStyle/>
          <a:p>
            <a:pPr rtl="0"/>
            <a:fld id="{DD84031F-D6BF-4677-B12E-7D8B88BA70F7}" type="slidenum">
              <a:rPr lang="en-US" smtClean="0"/>
              <a:t>15</a:t>
            </a:fld>
            <a:endParaRPr lang="en-US"/>
          </a:p>
        </p:txBody>
      </p:sp>
      <p:pic>
        <p:nvPicPr>
          <p:cNvPr id="3" name="Imagen 2">
            <a:extLst>
              <a:ext uri="{FF2B5EF4-FFF2-40B4-BE49-F238E27FC236}">
                <a16:creationId xmlns:a16="http://schemas.microsoft.com/office/drawing/2014/main" id="{01F17DFA-083D-1F12-CBE6-DE1E3E3D9695}"/>
              </a:ext>
            </a:extLst>
          </p:cNvPr>
          <p:cNvPicPr>
            <a:picLocks noChangeAspect="1"/>
          </p:cNvPicPr>
          <p:nvPr/>
        </p:nvPicPr>
        <p:blipFill>
          <a:blip r:embed="rId3"/>
          <a:stretch>
            <a:fillRect/>
          </a:stretch>
        </p:blipFill>
        <p:spPr>
          <a:xfrm>
            <a:off x="9918084" y="292752"/>
            <a:ext cx="1871580" cy="799949"/>
          </a:xfrm>
          <a:prstGeom prst="rect">
            <a:avLst/>
          </a:prstGeom>
        </p:spPr>
      </p:pic>
      <p:pic>
        <p:nvPicPr>
          <p:cNvPr id="11" name="Gráfico 10" descr="Base de datos con relleno sólido">
            <a:extLst>
              <a:ext uri="{FF2B5EF4-FFF2-40B4-BE49-F238E27FC236}">
                <a16:creationId xmlns:a16="http://schemas.microsoft.com/office/drawing/2014/main" id="{84403595-15D8-8CC7-42EC-2E56FB88D8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5022" y="2531172"/>
            <a:ext cx="914400" cy="914400"/>
          </a:xfrm>
          <a:prstGeom prst="rect">
            <a:avLst/>
          </a:prstGeom>
        </p:spPr>
      </p:pic>
      <p:sp>
        <p:nvSpPr>
          <p:cNvPr id="12" name="CuadroTexto 11">
            <a:extLst>
              <a:ext uri="{FF2B5EF4-FFF2-40B4-BE49-F238E27FC236}">
                <a16:creationId xmlns:a16="http://schemas.microsoft.com/office/drawing/2014/main" id="{9CEFC8F6-3C67-DCA3-097F-83ACEBF3F83B}"/>
              </a:ext>
            </a:extLst>
          </p:cNvPr>
          <p:cNvSpPr txBox="1"/>
          <p:nvPr/>
        </p:nvSpPr>
        <p:spPr>
          <a:xfrm>
            <a:off x="805022" y="3547579"/>
            <a:ext cx="968983" cy="646331"/>
          </a:xfrm>
          <a:prstGeom prst="rect">
            <a:avLst/>
          </a:prstGeom>
          <a:noFill/>
        </p:spPr>
        <p:txBody>
          <a:bodyPr wrap="none" rtlCol="0">
            <a:spAutoFit/>
          </a:bodyPr>
          <a:lstStyle/>
          <a:p>
            <a:pPr algn="ctr"/>
            <a:r>
              <a:rPr lang="es-ES" dirty="0"/>
              <a:t>DATOS </a:t>
            </a:r>
            <a:br>
              <a:rPr lang="es-ES" dirty="0"/>
            </a:br>
            <a:r>
              <a:rPr lang="es-ES" dirty="0"/>
              <a:t>OULAD</a:t>
            </a:r>
          </a:p>
        </p:txBody>
      </p:sp>
      <p:pic>
        <p:nvPicPr>
          <p:cNvPr id="17" name="Gráfico 16" descr="Herramientas de minería con relleno sólido">
            <a:extLst>
              <a:ext uri="{FF2B5EF4-FFF2-40B4-BE49-F238E27FC236}">
                <a16:creationId xmlns:a16="http://schemas.microsoft.com/office/drawing/2014/main" id="{85BE5541-F6E6-BBD0-DC33-CB3A5768994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34352" y="2596090"/>
            <a:ext cx="914400" cy="914400"/>
          </a:xfrm>
          <a:prstGeom prst="rect">
            <a:avLst/>
          </a:prstGeom>
        </p:spPr>
      </p:pic>
      <p:sp>
        <p:nvSpPr>
          <p:cNvPr id="18" name="CuadroTexto 17">
            <a:extLst>
              <a:ext uri="{FF2B5EF4-FFF2-40B4-BE49-F238E27FC236}">
                <a16:creationId xmlns:a16="http://schemas.microsoft.com/office/drawing/2014/main" id="{EF8F81E6-A4D3-6FAF-B11C-2AC928974057}"/>
              </a:ext>
            </a:extLst>
          </p:cNvPr>
          <p:cNvSpPr txBox="1"/>
          <p:nvPr/>
        </p:nvSpPr>
        <p:spPr>
          <a:xfrm>
            <a:off x="2492107" y="3658417"/>
            <a:ext cx="2413685" cy="646331"/>
          </a:xfrm>
          <a:prstGeom prst="rect">
            <a:avLst/>
          </a:prstGeom>
          <a:noFill/>
        </p:spPr>
        <p:txBody>
          <a:bodyPr wrap="square" rtlCol="0">
            <a:spAutoFit/>
          </a:bodyPr>
          <a:lstStyle/>
          <a:p>
            <a:pPr algn="ctr"/>
            <a:r>
              <a:rPr lang="es-ES" dirty="0"/>
              <a:t>INGENIERÍA DE</a:t>
            </a:r>
          </a:p>
          <a:p>
            <a:pPr algn="ctr"/>
            <a:r>
              <a:rPr lang="es-ES" dirty="0"/>
              <a:t>CARACTERÍSTICAS</a:t>
            </a:r>
          </a:p>
        </p:txBody>
      </p:sp>
      <p:cxnSp>
        <p:nvCxnSpPr>
          <p:cNvPr id="19" name="Conector recto de flecha 18">
            <a:extLst>
              <a:ext uri="{FF2B5EF4-FFF2-40B4-BE49-F238E27FC236}">
                <a16:creationId xmlns:a16="http://schemas.microsoft.com/office/drawing/2014/main" id="{44B3CF6C-58B7-C947-2430-0645340904A9}"/>
              </a:ext>
            </a:extLst>
          </p:cNvPr>
          <p:cNvCxnSpPr>
            <a:cxnSpLocks/>
          </p:cNvCxnSpPr>
          <p:nvPr/>
        </p:nvCxnSpPr>
        <p:spPr>
          <a:xfrm>
            <a:off x="1906703" y="3153111"/>
            <a:ext cx="1400460"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pic>
        <p:nvPicPr>
          <p:cNvPr id="31" name="Imagen 30" descr="Diagrama&#10;&#10;El contenido generado por IA puede ser incorrecto.">
            <a:extLst>
              <a:ext uri="{FF2B5EF4-FFF2-40B4-BE49-F238E27FC236}">
                <a16:creationId xmlns:a16="http://schemas.microsoft.com/office/drawing/2014/main" id="{E4B25604-4DAF-F20F-0D29-C9D820C3D451}"/>
              </a:ext>
            </a:extLst>
          </p:cNvPr>
          <p:cNvPicPr>
            <a:picLocks noChangeAspect="1"/>
          </p:cNvPicPr>
          <p:nvPr/>
        </p:nvPicPr>
        <p:blipFill>
          <a:blip r:embed="rId6"/>
          <a:stretch>
            <a:fillRect/>
          </a:stretch>
        </p:blipFill>
        <p:spPr>
          <a:xfrm>
            <a:off x="6096000" y="4147019"/>
            <a:ext cx="2988553" cy="1659790"/>
          </a:xfrm>
          <a:prstGeom prst="rect">
            <a:avLst/>
          </a:prstGeom>
        </p:spPr>
      </p:pic>
      <p:sp>
        <p:nvSpPr>
          <p:cNvPr id="32" name="CuadroTexto 31">
            <a:extLst>
              <a:ext uri="{FF2B5EF4-FFF2-40B4-BE49-F238E27FC236}">
                <a16:creationId xmlns:a16="http://schemas.microsoft.com/office/drawing/2014/main" id="{9F313151-E56B-9D3A-F686-85ADB0E14EA7}"/>
              </a:ext>
            </a:extLst>
          </p:cNvPr>
          <p:cNvSpPr txBox="1"/>
          <p:nvPr/>
        </p:nvSpPr>
        <p:spPr>
          <a:xfrm>
            <a:off x="6369843" y="3386007"/>
            <a:ext cx="2774925" cy="646331"/>
          </a:xfrm>
          <a:prstGeom prst="rect">
            <a:avLst/>
          </a:prstGeom>
          <a:noFill/>
        </p:spPr>
        <p:txBody>
          <a:bodyPr wrap="square" rtlCol="0">
            <a:spAutoFit/>
          </a:bodyPr>
          <a:lstStyle/>
          <a:p>
            <a:pPr algn="ctr"/>
            <a:r>
              <a:rPr lang="es-ES" dirty="0"/>
              <a:t>Clasificadores basados en </a:t>
            </a:r>
            <a:r>
              <a:rPr lang="es-ES" dirty="0" err="1"/>
              <a:t>transformer</a:t>
            </a:r>
            <a:endParaRPr lang="es-ES" dirty="0"/>
          </a:p>
        </p:txBody>
      </p:sp>
      <p:sp>
        <p:nvSpPr>
          <p:cNvPr id="33" name="CuadroTexto 32">
            <a:extLst>
              <a:ext uri="{FF2B5EF4-FFF2-40B4-BE49-F238E27FC236}">
                <a16:creationId xmlns:a16="http://schemas.microsoft.com/office/drawing/2014/main" id="{6FC8923E-6279-C1A6-D128-730783E4E46F}"/>
              </a:ext>
            </a:extLst>
          </p:cNvPr>
          <p:cNvSpPr txBox="1"/>
          <p:nvPr/>
        </p:nvSpPr>
        <p:spPr>
          <a:xfrm>
            <a:off x="6229756" y="5899087"/>
            <a:ext cx="2413685" cy="369332"/>
          </a:xfrm>
          <a:prstGeom prst="rect">
            <a:avLst/>
          </a:prstGeom>
          <a:noFill/>
        </p:spPr>
        <p:txBody>
          <a:bodyPr wrap="square" rtlCol="0">
            <a:spAutoFit/>
          </a:bodyPr>
          <a:lstStyle/>
          <a:p>
            <a:pPr algn="ctr"/>
            <a:r>
              <a:rPr lang="es-ES" dirty="0" err="1"/>
              <a:t>AutoEncoder</a:t>
            </a:r>
            <a:endParaRPr lang="es-ES" dirty="0"/>
          </a:p>
        </p:txBody>
      </p:sp>
      <p:cxnSp>
        <p:nvCxnSpPr>
          <p:cNvPr id="34" name="Conector recto de flecha 33">
            <a:extLst>
              <a:ext uri="{FF2B5EF4-FFF2-40B4-BE49-F238E27FC236}">
                <a16:creationId xmlns:a16="http://schemas.microsoft.com/office/drawing/2014/main" id="{40DC55D7-53BD-B5CD-F54B-6884BE87845A}"/>
              </a:ext>
            </a:extLst>
          </p:cNvPr>
          <p:cNvCxnSpPr>
            <a:cxnSpLocks/>
          </p:cNvCxnSpPr>
          <p:nvPr/>
        </p:nvCxnSpPr>
        <p:spPr>
          <a:xfrm>
            <a:off x="9084553" y="4856424"/>
            <a:ext cx="467833"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nvGrpSpPr>
          <p:cNvPr id="42" name="Grupo 41">
            <a:extLst>
              <a:ext uri="{FF2B5EF4-FFF2-40B4-BE49-F238E27FC236}">
                <a16:creationId xmlns:a16="http://schemas.microsoft.com/office/drawing/2014/main" id="{2B542340-9593-5FB5-2934-26A81B445446}"/>
              </a:ext>
            </a:extLst>
          </p:cNvPr>
          <p:cNvGrpSpPr/>
          <p:nvPr/>
        </p:nvGrpSpPr>
        <p:grpSpPr>
          <a:xfrm>
            <a:off x="6867901" y="1764349"/>
            <a:ext cx="1522309" cy="1500336"/>
            <a:chOff x="8968591" y="2105493"/>
            <a:chExt cx="1808942" cy="1839298"/>
          </a:xfrm>
        </p:grpSpPr>
        <p:grpSp>
          <p:nvGrpSpPr>
            <p:cNvPr id="24" name="Grupo 23">
              <a:extLst>
                <a:ext uri="{FF2B5EF4-FFF2-40B4-BE49-F238E27FC236}">
                  <a16:creationId xmlns:a16="http://schemas.microsoft.com/office/drawing/2014/main" id="{F7172B82-D8E1-8CA9-405A-1CAC6439C8ED}"/>
                </a:ext>
              </a:extLst>
            </p:cNvPr>
            <p:cNvGrpSpPr/>
            <p:nvPr/>
          </p:nvGrpSpPr>
          <p:grpSpPr>
            <a:xfrm>
              <a:off x="8968591" y="2105493"/>
              <a:ext cx="1199342" cy="1229698"/>
              <a:chOff x="8968591" y="2105493"/>
              <a:chExt cx="1199342" cy="1229698"/>
            </a:xfrm>
          </p:grpSpPr>
          <p:sp>
            <p:nvSpPr>
              <p:cNvPr id="23" name="Rectángulo 22">
                <a:extLst>
                  <a:ext uri="{FF2B5EF4-FFF2-40B4-BE49-F238E27FC236}">
                    <a16:creationId xmlns:a16="http://schemas.microsoft.com/office/drawing/2014/main" id="{EA379EA0-91B2-C93D-3C5F-0F8E4CE78520}"/>
                  </a:ext>
                </a:extLst>
              </p:cNvPr>
              <p:cNvSpPr/>
              <p:nvPr/>
            </p:nvSpPr>
            <p:spPr>
              <a:xfrm>
                <a:off x="8968591" y="2105493"/>
                <a:ext cx="1199341" cy="1229698"/>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s-ES"/>
              </a:p>
            </p:txBody>
          </p:sp>
          <p:pic>
            <p:nvPicPr>
              <p:cNvPr id="22" name="Gráfico 21">
                <a:extLst>
                  <a:ext uri="{FF2B5EF4-FFF2-40B4-BE49-F238E27FC236}">
                    <a16:creationId xmlns:a16="http://schemas.microsoft.com/office/drawing/2014/main" id="{F67AEB48-FD47-762C-5F5A-A9C15359D2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68592" y="2135850"/>
                <a:ext cx="1199341" cy="1199341"/>
              </a:xfrm>
              <a:prstGeom prst="rect">
                <a:avLst/>
              </a:prstGeom>
            </p:spPr>
          </p:pic>
        </p:grpSp>
        <p:grpSp>
          <p:nvGrpSpPr>
            <p:cNvPr id="25" name="Grupo 24">
              <a:extLst>
                <a:ext uri="{FF2B5EF4-FFF2-40B4-BE49-F238E27FC236}">
                  <a16:creationId xmlns:a16="http://schemas.microsoft.com/office/drawing/2014/main" id="{25206AA3-94D2-5A29-C8C7-2DF528D561D6}"/>
                </a:ext>
              </a:extLst>
            </p:cNvPr>
            <p:cNvGrpSpPr/>
            <p:nvPr/>
          </p:nvGrpSpPr>
          <p:grpSpPr>
            <a:xfrm>
              <a:off x="9120991" y="2257893"/>
              <a:ext cx="1199342" cy="1229698"/>
              <a:chOff x="8968591" y="2105493"/>
              <a:chExt cx="1199342" cy="1229698"/>
            </a:xfrm>
          </p:grpSpPr>
          <p:sp>
            <p:nvSpPr>
              <p:cNvPr id="26" name="Rectángulo 25">
                <a:extLst>
                  <a:ext uri="{FF2B5EF4-FFF2-40B4-BE49-F238E27FC236}">
                    <a16:creationId xmlns:a16="http://schemas.microsoft.com/office/drawing/2014/main" id="{2B8CFFA6-719C-84EA-822C-24A4DD0F33F6}"/>
                  </a:ext>
                </a:extLst>
              </p:cNvPr>
              <p:cNvSpPr/>
              <p:nvPr/>
            </p:nvSpPr>
            <p:spPr>
              <a:xfrm>
                <a:off x="8968591" y="2105493"/>
                <a:ext cx="1199341" cy="1229698"/>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s-ES"/>
              </a:p>
            </p:txBody>
          </p:sp>
          <p:pic>
            <p:nvPicPr>
              <p:cNvPr id="27" name="Gráfico 26">
                <a:extLst>
                  <a:ext uri="{FF2B5EF4-FFF2-40B4-BE49-F238E27FC236}">
                    <a16:creationId xmlns:a16="http://schemas.microsoft.com/office/drawing/2014/main" id="{CFCAEA80-6555-966A-2C09-2B75FF15BBF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68592" y="2135850"/>
                <a:ext cx="1199341" cy="1199341"/>
              </a:xfrm>
              <a:prstGeom prst="rect">
                <a:avLst/>
              </a:prstGeom>
            </p:spPr>
          </p:pic>
        </p:grpSp>
        <p:grpSp>
          <p:nvGrpSpPr>
            <p:cNvPr id="28" name="Grupo 27">
              <a:extLst>
                <a:ext uri="{FF2B5EF4-FFF2-40B4-BE49-F238E27FC236}">
                  <a16:creationId xmlns:a16="http://schemas.microsoft.com/office/drawing/2014/main" id="{0640A059-960E-2256-E930-3C567A45B4FC}"/>
                </a:ext>
              </a:extLst>
            </p:cNvPr>
            <p:cNvGrpSpPr/>
            <p:nvPr/>
          </p:nvGrpSpPr>
          <p:grpSpPr>
            <a:xfrm>
              <a:off x="9273391" y="2410293"/>
              <a:ext cx="1199342" cy="1229698"/>
              <a:chOff x="8968591" y="2105493"/>
              <a:chExt cx="1199342" cy="1229698"/>
            </a:xfrm>
          </p:grpSpPr>
          <p:sp>
            <p:nvSpPr>
              <p:cNvPr id="29" name="Rectángulo 28">
                <a:extLst>
                  <a:ext uri="{FF2B5EF4-FFF2-40B4-BE49-F238E27FC236}">
                    <a16:creationId xmlns:a16="http://schemas.microsoft.com/office/drawing/2014/main" id="{927EB4DE-F529-93A9-64F4-6BA5D3F81ED7}"/>
                  </a:ext>
                </a:extLst>
              </p:cNvPr>
              <p:cNvSpPr/>
              <p:nvPr/>
            </p:nvSpPr>
            <p:spPr>
              <a:xfrm>
                <a:off x="8968591" y="2105493"/>
                <a:ext cx="1199341" cy="1229698"/>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s-ES"/>
              </a:p>
            </p:txBody>
          </p:sp>
          <p:pic>
            <p:nvPicPr>
              <p:cNvPr id="35" name="Gráfico 34">
                <a:extLst>
                  <a:ext uri="{FF2B5EF4-FFF2-40B4-BE49-F238E27FC236}">
                    <a16:creationId xmlns:a16="http://schemas.microsoft.com/office/drawing/2014/main" id="{266F6AA6-9BF6-ED3B-0BEF-AD75DECD009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68592" y="2135850"/>
                <a:ext cx="1199341" cy="1199341"/>
              </a:xfrm>
              <a:prstGeom prst="rect">
                <a:avLst/>
              </a:prstGeom>
            </p:spPr>
          </p:pic>
        </p:grpSp>
        <p:grpSp>
          <p:nvGrpSpPr>
            <p:cNvPr id="36" name="Grupo 35">
              <a:extLst>
                <a:ext uri="{FF2B5EF4-FFF2-40B4-BE49-F238E27FC236}">
                  <a16:creationId xmlns:a16="http://schemas.microsoft.com/office/drawing/2014/main" id="{43B73038-BE2E-2450-F5A9-6E3BF11BF597}"/>
                </a:ext>
              </a:extLst>
            </p:cNvPr>
            <p:cNvGrpSpPr/>
            <p:nvPr/>
          </p:nvGrpSpPr>
          <p:grpSpPr>
            <a:xfrm>
              <a:off x="9425791" y="2562693"/>
              <a:ext cx="1199342" cy="1229698"/>
              <a:chOff x="8968591" y="2105493"/>
              <a:chExt cx="1199342" cy="1229698"/>
            </a:xfrm>
          </p:grpSpPr>
          <p:sp>
            <p:nvSpPr>
              <p:cNvPr id="37" name="Rectángulo 36">
                <a:extLst>
                  <a:ext uri="{FF2B5EF4-FFF2-40B4-BE49-F238E27FC236}">
                    <a16:creationId xmlns:a16="http://schemas.microsoft.com/office/drawing/2014/main" id="{96F6615C-6CF9-F4A9-485B-0916D1931E32}"/>
                  </a:ext>
                </a:extLst>
              </p:cNvPr>
              <p:cNvSpPr/>
              <p:nvPr/>
            </p:nvSpPr>
            <p:spPr>
              <a:xfrm>
                <a:off x="8968591" y="2105493"/>
                <a:ext cx="1199341" cy="1229698"/>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s-ES"/>
              </a:p>
            </p:txBody>
          </p:sp>
          <p:pic>
            <p:nvPicPr>
              <p:cNvPr id="38" name="Gráfico 37">
                <a:extLst>
                  <a:ext uri="{FF2B5EF4-FFF2-40B4-BE49-F238E27FC236}">
                    <a16:creationId xmlns:a16="http://schemas.microsoft.com/office/drawing/2014/main" id="{5F1C4C12-2051-1831-44E0-7144483F339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68592" y="2135850"/>
                <a:ext cx="1199341" cy="1199341"/>
              </a:xfrm>
              <a:prstGeom prst="rect">
                <a:avLst/>
              </a:prstGeom>
            </p:spPr>
          </p:pic>
        </p:grpSp>
        <p:grpSp>
          <p:nvGrpSpPr>
            <p:cNvPr id="39" name="Grupo 38">
              <a:extLst>
                <a:ext uri="{FF2B5EF4-FFF2-40B4-BE49-F238E27FC236}">
                  <a16:creationId xmlns:a16="http://schemas.microsoft.com/office/drawing/2014/main" id="{2B5D7B6C-32CF-9E2C-192D-600E45B353EB}"/>
                </a:ext>
              </a:extLst>
            </p:cNvPr>
            <p:cNvGrpSpPr/>
            <p:nvPr/>
          </p:nvGrpSpPr>
          <p:grpSpPr>
            <a:xfrm>
              <a:off x="9578191" y="2715093"/>
              <a:ext cx="1199342" cy="1229698"/>
              <a:chOff x="8968591" y="2105493"/>
              <a:chExt cx="1199342" cy="1229698"/>
            </a:xfrm>
          </p:grpSpPr>
          <p:sp>
            <p:nvSpPr>
              <p:cNvPr id="40" name="Rectángulo 39">
                <a:extLst>
                  <a:ext uri="{FF2B5EF4-FFF2-40B4-BE49-F238E27FC236}">
                    <a16:creationId xmlns:a16="http://schemas.microsoft.com/office/drawing/2014/main" id="{0F5C0B4B-8CB7-735B-85E3-0441E9857D5F}"/>
                  </a:ext>
                </a:extLst>
              </p:cNvPr>
              <p:cNvSpPr/>
              <p:nvPr/>
            </p:nvSpPr>
            <p:spPr>
              <a:xfrm>
                <a:off x="8968591" y="2105493"/>
                <a:ext cx="1199341" cy="1229698"/>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s-ES" dirty="0"/>
              </a:p>
            </p:txBody>
          </p:sp>
          <p:pic>
            <p:nvPicPr>
              <p:cNvPr id="41" name="Gráfico 40">
                <a:extLst>
                  <a:ext uri="{FF2B5EF4-FFF2-40B4-BE49-F238E27FC236}">
                    <a16:creationId xmlns:a16="http://schemas.microsoft.com/office/drawing/2014/main" id="{F433B991-D074-D5A2-3DBC-99158B3ED1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68592" y="2135850"/>
                <a:ext cx="1199341" cy="1199341"/>
              </a:xfrm>
              <a:prstGeom prst="rect">
                <a:avLst/>
              </a:prstGeom>
            </p:spPr>
          </p:pic>
        </p:grpSp>
      </p:grpSp>
      <p:grpSp>
        <p:nvGrpSpPr>
          <p:cNvPr id="75" name="Grupo 74">
            <a:extLst>
              <a:ext uri="{FF2B5EF4-FFF2-40B4-BE49-F238E27FC236}">
                <a16:creationId xmlns:a16="http://schemas.microsoft.com/office/drawing/2014/main" id="{B879D5D9-2D55-E14C-8A7F-07B5D28561E3}"/>
              </a:ext>
            </a:extLst>
          </p:cNvPr>
          <p:cNvGrpSpPr/>
          <p:nvPr/>
        </p:nvGrpSpPr>
        <p:grpSpPr>
          <a:xfrm>
            <a:off x="9748664" y="4193910"/>
            <a:ext cx="1666840" cy="1629828"/>
            <a:chOff x="7534884" y="4739472"/>
            <a:chExt cx="1666840" cy="1629828"/>
          </a:xfrm>
        </p:grpSpPr>
        <p:grpSp>
          <p:nvGrpSpPr>
            <p:cNvPr id="59" name="Grupo 58">
              <a:extLst>
                <a:ext uri="{FF2B5EF4-FFF2-40B4-BE49-F238E27FC236}">
                  <a16:creationId xmlns:a16="http://schemas.microsoft.com/office/drawing/2014/main" id="{D03FD95E-D8CF-6376-1785-BB707DD38DCC}"/>
                </a:ext>
              </a:extLst>
            </p:cNvPr>
            <p:cNvGrpSpPr/>
            <p:nvPr/>
          </p:nvGrpSpPr>
          <p:grpSpPr>
            <a:xfrm>
              <a:off x="7534884" y="4739472"/>
              <a:ext cx="1057240" cy="1020228"/>
              <a:chOff x="9115647" y="5160335"/>
              <a:chExt cx="1057240" cy="1020228"/>
            </a:xfrm>
          </p:grpSpPr>
          <p:sp>
            <p:nvSpPr>
              <p:cNvPr id="58" name="Rectángulo 57">
                <a:extLst>
                  <a:ext uri="{FF2B5EF4-FFF2-40B4-BE49-F238E27FC236}">
                    <a16:creationId xmlns:a16="http://schemas.microsoft.com/office/drawing/2014/main" id="{EACC77C3-CFB4-5977-198E-7831AC937F2A}"/>
                  </a:ext>
                </a:extLst>
              </p:cNvPr>
              <p:cNvSpPr/>
              <p:nvPr/>
            </p:nvSpPr>
            <p:spPr>
              <a:xfrm>
                <a:off x="9115647" y="5160335"/>
                <a:ext cx="1057240" cy="102022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5" name="Gráfico 54" descr="Diagrama de dispersión con relleno sólido">
                <a:extLst>
                  <a:ext uri="{FF2B5EF4-FFF2-40B4-BE49-F238E27FC236}">
                    <a16:creationId xmlns:a16="http://schemas.microsoft.com/office/drawing/2014/main" id="{A2E275A5-CBC5-3EF0-C1AA-F4E67D6423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87067" y="5160335"/>
                <a:ext cx="914400" cy="914400"/>
              </a:xfrm>
              <a:prstGeom prst="rect">
                <a:avLst/>
              </a:prstGeom>
            </p:spPr>
          </p:pic>
        </p:grpSp>
        <p:grpSp>
          <p:nvGrpSpPr>
            <p:cNvPr id="60" name="Grupo 59">
              <a:extLst>
                <a:ext uri="{FF2B5EF4-FFF2-40B4-BE49-F238E27FC236}">
                  <a16:creationId xmlns:a16="http://schemas.microsoft.com/office/drawing/2014/main" id="{0C94A0FC-CCB7-424C-8926-B178E3D254C9}"/>
                </a:ext>
              </a:extLst>
            </p:cNvPr>
            <p:cNvGrpSpPr/>
            <p:nvPr/>
          </p:nvGrpSpPr>
          <p:grpSpPr>
            <a:xfrm>
              <a:off x="7687284" y="4891872"/>
              <a:ext cx="1057240" cy="1020228"/>
              <a:chOff x="9115647" y="5160335"/>
              <a:chExt cx="1057240" cy="1020228"/>
            </a:xfrm>
          </p:grpSpPr>
          <p:sp>
            <p:nvSpPr>
              <p:cNvPr id="61" name="Rectángulo 60">
                <a:extLst>
                  <a:ext uri="{FF2B5EF4-FFF2-40B4-BE49-F238E27FC236}">
                    <a16:creationId xmlns:a16="http://schemas.microsoft.com/office/drawing/2014/main" id="{879A48E2-7787-0F86-B3C5-9F7D68889B65}"/>
                  </a:ext>
                </a:extLst>
              </p:cNvPr>
              <p:cNvSpPr/>
              <p:nvPr/>
            </p:nvSpPr>
            <p:spPr>
              <a:xfrm>
                <a:off x="9115647" y="5160335"/>
                <a:ext cx="1057240" cy="102022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2" name="Gráfico 61" descr="Diagrama de dispersión con relleno sólido">
                <a:extLst>
                  <a:ext uri="{FF2B5EF4-FFF2-40B4-BE49-F238E27FC236}">
                    <a16:creationId xmlns:a16="http://schemas.microsoft.com/office/drawing/2014/main" id="{9CF106A3-66E1-F00A-2185-7A8A152798B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87067" y="5160335"/>
                <a:ext cx="914400" cy="914400"/>
              </a:xfrm>
              <a:prstGeom prst="rect">
                <a:avLst/>
              </a:prstGeom>
            </p:spPr>
          </p:pic>
        </p:grpSp>
        <p:grpSp>
          <p:nvGrpSpPr>
            <p:cNvPr id="63" name="Grupo 62">
              <a:extLst>
                <a:ext uri="{FF2B5EF4-FFF2-40B4-BE49-F238E27FC236}">
                  <a16:creationId xmlns:a16="http://schemas.microsoft.com/office/drawing/2014/main" id="{975C61C0-4EF0-DD8A-D659-24CE5E1168A1}"/>
                </a:ext>
              </a:extLst>
            </p:cNvPr>
            <p:cNvGrpSpPr/>
            <p:nvPr/>
          </p:nvGrpSpPr>
          <p:grpSpPr>
            <a:xfrm>
              <a:off x="7839684" y="5044272"/>
              <a:ext cx="1057240" cy="1020228"/>
              <a:chOff x="9115647" y="5160335"/>
              <a:chExt cx="1057240" cy="1020228"/>
            </a:xfrm>
          </p:grpSpPr>
          <p:sp>
            <p:nvSpPr>
              <p:cNvPr id="64" name="Rectángulo 63">
                <a:extLst>
                  <a:ext uri="{FF2B5EF4-FFF2-40B4-BE49-F238E27FC236}">
                    <a16:creationId xmlns:a16="http://schemas.microsoft.com/office/drawing/2014/main" id="{0935F2DB-DA2F-F810-5FED-726D9B1A477C}"/>
                  </a:ext>
                </a:extLst>
              </p:cNvPr>
              <p:cNvSpPr/>
              <p:nvPr/>
            </p:nvSpPr>
            <p:spPr>
              <a:xfrm>
                <a:off x="9115647" y="5160335"/>
                <a:ext cx="1057240" cy="102022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5" name="Gráfico 64" descr="Diagrama de dispersión con relleno sólido">
                <a:extLst>
                  <a:ext uri="{FF2B5EF4-FFF2-40B4-BE49-F238E27FC236}">
                    <a16:creationId xmlns:a16="http://schemas.microsoft.com/office/drawing/2014/main" id="{527D9138-B2B8-85EE-71D2-09C5B9F9294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87067" y="5160335"/>
                <a:ext cx="914400" cy="914400"/>
              </a:xfrm>
              <a:prstGeom prst="rect">
                <a:avLst/>
              </a:prstGeom>
            </p:spPr>
          </p:pic>
        </p:grpSp>
        <p:grpSp>
          <p:nvGrpSpPr>
            <p:cNvPr id="66" name="Grupo 65">
              <a:extLst>
                <a:ext uri="{FF2B5EF4-FFF2-40B4-BE49-F238E27FC236}">
                  <a16:creationId xmlns:a16="http://schemas.microsoft.com/office/drawing/2014/main" id="{17F286D1-19C7-C41F-F057-0B5968AED6E0}"/>
                </a:ext>
              </a:extLst>
            </p:cNvPr>
            <p:cNvGrpSpPr/>
            <p:nvPr/>
          </p:nvGrpSpPr>
          <p:grpSpPr>
            <a:xfrm>
              <a:off x="7992084" y="5196672"/>
              <a:ext cx="1057240" cy="1020228"/>
              <a:chOff x="9115647" y="5160335"/>
              <a:chExt cx="1057240" cy="1020228"/>
            </a:xfrm>
          </p:grpSpPr>
          <p:sp>
            <p:nvSpPr>
              <p:cNvPr id="67" name="Rectángulo 66">
                <a:extLst>
                  <a:ext uri="{FF2B5EF4-FFF2-40B4-BE49-F238E27FC236}">
                    <a16:creationId xmlns:a16="http://schemas.microsoft.com/office/drawing/2014/main" id="{01D08B3B-6D65-4FBA-D85D-8465D1AAFCE5}"/>
                  </a:ext>
                </a:extLst>
              </p:cNvPr>
              <p:cNvSpPr/>
              <p:nvPr/>
            </p:nvSpPr>
            <p:spPr>
              <a:xfrm>
                <a:off x="9115647" y="5160335"/>
                <a:ext cx="1057240" cy="102022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8" name="Gráfico 67" descr="Diagrama de dispersión con relleno sólido">
                <a:extLst>
                  <a:ext uri="{FF2B5EF4-FFF2-40B4-BE49-F238E27FC236}">
                    <a16:creationId xmlns:a16="http://schemas.microsoft.com/office/drawing/2014/main" id="{65A2F8ED-997E-6B9C-0088-5A8F15DE5B7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87067" y="5160335"/>
                <a:ext cx="914400" cy="914400"/>
              </a:xfrm>
              <a:prstGeom prst="rect">
                <a:avLst/>
              </a:prstGeom>
            </p:spPr>
          </p:pic>
        </p:grpSp>
        <p:grpSp>
          <p:nvGrpSpPr>
            <p:cNvPr id="69" name="Grupo 68">
              <a:extLst>
                <a:ext uri="{FF2B5EF4-FFF2-40B4-BE49-F238E27FC236}">
                  <a16:creationId xmlns:a16="http://schemas.microsoft.com/office/drawing/2014/main" id="{88E20FEB-70FC-7AC4-5EE1-CAA963B5A0C1}"/>
                </a:ext>
              </a:extLst>
            </p:cNvPr>
            <p:cNvGrpSpPr/>
            <p:nvPr/>
          </p:nvGrpSpPr>
          <p:grpSpPr>
            <a:xfrm>
              <a:off x="8144484" y="5349072"/>
              <a:ext cx="1057240" cy="1020228"/>
              <a:chOff x="9115647" y="5160335"/>
              <a:chExt cx="1057240" cy="1020228"/>
            </a:xfrm>
          </p:grpSpPr>
          <p:sp>
            <p:nvSpPr>
              <p:cNvPr id="70" name="Rectángulo 69">
                <a:extLst>
                  <a:ext uri="{FF2B5EF4-FFF2-40B4-BE49-F238E27FC236}">
                    <a16:creationId xmlns:a16="http://schemas.microsoft.com/office/drawing/2014/main" id="{AD01FD20-E353-DA80-61FD-07CA02298EB5}"/>
                  </a:ext>
                </a:extLst>
              </p:cNvPr>
              <p:cNvSpPr/>
              <p:nvPr/>
            </p:nvSpPr>
            <p:spPr>
              <a:xfrm>
                <a:off x="9115647" y="5160335"/>
                <a:ext cx="1057240" cy="102022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1" name="Gráfico 70" descr="Diagrama de dispersión con relleno sólido">
                <a:extLst>
                  <a:ext uri="{FF2B5EF4-FFF2-40B4-BE49-F238E27FC236}">
                    <a16:creationId xmlns:a16="http://schemas.microsoft.com/office/drawing/2014/main" id="{3C019811-13A4-F57B-24D2-2B8C80DFCE1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87067" y="5160335"/>
                <a:ext cx="914400" cy="914400"/>
              </a:xfrm>
              <a:prstGeom prst="rect">
                <a:avLst/>
              </a:prstGeom>
            </p:spPr>
          </p:pic>
        </p:grpSp>
      </p:grpSp>
      <p:sp>
        <p:nvSpPr>
          <p:cNvPr id="85" name="CuadroTexto 84">
            <a:extLst>
              <a:ext uri="{FF2B5EF4-FFF2-40B4-BE49-F238E27FC236}">
                <a16:creationId xmlns:a16="http://schemas.microsoft.com/office/drawing/2014/main" id="{D2307FAD-34E0-A5E7-9905-2C23E8AC781E}"/>
              </a:ext>
            </a:extLst>
          </p:cNvPr>
          <p:cNvSpPr txBox="1"/>
          <p:nvPr/>
        </p:nvSpPr>
        <p:spPr>
          <a:xfrm>
            <a:off x="9727398" y="5870513"/>
            <a:ext cx="2014171" cy="646331"/>
          </a:xfrm>
          <a:prstGeom prst="rect">
            <a:avLst/>
          </a:prstGeom>
          <a:noFill/>
        </p:spPr>
        <p:txBody>
          <a:bodyPr wrap="square" rtlCol="0">
            <a:spAutoFit/>
          </a:bodyPr>
          <a:lstStyle/>
          <a:p>
            <a:pPr algn="ctr"/>
            <a:r>
              <a:rPr lang="es-ES" dirty="0"/>
              <a:t>Segmentación con GMM</a:t>
            </a:r>
          </a:p>
        </p:txBody>
      </p:sp>
      <p:sp>
        <p:nvSpPr>
          <p:cNvPr id="7" name="Título 1">
            <a:extLst>
              <a:ext uri="{FF2B5EF4-FFF2-40B4-BE49-F238E27FC236}">
                <a16:creationId xmlns:a16="http://schemas.microsoft.com/office/drawing/2014/main" id="{2C329815-7D66-2B6F-019F-4199496A5CDE}"/>
              </a:ext>
            </a:extLst>
          </p:cNvPr>
          <p:cNvSpPr txBox="1">
            <a:spLocks/>
          </p:cNvSpPr>
          <p:nvPr/>
        </p:nvSpPr>
        <p:spPr>
          <a:xfrm>
            <a:off x="1018162" y="310468"/>
            <a:ext cx="8648771" cy="1192717"/>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MODELADO I</a:t>
            </a:r>
          </a:p>
        </p:txBody>
      </p:sp>
      <p:cxnSp>
        <p:nvCxnSpPr>
          <p:cNvPr id="10" name="Conector recto 9">
            <a:extLst>
              <a:ext uri="{FF2B5EF4-FFF2-40B4-BE49-F238E27FC236}">
                <a16:creationId xmlns:a16="http://schemas.microsoft.com/office/drawing/2014/main" id="{D772D17A-C5BE-684B-23AD-8B59A63C62C0}"/>
              </a:ext>
            </a:extLst>
          </p:cNvPr>
          <p:cNvCxnSpPr>
            <a:cxnSpLocks/>
          </p:cNvCxnSpPr>
          <p:nvPr/>
        </p:nvCxnSpPr>
        <p:spPr>
          <a:xfrm>
            <a:off x="960780" y="1503185"/>
            <a:ext cx="10213058"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Cerrar llave 7">
            <a:extLst>
              <a:ext uri="{FF2B5EF4-FFF2-40B4-BE49-F238E27FC236}">
                <a16:creationId xmlns:a16="http://schemas.microsoft.com/office/drawing/2014/main" id="{8FB2C70C-1B05-75DB-E926-D2FB92D96A37}"/>
              </a:ext>
            </a:extLst>
          </p:cNvPr>
          <p:cNvSpPr/>
          <p:nvPr/>
        </p:nvSpPr>
        <p:spPr>
          <a:xfrm flipH="1">
            <a:off x="5093959" y="2298760"/>
            <a:ext cx="718844" cy="2557664"/>
          </a:xfrm>
          <a:prstGeom prst="rightBrace">
            <a:avLst>
              <a:gd name="adj1" fmla="val 8333"/>
              <a:gd name="adj2" fmla="val 35592"/>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306089401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30817-FE6B-9096-A4F0-C440BB539C55}"/>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D8F5125E-E1AD-79CE-5A8A-4AB3E37B94A0}"/>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8E6AB164-AAE6-211D-E726-90516D34C37B}"/>
              </a:ext>
            </a:extLst>
          </p:cNvPr>
          <p:cNvSpPr>
            <a:spLocks noGrp="1"/>
          </p:cNvSpPr>
          <p:nvPr>
            <p:ph type="sldNum" sz="quarter" idx="12"/>
          </p:nvPr>
        </p:nvSpPr>
        <p:spPr/>
        <p:txBody>
          <a:bodyPr/>
          <a:lstStyle/>
          <a:p>
            <a:pPr rtl="0"/>
            <a:fld id="{DD84031F-D6BF-4677-B12E-7D8B88BA70F7}" type="slidenum">
              <a:rPr lang="en-US" smtClean="0"/>
              <a:t>16</a:t>
            </a:fld>
            <a:endParaRPr lang="en-US"/>
          </a:p>
        </p:txBody>
      </p:sp>
      <p:pic>
        <p:nvPicPr>
          <p:cNvPr id="32" name="Imagen 31">
            <a:extLst>
              <a:ext uri="{FF2B5EF4-FFF2-40B4-BE49-F238E27FC236}">
                <a16:creationId xmlns:a16="http://schemas.microsoft.com/office/drawing/2014/main" id="{8A748896-05DC-4E0F-5CBB-8686FBF5DF75}"/>
              </a:ext>
            </a:extLst>
          </p:cNvPr>
          <p:cNvPicPr>
            <a:picLocks noChangeAspect="1"/>
          </p:cNvPicPr>
          <p:nvPr/>
        </p:nvPicPr>
        <p:blipFill>
          <a:blip r:embed="rId3"/>
          <a:stretch>
            <a:fillRect/>
          </a:stretch>
        </p:blipFill>
        <p:spPr>
          <a:xfrm>
            <a:off x="9918084" y="99023"/>
            <a:ext cx="1871580" cy="799949"/>
          </a:xfrm>
          <a:prstGeom prst="rect">
            <a:avLst/>
          </a:prstGeom>
        </p:spPr>
      </p:pic>
      <p:sp>
        <p:nvSpPr>
          <p:cNvPr id="33" name="Título 1">
            <a:extLst>
              <a:ext uri="{FF2B5EF4-FFF2-40B4-BE49-F238E27FC236}">
                <a16:creationId xmlns:a16="http://schemas.microsoft.com/office/drawing/2014/main" id="{4A617E7E-C76C-4AB6-59FD-BAE00682B638}"/>
              </a:ext>
            </a:extLst>
          </p:cNvPr>
          <p:cNvSpPr>
            <a:spLocks noGrp="1"/>
          </p:cNvSpPr>
          <p:nvPr>
            <p:ph type="title"/>
          </p:nvPr>
        </p:nvSpPr>
        <p:spPr>
          <a:xfrm>
            <a:off x="734830" y="400831"/>
            <a:ext cx="6792069" cy="627114"/>
          </a:xfrm>
        </p:spPr>
        <p:txBody>
          <a:bodyPr anchor="b">
            <a:normAutofit/>
          </a:bodyPr>
          <a:lstStyle/>
          <a:p>
            <a:r>
              <a:rPr lang="es-ES" dirty="0">
                <a:solidFill>
                  <a:srgbClr val="FF6600"/>
                </a:solidFill>
              </a:rPr>
              <a:t>MODELADO II</a:t>
            </a:r>
          </a:p>
        </p:txBody>
      </p:sp>
      <p:sp>
        <p:nvSpPr>
          <p:cNvPr id="34" name="Título 1">
            <a:extLst>
              <a:ext uri="{FF2B5EF4-FFF2-40B4-BE49-F238E27FC236}">
                <a16:creationId xmlns:a16="http://schemas.microsoft.com/office/drawing/2014/main" id="{737DE596-DEDE-02F9-CF10-DD554D719A26}"/>
              </a:ext>
            </a:extLst>
          </p:cNvPr>
          <p:cNvSpPr txBox="1">
            <a:spLocks/>
          </p:cNvSpPr>
          <p:nvPr/>
        </p:nvSpPr>
        <p:spPr>
          <a:xfrm>
            <a:off x="750328" y="423178"/>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s-ES" sz="2400" dirty="0">
              <a:solidFill>
                <a:srgbClr val="FF6600"/>
              </a:solidFill>
            </a:endParaRPr>
          </a:p>
        </p:txBody>
      </p:sp>
      <p:cxnSp>
        <p:nvCxnSpPr>
          <p:cNvPr id="35" name="Conector recto 34">
            <a:extLst>
              <a:ext uri="{FF2B5EF4-FFF2-40B4-BE49-F238E27FC236}">
                <a16:creationId xmlns:a16="http://schemas.microsoft.com/office/drawing/2014/main" id="{7FFE9199-7303-1F04-29CD-61F77904A45F}"/>
              </a:ext>
            </a:extLst>
          </p:cNvPr>
          <p:cNvCxnSpPr>
            <a:cxnSpLocks/>
          </p:cNvCxnSpPr>
          <p:nvPr/>
        </p:nvCxnSpPr>
        <p:spPr>
          <a:xfrm>
            <a:off x="821410" y="1417812"/>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11" name="Imagen 10">
            <a:extLst>
              <a:ext uri="{FF2B5EF4-FFF2-40B4-BE49-F238E27FC236}">
                <a16:creationId xmlns:a16="http://schemas.microsoft.com/office/drawing/2014/main" id="{D2F7C655-765B-9032-1541-94137C73BEB2}"/>
              </a:ext>
            </a:extLst>
          </p:cNvPr>
          <p:cNvPicPr>
            <a:picLocks noChangeAspect="1"/>
          </p:cNvPicPr>
          <p:nvPr/>
        </p:nvPicPr>
        <p:blipFill>
          <a:blip r:embed="rId4"/>
          <a:stretch>
            <a:fillRect/>
          </a:stretch>
        </p:blipFill>
        <p:spPr>
          <a:xfrm>
            <a:off x="4919479" y="1756546"/>
            <a:ext cx="6548265" cy="4036243"/>
          </a:xfrm>
          <a:prstGeom prst="rect">
            <a:avLst/>
          </a:prstGeom>
        </p:spPr>
      </p:pic>
      <p:sp>
        <p:nvSpPr>
          <p:cNvPr id="12" name="CuadroTexto 11">
            <a:extLst>
              <a:ext uri="{FF2B5EF4-FFF2-40B4-BE49-F238E27FC236}">
                <a16:creationId xmlns:a16="http://schemas.microsoft.com/office/drawing/2014/main" id="{90B37904-3175-FAC8-C64A-03D9B2A2AD91}"/>
              </a:ext>
            </a:extLst>
          </p:cNvPr>
          <p:cNvSpPr txBox="1"/>
          <p:nvPr/>
        </p:nvSpPr>
        <p:spPr>
          <a:xfrm>
            <a:off x="898901" y="1807680"/>
            <a:ext cx="3750590" cy="32778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dirty="0"/>
              <a:t>Se entrena un </a:t>
            </a:r>
            <a:r>
              <a:rPr lang="es-ES" dirty="0" err="1"/>
              <a:t>Autoencoder</a:t>
            </a:r>
            <a:r>
              <a:rPr lang="es-ES" dirty="0"/>
              <a:t> para  reducir dimensionalidad.</a:t>
            </a:r>
          </a:p>
          <a:p>
            <a:pPr marL="285750" indent="-285750">
              <a:lnSpc>
                <a:spcPct val="150000"/>
              </a:lnSpc>
              <a:buFont typeface="Arial" panose="020B0604020202020204" pitchFamily="34" charset="0"/>
              <a:buChar char="•"/>
            </a:pPr>
            <a:r>
              <a:rPr lang="es-ES" dirty="0"/>
              <a:t>Sin perdida de </a:t>
            </a:r>
            <a:r>
              <a:rPr lang="es-ES" dirty="0" err="1"/>
              <a:t>Clustering</a:t>
            </a:r>
            <a:r>
              <a:rPr lang="es-ES" dirty="0"/>
              <a:t> se eligen 4-5 clústeres.</a:t>
            </a:r>
          </a:p>
          <a:p>
            <a:pPr marL="285750" indent="-285750">
              <a:lnSpc>
                <a:spcPct val="150000"/>
              </a:lnSpc>
              <a:buFont typeface="Arial" panose="020B0604020202020204" pitchFamily="34" charset="0"/>
              <a:buChar char="•"/>
            </a:pPr>
            <a:r>
              <a:rPr lang="es-ES" dirty="0"/>
              <a:t>Perdida de </a:t>
            </a:r>
            <a:r>
              <a:rPr lang="es-ES" dirty="0" err="1"/>
              <a:t>Clustering</a:t>
            </a:r>
            <a:r>
              <a:rPr lang="es-ES" dirty="0"/>
              <a:t> y perdida de reconstrucción.</a:t>
            </a:r>
          </a:p>
          <a:p>
            <a:pPr marL="285750" indent="-285750">
              <a:lnSpc>
                <a:spcPct val="150000"/>
              </a:lnSpc>
              <a:buFont typeface="Arial" panose="020B0604020202020204" pitchFamily="34" charset="0"/>
              <a:buChar char="•"/>
            </a:pPr>
            <a:r>
              <a:rPr lang="es-ES" dirty="0"/>
              <a:t>Todas las ventanas de tiempo.</a:t>
            </a:r>
          </a:p>
          <a:p>
            <a:pPr marL="285750" indent="-285750">
              <a:buFont typeface="Arial" panose="020B0604020202020204" pitchFamily="34" charset="0"/>
              <a:buChar char="•"/>
            </a:pPr>
            <a:endParaRPr lang="es-ES" dirty="0"/>
          </a:p>
        </p:txBody>
      </p:sp>
      <p:sp>
        <p:nvSpPr>
          <p:cNvPr id="2" name="Título 1">
            <a:extLst>
              <a:ext uri="{FF2B5EF4-FFF2-40B4-BE49-F238E27FC236}">
                <a16:creationId xmlns:a16="http://schemas.microsoft.com/office/drawing/2014/main" id="{94030DC7-73CE-C213-C21B-7EFD811DC4DD}"/>
              </a:ext>
            </a:extLst>
          </p:cNvPr>
          <p:cNvSpPr txBox="1">
            <a:spLocks/>
          </p:cNvSpPr>
          <p:nvPr/>
        </p:nvSpPr>
        <p:spPr>
          <a:xfrm>
            <a:off x="734830" y="813046"/>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800" dirty="0"/>
              <a:t>AUTOENCODER</a:t>
            </a:r>
          </a:p>
        </p:txBody>
      </p:sp>
    </p:spTree>
    <p:extLst>
      <p:ext uri="{BB962C8B-B14F-4D97-AF65-F5344CB8AC3E}">
        <p14:creationId xmlns:p14="http://schemas.microsoft.com/office/powerpoint/2010/main" val="27935012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5EB4C-02B0-B2C9-1C6C-4B6AFC9F66BD}"/>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2DBAD0A5-C14D-1BE1-7843-AD020684D21C}"/>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69D03327-6D49-C04C-4F84-460B976FB58B}"/>
              </a:ext>
            </a:extLst>
          </p:cNvPr>
          <p:cNvSpPr>
            <a:spLocks noGrp="1"/>
          </p:cNvSpPr>
          <p:nvPr>
            <p:ph type="sldNum" sz="quarter" idx="12"/>
          </p:nvPr>
        </p:nvSpPr>
        <p:spPr/>
        <p:txBody>
          <a:bodyPr/>
          <a:lstStyle/>
          <a:p>
            <a:pPr rtl="0"/>
            <a:fld id="{DD84031F-D6BF-4677-B12E-7D8B88BA70F7}" type="slidenum">
              <a:rPr lang="en-US" smtClean="0"/>
              <a:t>17</a:t>
            </a:fld>
            <a:endParaRPr lang="en-US"/>
          </a:p>
        </p:txBody>
      </p:sp>
      <p:pic>
        <p:nvPicPr>
          <p:cNvPr id="32" name="Imagen 31">
            <a:extLst>
              <a:ext uri="{FF2B5EF4-FFF2-40B4-BE49-F238E27FC236}">
                <a16:creationId xmlns:a16="http://schemas.microsoft.com/office/drawing/2014/main" id="{4D74B954-F12E-B682-E37A-E9A3810ADB48}"/>
              </a:ext>
            </a:extLst>
          </p:cNvPr>
          <p:cNvPicPr>
            <a:picLocks noChangeAspect="1"/>
          </p:cNvPicPr>
          <p:nvPr/>
        </p:nvPicPr>
        <p:blipFill>
          <a:blip r:embed="rId3"/>
          <a:stretch>
            <a:fillRect/>
          </a:stretch>
        </p:blipFill>
        <p:spPr>
          <a:xfrm>
            <a:off x="9918084" y="99023"/>
            <a:ext cx="1871580" cy="799949"/>
          </a:xfrm>
          <a:prstGeom prst="rect">
            <a:avLst/>
          </a:prstGeom>
        </p:spPr>
      </p:pic>
      <p:sp>
        <p:nvSpPr>
          <p:cNvPr id="33" name="Título 1">
            <a:extLst>
              <a:ext uri="{FF2B5EF4-FFF2-40B4-BE49-F238E27FC236}">
                <a16:creationId xmlns:a16="http://schemas.microsoft.com/office/drawing/2014/main" id="{CBD2413E-6454-548B-3ACB-0AF6CBF6EF5F}"/>
              </a:ext>
            </a:extLst>
          </p:cNvPr>
          <p:cNvSpPr>
            <a:spLocks noGrp="1"/>
          </p:cNvSpPr>
          <p:nvPr>
            <p:ph type="title"/>
          </p:nvPr>
        </p:nvSpPr>
        <p:spPr>
          <a:xfrm>
            <a:off x="734830" y="358833"/>
            <a:ext cx="6792069" cy="627114"/>
          </a:xfrm>
        </p:spPr>
        <p:txBody>
          <a:bodyPr anchor="b">
            <a:normAutofit/>
          </a:bodyPr>
          <a:lstStyle/>
          <a:p>
            <a:r>
              <a:rPr lang="es-ES" dirty="0"/>
              <a:t>MODELADO III</a:t>
            </a:r>
          </a:p>
        </p:txBody>
      </p:sp>
      <p:sp>
        <p:nvSpPr>
          <p:cNvPr id="34" name="Título 1">
            <a:extLst>
              <a:ext uri="{FF2B5EF4-FFF2-40B4-BE49-F238E27FC236}">
                <a16:creationId xmlns:a16="http://schemas.microsoft.com/office/drawing/2014/main" id="{C5995A40-208A-B932-7D3E-0FD8D0697C65}"/>
              </a:ext>
            </a:extLst>
          </p:cNvPr>
          <p:cNvSpPr txBox="1">
            <a:spLocks/>
          </p:cNvSpPr>
          <p:nvPr/>
        </p:nvSpPr>
        <p:spPr>
          <a:xfrm>
            <a:off x="750328" y="790698"/>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RESULTADOS MODELADO</a:t>
            </a:r>
          </a:p>
        </p:txBody>
      </p:sp>
      <p:cxnSp>
        <p:nvCxnSpPr>
          <p:cNvPr id="35" name="Conector recto 34">
            <a:extLst>
              <a:ext uri="{FF2B5EF4-FFF2-40B4-BE49-F238E27FC236}">
                <a16:creationId xmlns:a16="http://schemas.microsoft.com/office/drawing/2014/main" id="{6A95F6C0-E775-5C15-8F56-3D740BE1CC87}"/>
              </a:ext>
            </a:extLst>
          </p:cNvPr>
          <p:cNvCxnSpPr>
            <a:cxnSpLocks/>
          </p:cNvCxnSpPr>
          <p:nvPr/>
        </p:nvCxnSpPr>
        <p:spPr>
          <a:xfrm>
            <a:off x="821410" y="1417812"/>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2" name="Imagen 1">
            <a:extLst>
              <a:ext uri="{FF2B5EF4-FFF2-40B4-BE49-F238E27FC236}">
                <a16:creationId xmlns:a16="http://schemas.microsoft.com/office/drawing/2014/main" id="{BEAEC766-B53B-ABC1-8C50-838BE8D4422B}"/>
              </a:ext>
            </a:extLst>
          </p:cNvPr>
          <p:cNvPicPr>
            <a:picLocks noChangeAspect="1"/>
          </p:cNvPicPr>
          <p:nvPr/>
        </p:nvPicPr>
        <p:blipFill>
          <a:blip r:embed="rId4"/>
          <a:stretch>
            <a:fillRect/>
          </a:stretch>
        </p:blipFill>
        <p:spPr>
          <a:xfrm>
            <a:off x="6250615" y="2156037"/>
            <a:ext cx="5638224" cy="3440092"/>
          </a:xfrm>
          <a:prstGeom prst="rect">
            <a:avLst/>
          </a:prstGeom>
        </p:spPr>
      </p:pic>
      <p:pic>
        <p:nvPicPr>
          <p:cNvPr id="5" name="Imagen 4">
            <a:extLst>
              <a:ext uri="{FF2B5EF4-FFF2-40B4-BE49-F238E27FC236}">
                <a16:creationId xmlns:a16="http://schemas.microsoft.com/office/drawing/2014/main" id="{3794CCFB-4C6F-1781-38E8-56049D9E9875}"/>
              </a:ext>
            </a:extLst>
          </p:cNvPr>
          <p:cNvPicPr>
            <a:picLocks noChangeAspect="1"/>
          </p:cNvPicPr>
          <p:nvPr/>
        </p:nvPicPr>
        <p:blipFill rotWithShape="1">
          <a:blip r:embed="rId5"/>
          <a:srcRect r="55691"/>
          <a:stretch>
            <a:fillRect/>
          </a:stretch>
        </p:blipFill>
        <p:spPr bwMode="auto">
          <a:xfrm>
            <a:off x="538148" y="2146105"/>
            <a:ext cx="5543813" cy="345002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4415332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22E22-78E1-41C4-2D7E-28F8BDDD699D}"/>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F60391C7-7F3A-58E1-7A37-778407F82A6C}"/>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D4557023-1AD9-FFDD-C92F-9C0B7A9288B5}"/>
              </a:ext>
            </a:extLst>
          </p:cNvPr>
          <p:cNvSpPr>
            <a:spLocks noGrp="1"/>
          </p:cNvSpPr>
          <p:nvPr>
            <p:ph type="sldNum" sz="quarter" idx="12"/>
          </p:nvPr>
        </p:nvSpPr>
        <p:spPr/>
        <p:txBody>
          <a:bodyPr/>
          <a:lstStyle/>
          <a:p>
            <a:pPr rtl="0"/>
            <a:fld id="{DD84031F-D6BF-4677-B12E-7D8B88BA70F7}" type="slidenum">
              <a:rPr lang="en-US" smtClean="0"/>
              <a:t>18</a:t>
            </a:fld>
            <a:endParaRPr lang="en-US"/>
          </a:p>
        </p:txBody>
      </p:sp>
      <p:pic>
        <p:nvPicPr>
          <p:cNvPr id="32" name="Imagen 31">
            <a:extLst>
              <a:ext uri="{FF2B5EF4-FFF2-40B4-BE49-F238E27FC236}">
                <a16:creationId xmlns:a16="http://schemas.microsoft.com/office/drawing/2014/main" id="{805258E0-7D74-3F58-E57E-6BCC667E63F6}"/>
              </a:ext>
            </a:extLst>
          </p:cNvPr>
          <p:cNvPicPr>
            <a:picLocks noChangeAspect="1"/>
          </p:cNvPicPr>
          <p:nvPr/>
        </p:nvPicPr>
        <p:blipFill>
          <a:blip r:embed="rId3"/>
          <a:stretch>
            <a:fillRect/>
          </a:stretch>
        </p:blipFill>
        <p:spPr>
          <a:xfrm>
            <a:off x="9918084" y="99023"/>
            <a:ext cx="1871580" cy="799949"/>
          </a:xfrm>
          <a:prstGeom prst="rect">
            <a:avLst/>
          </a:prstGeom>
        </p:spPr>
      </p:pic>
      <p:sp>
        <p:nvSpPr>
          <p:cNvPr id="33" name="Título 1">
            <a:extLst>
              <a:ext uri="{FF2B5EF4-FFF2-40B4-BE49-F238E27FC236}">
                <a16:creationId xmlns:a16="http://schemas.microsoft.com/office/drawing/2014/main" id="{95BE4644-69DB-07E8-54A0-BDF1EF50C5FC}"/>
              </a:ext>
            </a:extLst>
          </p:cNvPr>
          <p:cNvSpPr>
            <a:spLocks noGrp="1"/>
          </p:cNvSpPr>
          <p:nvPr>
            <p:ph type="title"/>
          </p:nvPr>
        </p:nvSpPr>
        <p:spPr>
          <a:xfrm>
            <a:off x="734830" y="358833"/>
            <a:ext cx="6792069" cy="627114"/>
          </a:xfrm>
        </p:spPr>
        <p:txBody>
          <a:bodyPr anchor="b">
            <a:normAutofit/>
          </a:bodyPr>
          <a:lstStyle/>
          <a:p>
            <a:r>
              <a:rPr lang="es-ES" dirty="0"/>
              <a:t>MODELADO IV</a:t>
            </a:r>
          </a:p>
        </p:txBody>
      </p:sp>
      <p:sp>
        <p:nvSpPr>
          <p:cNvPr id="34" name="Título 1">
            <a:extLst>
              <a:ext uri="{FF2B5EF4-FFF2-40B4-BE49-F238E27FC236}">
                <a16:creationId xmlns:a16="http://schemas.microsoft.com/office/drawing/2014/main" id="{880BD91C-3C4A-8F5F-A768-61D5B75FA1B3}"/>
              </a:ext>
            </a:extLst>
          </p:cNvPr>
          <p:cNvSpPr txBox="1">
            <a:spLocks/>
          </p:cNvSpPr>
          <p:nvPr/>
        </p:nvSpPr>
        <p:spPr>
          <a:xfrm>
            <a:off x="750328" y="790698"/>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CLUSTERING</a:t>
            </a:r>
          </a:p>
        </p:txBody>
      </p:sp>
      <p:cxnSp>
        <p:nvCxnSpPr>
          <p:cNvPr id="35" name="Conector recto 34">
            <a:extLst>
              <a:ext uri="{FF2B5EF4-FFF2-40B4-BE49-F238E27FC236}">
                <a16:creationId xmlns:a16="http://schemas.microsoft.com/office/drawing/2014/main" id="{84BADBDC-93D7-955F-38F7-E2E6496CF914}"/>
              </a:ext>
            </a:extLst>
          </p:cNvPr>
          <p:cNvCxnSpPr>
            <a:cxnSpLocks/>
          </p:cNvCxnSpPr>
          <p:nvPr/>
        </p:nvCxnSpPr>
        <p:spPr>
          <a:xfrm>
            <a:off x="821410" y="1417812"/>
            <a:ext cx="6776634"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CuadroTexto 3">
            <a:extLst>
              <a:ext uri="{FF2B5EF4-FFF2-40B4-BE49-F238E27FC236}">
                <a16:creationId xmlns:a16="http://schemas.microsoft.com/office/drawing/2014/main" id="{3AF2E794-655E-99DA-FB20-16248B52FB96}"/>
              </a:ext>
            </a:extLst>
          </p:cNvPr>
          <p:cNvSpPr txBox="1"/>
          <p:nvPr/>
        </p:nvSpPr>
        <p:spPr>
          <a:xfrm>
            <a:off x="1184074" y="1588194"/>
            <a:ext cx="1733576" cy="369332"/>
          </a:xfrm>
          <a:prstGeom prst="rect">
            <a:avLst/>
          </a:prstGeom>
          <a:noFill/>
        </p:spPr>
        <p:txBody>
          <a:bodyPr wrap="square" rtlCol="0">
            <a:spAutoFit/>
          </a:bodyPr>
          <a:lstStyle/>
          <a:p>
            <a:r>
              <a:rPr lang="es-ES" dirty="0"/>
              <a:t>PCA + GMM</a:t>
            </a:r>
          </a:p>
        </p:txBody>
      </p:sp>
      <p:pic>
        <p:nvPicPr>
          <p:cNvPr id="5" name="Imagen 4">
            <a:extLst>
              <a:ext uri="{FF2B5EF4-FFF2-40B4-BE49-F238E27FC236}">
                <a16:creationId xmlns:a16="http://schemas.microsoft.com/office/drawing/2014/main" id="{FB800D8B-87C1-A01C-9E68-066F9BB08728}"/>
              </a:ext>
            </a:extLst>
          </p:cNvPr>
          <p:cNvPicPr>
            <a:picLocks noChangeAspect="1"/>
          </p:cNvPicPr>
          <p:nvPr/>
        </p:nvPicPr>
        <p:blipFill>
          <a:blip r:embed="rId4"/>
          <a:srcRect r="49081"/>
          <a:stretch>
            <a:fillRect/>
          </a:stretch>
        </p:blipFill>
        <p:spPr>
          <a:xfrm>
            <a:off x="514350" y="1965856"/>
            <a:ext cx="2772002" cy="3017270"/>
          </a:xfrm>
          <a:prstGeom prst="rect">
            <a:avLst/>
          </a:prstGeom>
        </p:spPr>
      </p:pic>
      <p:pic>
        <p:nvPicPr>
          <p:cNvPr id="2" name="Imagen 1">
            <a:extLst>
              <a:ext uri="{FF2B5EF4-FFF2-40B4-BE49-F238E27FC236}">
                <a16:creationId xmlns:a16="http://schemas.microsoft.com/office/drawing/2014/main" id="{C8A2BA2A-0409-8424-A98A-F8EC3CE829D0}"/>
              </a:ext>
            </a:extLst>
          </p:cNvPr>
          <p:cNvPicPr>
            <a:picLocks noChangeAspect="1"/>
          </p:cNvPicPr>
          <p:nvPr/>
        </p:nvPicPr>
        <p:blipFill>
          <a:blip r:embed="rId4"/>
          <a:srcRect l="49081"/>
          <a:stretch>
            <a:fillRect/>
          </a:stretch>
        </p:blipFill>
        <p:spPr>
          <a:xfrm>
            <a:off x="3357474" y="1965855"/>
            <a:ext cx="2772001" cy="3017269"/>
          </a:xfrm>
          <a:prstGeom prst="rect">
            <a:avLst/>
          </a:prstGeom>
        </p:spPr>
      </p:pic>
      <p:sp>
        <p:nvSpPr>
          <p:cNvPr id="8" name="CuadroTexto 7">
            <a:extLst>
              <a:ext uri="{FF2B5EF4-FFF2-40B4-BE49-F238E27FC236}">
                <a16:creationId xmlns:a16="http://schemas.microsoft.com/office/drawing/2014/main" id="{A7E1FC9B-F92D-AEB1-4D9E-C72D9218E453}"/>
              </a:ext>
            </a:extLst>
          </p:cNvPr>
          <p:cNvSpPr txBox="1"/>
          <p:nvPr/>
        </p:nvSpPr>
        <p:spPr>
          <a:xfrm>
            <a:off x="4003029" y="1588194"/>
            <a:ext cx="1483371" cy="369332"/>
          </a:xfrm>
          <a:prstGeom prst="rect">
            <a:avLst/>
          </a:prstGeom>
          <a:solidFill>
            <a:schemeClr val="bg1"/>
          </a:solidFill>
        </p:spPr>
        <p:txBody>
          <a:bodyPr wrap="square" rtlCol="0">
            <a:spAutoFit/>
          </a:bodyPr>
          <a:lstStyle/>
          <a:p>
            <a:r>
              <a:rPr lang="es-ES" dirty="0"/>
              <a:t>AE + GMM</a:t>
            </a:r>
          </a:p>
        </p:txBody>
      </p:sp>
      <p:graphicFrame>
        <p:nvGraphicFramePr>
          <p:cNvPr id="10" name="Tabla 9">
            <a:extLst>
              <a:ext uri="{FF2B5EF4-FFF2-40B4-BE49-F238E27FC236}">
                <a16:creationId xmlns:a16="http://schemas.microsoft.com/office/drawing/2014/main" id="{F588B8F0-A24F-A58D-97D4-EFF42D93D614}"/>
              </a:ext>
            </a:extLst>
          </p:cNvPr>
          <p:cNvGraphicFramePr>
            <a:graphicFrameLocks noGrp="1"/>
          </p:cNvGraphicFramePr>
          <p:nvPr>
            <p:extLst>
              <p:ext uri="{D42A27DB-BD31-4B8C-83A1-F6EECF244321}">
                <p14:modId xmlns:p14="http://schemas.microsoft.com/office/powerpoint/2010/main" val="498210803"/>
              </p:ext>
            </p:extLst>
          </p:nvPr>
        </p:nvGraphicFramePr>
        <p:xfrm>
          <a:off x="6386624" y="1965855"/>
          <a:ext cx="5452776" cy="3052743"/>
        </p:xfrm>
        <a:graphic>
          <a:graphicData uri="http://schemas.openxmlformats.org/drawingml/2006/table">
            <a:tbl>
              <a:tblPr/>
              <a:tblGrid>
                <a:gridCol w="522612">
                  <a:extLst>
                    <a:ext uri="{9D8B030D-6E8A-4147-A177-3AD203B41FA5}">
                      <a16:colId xmlns:a16="http://schemas.microsoft.com/office/drawing/2014/main" val="3195561755"/>
                    </a:ext>
                  </a:extLst>
                </a:gridCol>
                <a:gridCol w="699162">
                  <a:extLst>
                    <a:ext uri="{9D8B030D-6E8A-4147-A177-3AD203B41FA5}">
                      <a16:colId xmlns:a16="http://schemas.microsoft.com/office/drawing/2014/main" val="1386030460"/>
                    </a:ext>
                  </a:extLst>
                </a:gridCol>
                <a:gridCol w="692307">
                  <a:extLst>
                    <a:ext uri="{9D8B030D-6E8A-4147-A177-3AD203B41FA5}">
                      <a16:colId xmlns:a16="http://schemas.microsoft.com/office/drawing/2014/main" val="3181577655"/>
                    </a:ext>
                  </a:extLst>
                </a:gridCol>
                <a:gridCol w="623762">
                  <a:extLst>
                    <a:ext uri="{9D8B030D-6E8A-4147-A177-3AD203B41FA5}">
                      <a16:colId xmlns:a16="http://schemas.microsoft.com/office/drawing/2014/main" val="1172702024"/>
                    </a:ext>
                  </a:extLst>
                </a:gridCol>
                <a:gridCol w="514090">
                  <a:extLst>
                    <a:ext uri="{9D8B030D-6E8A-4147-A177-3AD203B41FA5}">
                      <a16:colId xmlns:a16="http://schemas.microsoft.com/office/drawing/2014/main" val="2266773020"/>
                    </a:ext>
                  </a:extLst>
                </a:gridCol>
                <a:gridCol w="2400843">
                  <a:extLst>
                    <a:ext uri="{9D8B030D-6E8A-4147-A177-3AD203B41FA5}">
                      <a16:colId xmlns:a16="http://schemas.microsoft.com/office/drawing/2014/main" val="2921879450"/>
                    </a:ext>
                  </a:extLst>
                </a:gridCol>
              </a:tblGrid>
              <a:tr h="291472">
                <a:tc>
                  <a:txBody>
                    <a:bodyPr/>
                    <a:lstStyle/>
                    <a:p>
                      <a:pPr rtl="0">
                        <a:buNone/>
                      </a:pPr>
                      <a:r>
                        <a:rPr lang="es-ES" sz="800" b="1" dirty="0">
                          <a:solidFill>
                            <a:schemeClr val="bg1"/>
                          </a:solidFill>
                          <a:effectLst/>
                          <a:latin typeface="Google Sans Text"/>
                        </a:rPr>
                        <a:t>Nombre métrica</a:t>
                      </a:r>
                      <a:endParaRPr lang="es-ES" sz="800" dirty="0">
                        <a:solidFill>
                          <a:schemeClr val="bg1"/>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F6600"/>
                    </a:solidFill>
                  </a:tcPr>
                </a:tc>
                <a:tc>
                  <a:txBody>
                    <a:bodyPr/>
                    <a:lstStyle/>
                    <a:p>
                      <a:pPr rtl="0">
                        <a:buNone/>
                      </a:pPr>
                      <a:r>
                        <a:rPr lang="es-ES" sz="800" b="1" dirty="0">
                          <a:solidFill>
                            <a:schemeClr val="bg1"/>
                          </a:solidFill>
                          <a:effectLst/>
                          <a:latin typeface="Google Sans Text"/>
                        </a:rPr>
                        <a:t>Valor PCA</a:t>
                      </a:r>
                      <a:endParaRPr lang="es-ES" sz="800" dirty="0">
                        <a:solidFill>
                          <a:schemeClr val="bg1"/>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F6600"/>
                    </a:solidFill>
                  </a:tcPr>
                </a:tc>
                <a:tc>
                  <a:txBody>
                    <a:bodyPr/>
                    <a:lstStyle/>
                    <a:p>
                      <a:pPr rtl="0">
                        <a:buNone/>
                      </a:pPr>
                      <a:r>
                        <a:rPr lang="es-ES" sz="800" b="1" dirty="0">
                          <a:solidFill>
                            <a:schemeClr val="bg1"/>
                          </a:solidFill>
                          <a:effectLst/>
                          <a:latin typeface="Google Sans Text"/>
                        </a:rPr>
                        <a:t>Valor AE</a:t>
                      </a:r>
                      <a:endParaRPr lang="es-ES" sz="800" dirty="0">
                        <a:solidFill>
                          <a:schemeClr val="bg1"/>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F6600"/>
                    </a:solidFill>
                  </a:tcPr>
                </a:tc>
                <a:tc>
                  <a:txBody>
                    <a:bodyPr/>
                    <a:lstStyle/>
                    <a:p>
                      <a:pPr rtl="0">
                        <a:buNone/>
                      </a:pPr>
                      <a:r>
                        <a:rPr lang="es-ES" sz="800" b="1">
                          <a:solidFill>
                            <a:schemeClr val="bg1"/>
                          </a:solidFill>
                          <a:effectLst/>
                          <a:latin typeface="Google Sans Text"/>
                        </a:rPr>
                        <a:t>Objetivo</a:t>
                      </a:r>
                      <a:endParaRPr lang="es-ES" sz="800">
                        <a:solidFill>
                          <a:schemeClr val="bg1"/>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F6600"/>
                    </a:solidFill>
                  </a:tcPr>
                </a:tc>
                <a:tc>
                  <a:txBody>
                    <a:bodyPr/>
                    <a:lstStyle/>
                    <a:p>
                      <a:pPr rtl="0">
                        <a:buNone/>
                      </a:pPr>
                      <a:r>
                        <a:rPr lang="es-ES" sz="800" b="1">
                          <a:solidFill>
                            <a:schemeClr val="bg1"/>
                          </a:solidFill>
                          <a:effectLst/>
                          <a:latin typeface="Google Sans Text"/>
                        </a:rPr>
                        <a:t>Ganador</a:t>
                      </a:r>
                      <a:endParaRPr lang="es-ES" sz="800">
                        <a:solidFill>
                          <a:schemeClr val="bg1"/>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F6600"/>
                    </a:solidFill>
                  </a:tcPr>
                </a:tc>
                <a:tc>
                  <a:txBody>
                    <a:bodyPr/>
                    <a:lstStyle/>
                    <a:p>
                      <a:pPr rtl="0">
                        <a:buNone/>
                      </a:pPr>
                      <a:r>
                        <a:rPr lang="es-ES" sz="800" b="1" dirty="0">
                          <a:solidFill>
                            <a:schemeClr val="bg1"/>
                          </a:solidFill>
                          <a:effectLst/>
                          <a:latin typeface="Google Sans Text"/>
                        </a:rPr>
                        <a:t>Descripción</a:t>
                      </a:r>
                      <a:endParaRPr lang="es-ES" sz="800" dirty="0">
                        <a:solidFill>
                          <a:schemeClr val="bg1"/>
                        </a:solidFill>
                        <a:effectLst/>
                        <a:latin typeface="Google Sans Text"/>
                      </a:endParaRPr>
                    </a:p>
                  </a:txBody>
                  <a:tcPr marL="40351" marR="40351"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F6600"/>
                    </a:solidFill>
                  </a:tcPr>
                </a:tc>
                <a:extLst>
                  <a:ext uri="{0D108BD9-81ED-4DB2-BD59-A6C34878D82A}">
                    <a16:rowId xmlns:a16="http://schemas.microsoft.com/office/drawing/2014/main" val="1812889769"/>
                  </a:ext>
                </a:extLst>
              </a:tr>
              <a:tr h="521437">
                <a:tc>
                  <a:txBody>
                    <a:bodyPr/>
                    <a:lstStyle/>
                    <a:p>
                      <a:pPr rtl="0">
                        <a:buNone/>
                      </a:pPr>
                      <a:r>
                        <a:rPr lang="es-ES" sz="800" b="1" dirty="0">
                          <a:solidFill>
                            <a:srgbClr val="1F1F1F"/>
                          </a:solidFill>
                          <a:effectLst/>
                          <a:latin typeface="Google Sans Text"/>
                        </a:rPr>
                        <a:t>Silueta</a:t>
                      </a:r>
                      <a:endParaRPr lang="es-ES" sz="800" dirty="0">
                        <a:solidFill>
                          <a:srgbClr val="1F1F1F"/>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a:solidFill>
                            <a:srgbClr val="1F1F1F"/>
                          </a:solidFill>
                          <a:effectLst/>
                          <a:latin typeface="Google Sans Text"/>
                        </a:rPr>
                        <a:t>0.0600</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0.1870</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a:solidFill>
                            <a:srgbClr val="1F1F1F"/>
                          </a:solidFill>
                          <a:effectLst/>
                          <a:latin typeface="Google Sans Text"/>
                        </a:rPr>
                        <a:t>↑ MAX</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AE 🚀</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Cohesión vs separación (distancias). Más alto = </a:t>
                      </a:r>
                      <a:r>
                        <a:rPr lang="es-ES" sz="800" dirty="0" err="1">
                          <a:solidFill>
                            <a:srgbClr val="1F1F1F"/>
                          </a:solidFill>
                          <a:effectLst/>
                          <a:latin typeface="Google Sans Text"/>
                        </a:rPr>
                        <a:t>clusters</a:t>
                      </a:r>
                      <a:r>
                        <a:rPr lang="es-ES" sz="800" dirty="0">
                          <a:solidFill>
                            <a:srgbClr val="1F1F1F"/>
                          </a:solidFill>
                          <a:effectLst/>
                          <a:latin typeface="Google Sans Text"/>
                        </a:rPr>
                        <a:t> más compactos y separados.</a:t>
                      </a:r>
                    </a:p>
                  </a:txBody>
                  <a:tcPr marL="40351" marR="40351"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1214773"/>
                  </a:ext>
                </a:extLst>
              </a:tr>
              <a:tr h="364150">
                <a:tc>
                  <a:txBody>
                    <a:bodyPr/>
                    <a:lstStyle/>
                    <a:p>
                      <a:pPr rtl="0">
                        <a:buNone/>
                      </a:pPr>
                      <a:r>
                        <a:rPr lang="es-ES" sz="800" b="1" dirty="0" err="1">
                          <a:solidFill>
                            <a:srgbClr val="1F1F1F"/>
                          </a:solidFill>
                          <a:effectLst/>
                          <a:latin typeface="Google Sans Text"/>
                        </a:rPr>
                        <a:t>Calinski</a:t>
                      </a:r>
                      <a:endParaRPr lang="es-ES" sz="800" b="1" dirty="0">
                        <a:solidFill>
                          <a:srgbClr val="1F1F1F"/>
                        </a:solidFill>
                        <a:effectLst/>
                        <a:latin typeface="Google Sans Text"/>
                      </a:endParaRPr>
                    </a:p>
                    <a:p>
                      <a:pPr rtl="0">
                        <a:buNone/>
                      </a:pPr>
                      <a:r>
                        <a:rPr lang="es-ES" sz="800" b="1" dirty="0" err="1">
                          <a:solidFill>
                            <a:srgbClr val="1F1F1F"/>
                          </a:solidFill>
                          <a:effectLst/>
                          <a:latin typeface="Google Sans Text"/>
                        </a:rPr>
                        <a:t>Harabasz</a:t>
                      </a:r>
                      <a:endParaRPr lang="es-ES" sz="800" dirty="0">
                        <a:solidFill>
                          <a:srgbClr val="1F1F1F"/>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903.1506</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6848.6567</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a:solidFill>
                            <a:srgbClr val="1F1F1F"/>
                          </a:solidFill>
                          <a:effectLst/>
                          <a:latin typeface="Google Sans Text"/>
                        </a:rPr>
                        <a:t>↑ MAX</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AE 🚀</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Dispersión </a:t>
                      </a:r>
                      <a:r>
                        <a:rPr lang="es-ES" sz="800" dirty="0" err="1">
                          <a:solidFill>
                            <a:srgbClr val="1F1F1F"/>
                          </a:solidFill>
                          <a:effectLst/>
                          <a:latin typeface="Google Sans Text"/>
                        </a:rPr>
                        <a:t>entre-clusters</a:t>
                      </a:r>
                      <a:r>
                        <a:rPr lang="es-ES" sz="800" dirty="0">
                          <a:solidFill>
                            <a:srgbClr val="1F1F1F"/>
                          </a:solidFill>
                          <a:effectLst/>
                          <a:latin typeface="Google Sans Text"/>
                        </a:rPr>
                        <a:t> vs </a:t>
                      </a:r>
                      <a:r>
                        <a:rPr lang="es-ES" sz="800" dirty="0" err="1">
                          <a:solidFill>
                            <a:srgbClr val="1F1F1F"/>
                          </a:solidFill>
                          <a:effectLst/>
                          <a:latin typeface="Google Sans Text"/>
                        </a:rPr>
                        <a:t>intra-cluster</a:t>
                      </a:r>
                      <a:r>
                        <a:rPr lang="es-ES" sz="800" dirty="0">
                          <a:solidFill>
                            <a:srgbClr val="1F1F1F"/>
                          </a:solidFill>
                          <a:effectLst/>
                          <a:latin typeface="Google Sans Text"/>
                        </a:rPr>
                        <a:t>. Más alto = mejor partición.</a:t>
                      </a:r>
                    </a:p>
                  </a:txBody>
                  <a:tcPr marL="40351" marR="40351"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extLst>
                  <a:ext uri="{0D108BD9-81ED-4DB2-BD59-A6C34878D82A}">
                    <a16:rowId xmlns:a16="http://schemas.microsoft.com/office/drawing/2014/main" val="4038234161"/>
                  </a:ext>
                </a:extLst>
              </a:tr>
              <a:tr h="364150">
                <a:tc>
                  <a:txBody>
                    <a:bodyPr/>
                    <a:lstStyle/>
                    <a:p>
                      <a:pPr rtl="0">
                        <a:buNone/>
                      </a:pPr>
                      <a:r>
                        <a:rPr lang="es-ES" sz="800" b="1">
                          <a:solidFill>
                            <a:srgbClr val="1F1F1F"/>
                          </a:solidFill>
                          <a:effectLst/>
                          <a:latin typeface="Google Sans Text"/>
                        </a:rPr>
                        <a:t>Davies-Bouldin</a:t>
                      </a:r>
                      <a:endParaRPr lang="es-ES" sz="800">
                        <a:solidFill>
                          <a:srgbClr val="1F1F1F"/>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a:solidFill>
                            <a:srgbClr val="1F1F1F"/>
                          </a:solidFill>
                          <a:effectLst/>
                          <a:latin typeface="Google Sans Text"/>
                        </a:rPr>
                        <a:t>3.9037</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1.6067</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a:solidFill>
                            <a:srgbClr val="1F1F1F"/>
                          </a:solidFill>
                          <a:effectLst/>
                          <a:latin typeface="Google Sans Text"/>
                        </a:rPr>
                        <a:t>↓ MIN</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AE 🚀</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Solape promedio entre </a:t>
                      </a:r>
                      <a:r>
                        <a:rPr lang="es-ES" sz="800" dirty="0" err="1">
                          <a:solidFill>
                            <a:srgbClr val="1F1F1F"/>
                          </a:solidFill>
                          <a:effectLst/>
                          <a:latin typeface="Google Sans Text"/>
                        </a:rPr>
                        <a:t>clusters</a:t>
                      </a:r>
                      <a:r>
                        <a:rPr lang="es-ES" sz="800" dirty="0">
                          <a:solidFill>
                            <a:srgbClr val="1F1F1F"/>
                          </a:solidFill>
                          <a:effectLst/>
                          <a:latin typeface="Google Sans Text"/>
                        </a:rPr>
                        <a:t>. Más bajo = </a:t>
                      </a:r>
                      <a:r>
                        <a:rPr lang="es-ES" sz="800" dirty="0" err="1">
                          <a:solidFill>
                            <a:srgbClr val="1F1F1F"/>
                          </a:solidFill>
                          <a:effectLst/>
                          <a:latin typeface="Google Sans Text"/>
                        </a:rPr>
                        <a:t>clusters</a:t>
                      </a:r>
                      <a:r>
                        <a:rPr lang="es-ES" sz="800" dirty="0">
                          <a:solidFill>
                            <a:srgbClr val="1F1F1F"/>
                          </a:solidFill>
                          <a:effectLst/>
                          <a:latin typeface="Google Sans Text"/>
                        </a:rPr>
                        <a:t> más separados.</a:t>
                      </a:r>
                    </a:p>
                  </a:txBody>
                  <a:tcPr marL="40351" marR="40351"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66653226"/>
                  </a:ext>
                </a:extLst>
              </a:tr>
              <a:tr h="518077">
                <a:tc>
                  <a:txBody>
                    <a:bodyPr/>
                    <a:lstStyle/>
                    <a:p>
                      <a:pPr rtl="0">
                        <a:buNone/>
                      </a:pPr>
                      <a:r>
                        <a:rPr lang="es-ES" sz="800" b="1" dirty="0">
                          <a:solidFill>
                            <a:srgbClr val="1F1F1F"/>
                          </a:solidFill>
                          <a:effectLst/>
                          <a:latin typeface="Google Sans Text"/>
                        </a:rPr>
                        <a:t>BIC</a:t>
                      </a:r>
                      <a:endParaRPr lang="es-ES" sz="800" dirty="0">
                        <a:solidFill>
                          <a:srgbClr val="1F1F1F"/>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1416998.4688</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1086602.2358</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 MIN</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AE 🚀</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err="1">
                          <a:solidFill>
                            <a:srgbClr val="1F1F1F"/>
                          </a:solidFill>
                          <a:effectLst/>
                          <a:latin typeface="Google Sans Text"/>
                        </a:rPr>
                        <a:t>Bayesian</a:t>
                      </a:r>
                      <a:r>
                        <a:rPr lang="es-ES" sz="800" dirty="0">
                          <a:solidFill>
                            <a:srgbClr val="1F1F1F"/>
                          </a:solidFill>
                          <a:effectLst/>
                          <a:latin typeface="Google Sans Text"/>
                        </a:rPr>
                        <a:t> </a:t>
                      </a:r>
                      <a:r>
                        <a:rPr lang="es-ES" sz="800" dirty="0" err="1">
                          <a:solidFill>
                            <a:srgbClr val="1F1F1F"/>
                          </a:solidFill>
                          <a:effectLst/>
                          <a:latin typeface="Google Sans Text"/>
                        </a:rPr>
                        <a:t>Information</a:t>
                      </a:r>
                      <a:r>
                        <a:rPr lang="es-ES" sz="800" dirty="0">
                          <a:solidFill>
                            <a:srgbClr val="1F1F1F"/>
                          </a:solidFill>
                          <a:effectLst/>
                          <a:latin typeface="Google Sans Text"/>
                        </a:rPr>
                        <a:t> </a:t>
                      </a:r>
                      <a:r>
                        <a:rPr lang="es-ES" sz="800" dirty="0" err="1">
                          <a:solidFill>
                            <a:srgbClr val="1F1F1F"/>
                          </a:solidFill>
                          <a:effectLst/>
                          <a:latin typeface="Google Sans Text"/>
                        </a:rPr>
                        <a:t>Criterion</a:t>
                      </a:r>
                      <a:r>
                        <a:rPr lang="es-ES" sz="800" dirty="0">
                          <a:solidFill>
                            <a:srgbClr val="1F1F1F"/>
                          </a:solidFill>
                          <a:effectLst/>
                          <a:latin typeface="Google Sans Text"/>
                        </a:rPr>
                        <a:t>. Evalúa ajuste penalizando la complejidad. Más bajo = mejor.</a:t>
                      </a:r>
                    </a:p>
                  </a:txBody>
                  <a:tcPr marL="40351" marR="40351"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extLst>
                  <a:ext uri="{0D108BD9-81ED-4DB2-BD59-A6C34878D82A}">
                    <a16:rowId xmlns:a16="http://schemas.microsoft.com/office/drawing/2014/main" val="1514035719"/>
                  </a:ext>
                </a:extLst>
              </a:tr>
              <a:tr h="521437">
                <a:tc>
                  <a:txBody>
                    <a:bodyPr/>
                    <a:lstStyle/>
                    <a:p>
                      <a:pPr rtl="0">
                        <a:buNone/>
                      </a:pPr>
                      <a:r>
                        <a:rPr lang="es-ES" sz="800" b="1">
                          <a:solidFill>
                            <a:srgbClr val="1F1F1F"/>
                          </a:solidFill>
                          <a:effectLst/>
                          <a:latin typeface="Google Sans Text"/>
                        </a:rPr>
                        <a:t>AIC</a:t>
                      </a:r>
                      <a:endParaRPr lang="es-ES" sz="800">
                        <a:solidFill>
                          <a:srgbClr val="1F1F1F"/>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a:solidFill>
                            <a:srgbClr val="1F1F1F"/>
                          </a:solidFill>
                          <a:effectLst/>
                          <a:latin typeface="Google Sans Text"/>
                        </a:rPr>
                        <a:t>1415038.2075</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a:solidFill>
                            <a:srgbClr val="1F1F1F"/>
                          </a:solidFill>
                          <a:effectLst/>
                          <a:latin typeface="Google Sans Text"/>
                        </a:rPr>
                        <a:t>1084641.9745</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 MIN</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a:solidFill>
                            <a:srgbClr val="1F1F1F"/>
                          </a:solidFill>
                          <a:effectLst/>
                          <a:latin typeface="Google Sans Text"/>
                        </a:rPr>
                        <a:t>AE 🚀</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tc>
                  <a:txBody>
                    <a:bodyPr/>
                    <a:lstStyle/>
                    <a:p>
                      <a:pPr rtl="0">
                        <a:buNone/>
                      </a:pPr>
                      <a:r>
                        <a:rPr lang="es-ES" sz="800" dirty="0">
                          <a:solidFill>
                            <a:srgbClr val="1F1F1F"/>
                          </a:solidFill>
                          <a:effectLst/>
                          <a:latin typeface="Google Sans Text"/>
                        </a:rPr>
                        <a:t>Akaike </a:t>
                      </a:r>
                      <a:r>
                        <a:rPr lang="es-ES" sz="800" dirty="0" err="1">
                          <a:solidFill>
                            <a:srgbClr val="1F1F1F"/>
                          </a:solidFill>
                          <a:effectLst/>
                          <a:latin typeface="Google Sans Text"/>
                        </a:rPr>
                        <a:t>Information</a:t>
                      </a:r>
                      <a:r>
                        <a:rPr lang="es-ES" sz="800" dirty="0">
                          <a:solidFill>
                            <a:srgbClr val="1F1F1F"/>
                          </a:solidFill>
                          <a:effectLst/>
                          <a:latin typeface="Google Sans Text"/>
                        </a:rPr>
                        <a:t> </a:t>
                      </a:r>
                      <a:r>
                        <a:rPr lang="es-ES" sz="800" dirty="0" err="1">
                          <a:solidFill>
                            <a:srgbClr val="1F1F1F"/>
                          </a:solidFill>
                          <a:effectLst/>
                          <a:latin typeface="Google Sans Text"/>
                        </a:rPr>
                        <a:t>Criterion</a:t>
                      </a:r>
                      <a:r>
                        <a:rPr lang="es-ES" sz="800" dirty="0">
                          <a:solidFill>
                            <a:srgbClr val="1F1F1F"/>
                          </a:solidFill>
                          <a:effectLst/>
                          <a:latin typeface="Google Sans Text"/>
                        </a:rPr>
                        <a:t>. Similar a BIC pero con menor penalización por complejidad. Más bajo = mejor.</a:t>
                      </a:r>
                    </a:p>
                  </a:txBody>
                  <a:tcPr marL="40351" marR="40351"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30339501"/>
                  </a:ext>
                </a:extLst>
              </a:tr>
              <a:tr h="442794">
                <a:tc>
                  <a:txBody>
                    <a:bodyPr/>
                    <a:lstStyle/>
                    <a:p>
                      <a:pPr rtl="0">
                        <a:buNone/>
                      </a:pPr>
                      <a:r>
                        <a:rPr lang="es-ES" sz="800" b="1" dirty="0">
                          <a:solidFill>
                            <a:srgbClr val="1F1F1F"/>
                          </a:solidFill>
                          <a:effectLst/>
                          <a:latin typeface="Google Sans Text"/>
                        </a:rPr>
                        <a:t>Log-</a:t>
                      </a:r>
                      <a:r>
                        <a:rPr lang="es-ES" sz="800" b="1" dirty="0" err="1">
                          <a:solidFill>
                            <a:srgbClr val="1F1F1F"/>
                          </a:solidFill>
                          <a:effectLst/>
                          <a:latin typeface="Google Sans Text"/>
                        </a:rPr>
                        <a:t>Likelihood</a:t>
                      </a:r>
                      <a:r>
                        <a:rPr lang="es-ES" sz="800" b="1" dirty="0">
                          <a:solidFill>
                            <a:srgbClr val="1F1F1F"/>
                          </a:solidFill>
                          <a:effectLst/>
                          <a:latin typeface="Google Sans Text"/>
                        </a:rPr>
                        <a:t> Promedio</a:t>
                      </a:r>
                      <a:endParaRPr lang="es-ES" sz="800" dirty="0">
                        <a:solidFill>
                          <a:srgbClr val="1F1F1F"/>
                        </a:solidFill>
                        <a:effectLst/>
                        <a:latin typeface="Google Sans Text"/>
                      </a:endParaRP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a:solidFill>
                            <a:srgbClr val="1F1F1F"/>
                          </a:solidFill>
                          <a:effectLst/>
                          <a:latin typeface="Google Sans Text"/>
                        </a:rPr>
                        <a:t>-31.0413</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-23.7910</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 MAX</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AE 🚀</a:t>
                      </a:r>
                    </a:p>
                  </a:txBody>
                  <a:tcPr marL="40351" marR="28822"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tc>
                  <a:txBody>
                    <a:bodyPr/>
                    <a:lstStyle/>
                    <a:p>
                      <a:pPr rtl="0">
                        <a:buNone/>
                      </a:pPr>
                      <a:r>
                        <a:rPr lang="es-ES" sz="800" dirty="0">
                          <a:solidFill>
                            <a:srgbClr val="1F1F1F"/>
                          </a:solidFill>
                          <a:effectLst/>
                          <a:latin typeface="Google Sans Text"/>
                        </a:rPr>
                        <a:t>Probabilidad logarítmica media de los datos según el GMM. Más alto = mejor ajuste.</a:t>
                      </a:r>
                    </a:p>
                  </a:txBody>
                  <a:tcPr marL="40351" marR="40351" marT="38429" marB="38429"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rgbClr val="FADCC6"/>
                    </a:solidFill>
                  </a:tcPr>
                </a:tc>
                <a:extLst>
                  <a:ext uri="{0D108BD9-81ED-4DB2-BD59-A6C34878D82A}">
                    <a16:rowId xmlns:a16="http://schemas.microsoft.com/office/drawing/2014/main" val="893394045"/>
                  </a:ext>
                </a:extLst>
              </a:tr>
            </a:tbl>
          </a:graphicData>
        </a:graphic>
      </p:graphicFrame>
    </p:spTree>
    <p:extLst>
      <p:ext uri="{BB962C8B-B14F-4D97-AF65-F5344CB8AC3E}">
        <p14:creationId xmlns:p14="http://schemas.microsoft.com/office/powerpoint/2010/main" val="147736180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4790-3C7D-FA36-3825-57A9DCE89FF9}"/>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D112CD46-F6F9-2960-7F3A-FBFB13723C86}"/>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C53D0D7B-5423-02A4-C0DF-CC8412E16FE8}"/>
              </a:ext>
            </a:extLst>
          </p:cNvPr>
          <p:cNvSpPr>
            <a:spLocks noGrp="1"/>
          </p:cNvSpPr>
          <p:nvPr>
            <p:ph type="sldNum" sz="quarter" idx="12"/>
          </p:nvPr>
        </p:nvSpPr>
        <p:spPr/>
        <p:txBody>
          <a:bodyPr/>
          <a:lstStyle/>
          <a:p>
            <a:pPr rtl="0"/>
            <a:fld id="{DD84031F-D6BF-4677-B12E-7D8B88BA70F7}" type="slidenum">
              <a:rPr lang="en-US" smtClean="0"/>
              <a:t>19</a:t>
            </a:fld>
            <a:endParaRPr lang="en-US"/>
          </a:p>
        </p:txBody>
      </p:sp>
      <p:pic>
        <p:nvPicPr>
          <p:cNvPr id="14" name="Imagen 13">
            <a:extLst>
              <a:ext uri="{FF2B5EF4-FFF2-40B4-BE49-F238E27FC236}">
                <a16:creationId xmlns:a16="http://schemas.microsoft.com/office/drawing/2014/main" id="{CDC02D1A-8C51-4C3F-FBD6-770CB1AE58FC}"/>
              </a:ext>
            </a:extLst>
          </p:cNvPr>
          <p:cNvPicPr>
            <a:picLocks noChangeAspect="1"/>
          </p:cNvPicPr>
          <p:nvPr/>
        </p:nvPicPr>
        <p:blipFill>
          <a:blip r:embed="rId2"/>
          <a:stretch>
            <a:fillRect/>
          </a:stretch>
        </p:blipFill>
        <p:spPr>
          <a:xfrm>
            <a:off x="9918084" y="99023"/>
            <a:ext cx="1871580" cy="799949"/>
          </a:xfrm>
          <a:prstGeom prst="rect">
            <a:avLst/>
          </a:prstGeom>
        </p:spPr>
      </p:pic>
      <p:sp>
        <p:nvSpPr>
          <p:cNvPr id="15" name="Título 1">
            <a:extLst>
              <a:ext uri="{FF2B5EF4-FFF2-40B4-BE49-F238E27FC236}">
                <a16:creationId xmlns:a16="http://schemas.microsoft.com/office/drawing/2014/main" id="{6FB352FA-163B-EFB4-B0B0-0DDAE1B9CC40}"/>
              </a:ext>
            </a:extLst>
          </p:cNvPr>
          <p:cNvSpPr>
            <a:spLocks noGrp="1"/>
          </p:cNvSpPr>
          <p:nvPr>
            <p:ph type="title"/>
          </p:nvPr>
        </p:nvSpPr>
        <p:spPr>
          <a:xfrm>
            <a:off x="688448" y="455398"/>
            <a:ext cx="6792069" cy="627114"/>
          </a:xfrm>
        </p:spPr>
        <p:txBody>
          <a:bodyPr anchor="b">
            <a:normAutofit/>
          </a:bodyPr>
          <a:lstStyle/>
          <a:p>
            <a:r>
              <a:rPr lang="es-ES" dirty="0"/>
              <a:t>MODELADO V</a:t>
            </a:r>
          </a:p>
        </p:txBody>
      </p:sp>
      <p:sp>
        <p:nvSpPr>
          <p:cNvPr id="16" name="Título 1">
            <a:extLst>
              <a:ext uri="{FF2B5EF4-FFF2-40B4-BE49-F238E27FC236}">
                <a16:creationId xmlns:a16="http://schemas.microsoft.com/office/drawing/2014/main" id="{5F387EDC-58DE-25BC-6AAA-95FB9CD579A3}"/>
              </a:ext>
            </a:extLst>
          </p:cNvPr>
          <p:cNvSpPr txBox="1">
            <a:spLocks/>
          </p:cNvSpPr>
          <p:nvPr/>
        </p:nvSpPr>
        <p:spPr>
          <a:xfrm>
            <a:off x="703946" y="887263"/>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TRANSFORMER</a:t>
            </a:r>
          </a:p>
        </p:txBody>
      </p:sp>
      <p:cxnSp>
        <p:nvCxnSpPr>
          <p:cNvPr id="17" name="Conector recto 16">
            <a:extLst>
              <a:ext uri="{FF2B5EF4-FFF2-40B4-BE49-F238E27FC236}">
                <a16:creationId xmlns:a16="http://schemas.microsoft.com/office/drawing/2014/main" id="{D884408C-2ADA-94C9-1A38-182719504749}"/>
              </a:ext>
            </a:extLst>
          </p:cNvPr>
          <p:cNvCxnSpPr>
            <a:cxnSpLocks/>
          </p:cNvCxnSpPr>
          <p:nvPr/>
        </p:nvCxnSpPr>
        <p:spPr>
          <a:xfrm>
            <a:off x="775028" y="1514377"/>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2" name="Imagen 1">
            <a:extLst>
              <a:ext uri="{FF2B5EF4-FFF2-40B4-BE49-F238E27FC236}">
                <a16:creationId xmlns:a16="http://schemas.microsoft.com/office/drawing/2014/main" id="{D41E29B1-3FA9-38E7-594B-32DE4048D5C9}"/>
              </a:ext>
            </a:extLst>
          </p:cNvPr>
          <p:cNvPicPr>
            <a:picLocks noChangeAspect="1"/>
          </p:cNvPicPr>
          <p:nvPr/>
        </p:nvPicPr>
        <p:blipFill>
          <a:blip r:embed="rId3"/>
          <a:stretch>
            <a:fillRect/>
          </a:stretch>
        </p:blipFill>
        <p:spPr>
          <a:xfrm>
            <a:off x="6281123" y="1709603"/>
            <a:ext cx="5392940" cy="1851247"/>
          </a:xfrm>
          <a:prstGeom prst="rect">
            <a:avLst/>
          </a:prstGeom>
        </p:spPr>
      </p:pic>
      <p:pic>
        <p:nvPicPr>
          <p:cNvPr id="5" name="Imagen 4">
            <a:extLst>
              <a:ext uri="{FF2B5EF4-FFF2-40B4-BE49-F238E27FC236}">
                <a16:creationId xmlns:a16="http://schemas.microsoft.com/office/drawing/2014/main" id="{D75E5E89-70C7-3CB1-8ABF-B765AA3F5093}"/>
              </a:ext>
            </a:extLst>
          </p:cNvPr>
          <p:cNvPicPr>
            <a:picLocks noChangeAspect="1"/>
          </p:cNvPicPr>
          <p:nvPr/>
        </p:nvPicPr>
        <p:blipFill>
          <a:blip r:embed="rId4"/>
          <a:stretch>
            <a:fillRect/>
          </a:stretch>
        </p:blipFill>
        <p:spPr>
          <a:xfrm>
            <a:off x="775028" y="1745247"/>
            <a:ext cx="5276856" cy="1815603"/>
          </a:xfrm>
          <a:prstGeom prst="rect">
            <a:avLst/>
          </a:prstGeom>
        </p:spPr>
      </p:pic>
      <p:pic>
        <p:nvPicPr>
          <p:cNvPr id="8" name="Imagen 7">
            <a:extLst>
              <a:ext uri="{FF2B5EF4-FFF2-40B4-BE49-F238E27FC236}">
                <a16:creationId xmlns:a16="http://schemas.microsoft.com/office/drawing/2014/main" id="{FB726465-2911-78FD-445C-4F15F6A3B321}"/>
              </a:ext>
            </a:extLst>
          </p:cNvPr>
          <p:cNvPicPr>
            <a:picLocks noChangeAspect="1"/>
          </p:cNvPicPr>
          <p:nvPr/>
        </p:nvPicPr>
        <p:blipFill>
          <a:blip r:embed="rId5"/>
          <a:stretch>
            <a:fillRect/>
          </a:stretch>
        </p:blipFill>
        <p:spPr>
          <a:xfrm>
            <a:off x="6281122" y="3764213"/>
            <a:ext cx="5403617" cy="1938754"/>
          </a:xfrm>
          <a:prstGeom prst="rect">
            <a:avLst/>
          </a:prstGeom>
        </p:spPr>
      </p:pic>
      <p:pic>
        <p:nvPicPr>
          <p:cNvPr id="9" name="Imagen 8">
            <a:extLst>
              <a:ext uri="{FF2B5EF4-FFF2-40B4-BE49-F238E27FC236}">
                <a16:creationId xmlns:a16="http://schemas.microsoft.com/office/drawing/2014/main" id="{7564DDA2-A994-EB75-545F-285E3B7AC6BD}"/>
              </a:ext>
            </a:extLst>
          </p:cNvPr>
          <p:cNvPicPr>
            <a:picLocks noChangeAspect="1"/>
          </p:cNvPicPr>
          <p:nvPr/>
        </p:nvPicPr>
        <p:blipFill>
          <a:blip r:embed="rId6"/>
          <a:stretch>
            <a:fillRect/>
          </a:stretch>
        </p:blipFill>
        <p:spPr>
          <a:xfrm>
            <a:off x="775029" y="3728040"/>
            <a:ext cx="5320972" cy="1974923"/>
          </a:xfrm>
          <a:prstGeom prst="rect">
            <a:avLst/>
          </a:prstGeom>
        </p:spPr>
      </p:pic>
    </p:spTree>
    <p:extLst>
      <p:ext uri="{BB962C8B-B14F-4D97-AF65-F5344CB8AC3E}">
        <p14:creationId xmlns:p14="http://schemas.microsoft.com/office/powerpoint/2010/main" val="3284973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941D4-F105-F844-9098-B24AC6CD0D98}"/>
            </a:ext>
          </a:extLst>
        </p:cNvPr>
        <p:cNvGrpSpPr/>
        <p:nvPr/>
      </p:nvGrpSpPr>
      <p:grpSpPr>
        <a:xfrm>
          <a:off x="0" y="0"/>
          <a:ext cx="0" cy="0"/>
          <a:chOff x="0" y="0"/>
          <a:chExt cx="0" cy="0"/>
        </a:xfrm>
      </p:grpSpPr>
      <p:sp>
        <p:nvSpPr>
          <p:cNvPr id="5" name="Marcador de fecha 4">
            <a:extLst>
              <a:ext uri="{FF2B5EF4-FFF2-40B4-BE49-F238E27FC236}">
                <a16:creationId xmlns:a16="http://schemas.microsoft.com/office/drawing/2014/main" id="{88674387-6B01-4BC5-0846-1D278A248644}"/>
              </a:ext>
            </a:extLst>
          </p:cNvPr>
          <p:cNvSpPr>
            <a:spLocks noGrp="1"/>
          </p:cNvSpPr>
          <p:nvPr>
            <p:ph type="dt" sz="half" idx="10"/>
          </p:nvPr>
        </p:nvSpPr>
        <p:spPr/>
        <p:txBody>
          <a:bodyPr/>
          <a:lstStyle/>
          <a:p>
            <a:pPr rtl="0"/>
            <a:r>
              <a:rPr lang="es-ES"/>
              <a:t>4/8/2025</a:t>
            </a:r>
            <a:endParaRPr lang="en-US"/>
          </a:p>
        </p:txBody>
      </p:sp>
      <p:sp>
        <p:nvSpPr>
          <p:cNvPr id="6" name="Marcador de número de diapositiva 5">
            <a:extLst>
              <a:ext uri="{FF2B5EF4-FFF2-40B4-BE49-F238E27FC236}">
                <a16:creationId xmlns:a16="http://schemas.microsoft.com/office/drawing/2014/main" id="{82D9602A-D736-EE6D-A422-E4917C766A90}"/>
              </a:ext>
            </a:extLst>
          </p:cNvPr>
          <p:cNvSpPr>
            <a:spLocks noGrp="1"/>
          </p:cNvSpPr>
          <p:nvPr>
            <p:ph type="sldNum" sz="quarter" idx="12"/>
          </p:nvPr>
        </p:nvSpPr>
        <p:spPr/>
        <p:txBody>
          <a:bodyPr/>
          <a:lstStyle/>
          <a:p>
            <a:pPr rtl="0"/>
            <a:fld id="{DD84031F-D6BF-4677-B12E-7D8B88BA70F7}" type="slidenum">
              <a:rPr lang="en-US" smtClean="0"/>
              <a:t>20</a:t>
            </a:fld>
            <a:endParaRPr lang="en-US"/>
          </a:p>
        </p:txBody>
      </p:sp>
      <p:pic>
        <p:nvPicPr>
          <p:cNvPr id="9" name="Imagen 8">
            <a:extLst>
              <a:ext uri="{FF2B5EF4-FFF2-40B4-BE49-F238E27FC236}">
                <a16:creationId xmlns:a16="http://schemas.microsoft.com/office/drawing/2014/main" id="{8E001C57-DBEA-4C64-7599-3A16F9863907}"/>
              </a:ext>
            </a:extLst>
          </p:cNvPr>
          <p:cNvPicPr>
            <a:picLocks noChangeAspect="1"/>
          </p:cNvPicPr>
          <p:nvPr/>
        </p:nvPicPr>
        <p:blipFill>
          <a:blip r:embed="rId2"/>
          <a:stretch>
            <a:fillRect/>
          </a:stretch>
        </p:blipFill>
        <p:spPr>
          <a:xfrm>
            <a:off x="9918084" y="99023"/>
            <a:ext cx="1871580" cy="799949"/>
          </a:xfrm>
          <a:prstGeom prst="rect">
            <a:avLst/>
          </a:prstGeom>
        </p:spPr>
      </p:pic>
      <p:pic>
        <p:nvPicPr>
          <p:cNvPr id="12" name="Gráfico 11" descr="Inventario de búsqueda con relleno sólido">
            <a:extLst>
              <a:ext uri="{FF2B5EF4-FFF2-40B4-BE49-F238E27FC236}">
                <a16:creationId xmlns:a16="http://schemas.microsoft.com/office/drawing/2014/main" id="{B20FAC4D-EC96-9F63-CC0B-15A2E6EBB2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129" y="2343371"/>
            <a:ext cx="1226585" cy="1226585"/>
          </a:xfrm>
          <a:prstGeom prst="rect">
            <a:avLst/>
          </a:prstGeom>
        </p:spPr>
      </p:pic>
      <p:sp>
        <p:nvSpPr>
          <p:cNvPr id="13" name="CuadroTexto 12">
            <a:extLst>
              <a:ext uri="{FF2B5EF4-FFF2-40B4-BE49-F238E27FC236}">
                <a16:creationId xmlns:a16="http://schemas.microsoft.com/office/drawing/2014/main" id="{A94F3220-91E0-B3CD-4403-3B68F2F8D0E1}"/>
              </a:ext>
            </a:extLst>
          </p:cNvPr>
          <p:cNvSpPr txBox="1"/>
          <p:nvPr/>
        </p:nvSpPr>
        <p:spPr>
          <a:xfrm>
            <a:off x="359808" y="3548085"/>
            <a:ext cx="2557220" cy="707886"/>
          </a:xfrm>
          <a:prstGeom prst="rect">
            <a:avLst/>
          </a:prstGeom>
          <a:noFill/>
        </p:spPr>
        <p:txBody>
          <a:bodyPr wrap="square" rtlCol="0">
            <a:spAutoFit/>
          </a:bodyPr>
          <a:lstStyle/>
          <a:p>
            <a:pPr algn="ctr"/>
            <a:r>
              <a:rPr lang="es-ES" sz="2000" dirty="0">
                <a:latin typeface="CMU Serif" panose="02000603000000000000" pitchFamily="2" charset="0"/>
                <a:ea typeface="CMU Serif" panose="02000603000000000000" pitchFamily="2" charset="0"/>
                <a:cs typeface="CMU Serif" panose="02000603000000000000" pitchFamily="2" charset="0"/>
              </a:rPr>
              <a:t>Comprensión del negocio</a:t>
            </a:r>
          </a:p>
        </p:txBody>
      </p:sp>
      <p:pic>
        <p:nvPicPr>
          <p:cNvPr id="14" name="Gráfico 13" descr="Gráfico de barras con relleno sólido">
            <a:extLst>
              <a:ext uri="{FF2B5EF4-FFF2-40B4-BE49-F238E27FC236}">
                <a16:creationId xmlns:a16="http://schemas.microsoft.com/office/drawing/2014/main" id="{7D50F2D4-AE75-004F-EBF1-4A6456CE6C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0373" y="2420680"/>
            <a:ext cx="1071968" cy="1071968"/>
          </a:xfrm>
          <a:prstGeom prst="rect">
            <a:avLst/>
          </a:prstGeom>
        </p:spPr>
      </p:pic>
      <p:sp>
        <p:nvSpPr>
          <p:cNvPr id="15" name="CuadroTexto 14">
            <a:extLst>
              <a:ext uri="{FF2B5EF4-FFF2-40B4-BE49-F238E27FC236}">
                <a16:creationId xmlns:a16="http://schemas.microsoft.com/office/drawing/2014/main" id="{4848A629-5472-2515-149E-103D10637D7C}"/>
              </a:ext>
            </a:extLst>
          </p:cNvPr>
          <p:cNvSpPr txBox="1"/>
          <p:nvPr/>
        </p:nvSpPr>
        <p:spPr>
          <a:xfrm>
            <a:off x="2917028" y="3519616"/>
            <a:ext cx="1656917" cy="646331"/>
          </a:xfrm>
          <a:prstGeom prst="rect">
            <a:avLst/>
          </a:prstGeom>
          <a:noFill/>
        </p:spPr>
        <p:txBody>
          <a:bodyPr wrap="square" rtlCol="0">
            <a:spAutoFit/>
          </a:bodyPr>
          <a:lstStyle/>
          <a:p>
            <a:pPr algn="ctr"/>
            <a:r>
              <a:rPr lang="es-ES" dirty="0">
                <a:latin typeface="CMU Serif" panose="02000603000000000000" pitchFamily="2" charset="0"/>
                <a:ea typeface="CMU Serif" panose="02000603000000000000" pitchFamily="2" charset="0"/>
                <a:cs typeface="CMU Serif" panose="02000603000000000000" pitchFamily="2" charset="0"/>
              </a:rPr>
              <a:t>Entender datos</a:t>
            </a:r>
          </a:p>
        </p:txBody>
      </p:sp>
      <p:pic>
        <p:nvPicPr>
          <p:cNvPr id="16" name="Gráfico 15" descr="Herramientas de minería con relleno sólido">
            <a:extLst>
              <a:ext uri="{FF2B5EF4-FFF2-40B4-BE49-F238E27FC236}">
                <a16:creationId xmlns:a16="http://schemas.microsoft.com/office/drawing/2014/main" id="{5919A6BD-DF43-BC3D-37D1-5EF2D7F9AB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45970" y="2485644"/>
            <a:ext cx="914400" cy="914400"/>
          </a:xfrm>
          <a:prstGeom prst="rect">
            <a:avLst/>
          </a:prstGeom>
        </p:spPr>
      </p:pic>
      <p:sp>
        <p:nvSpPr>
          <p:cNvPr id="17" name="CuadroTexto 16">
            <a:extLst>
              <a:ext uri="{FF2B5EF4-FFF2-40B4-BE49-F238E27FC236}">
                <a16:creationId xmlns:a16="http://schemas.microsoft.com/office/drawing/2014/main" id="{3622791B-0EB0-4531-AD2E-6D5EEE94CF08}"/>
              </a:ext>
            </a:extLst>
          </p:cNvPr>
          <p:cNvSpPr txBox="1"/>
          <p:nvPr/>
        </p:nvSpPr>
        <p:spPr>
          <a:xfrm>
            <a:off x="4941300" y="3492648"/>
            <a:ext cx="1656917" cy="646331"/>
          </a:xfrm>
          <a:prstGeom prst="rect">
            <a:avLst/>
          </a:prstGeom>
          <a:noFill/>
        </p:spPr>
        <p:txBody>
          <a:bodyPr wrap="square" rtlCol="0">
            <a:spAutoFit/>
          </a:bodyPr>
          <a:lstStyle/>
          <a:p>
            <a:pPr algn="ctr"/>
            <a:r>
              <a:rPr lang="es-ES" dirty="0">
                <a:latin typeface="CMU Serif" panose="02000603000000000000" pitchFamily="2" charset="0"/>
                <a:ea typeface="CMU Serif" panose="02000603000000000000" pitchFamily="2" charset="0"/>
                <a:cs typeface="CMU Serif" panose="02000603000000000000" pitchFamily="2" charset="0"/>
              </a:rPr>
              <a:t>Preparación de datos</a:t>
            </a:r>
          </a:p>
        </p:txBody>
      </p:sp>
      <p:pic>
        <p:nvPicPr>
          <p:cNvPr id="18" name="Gráfico 17" descr="Portapapeles parcialmente comprobado con relleno sólido">
            <a:extLst>
              <a:ext uri="{FF2B5EF4-FFF2-40B4-BE49-F238E27FC236}">
                <a16:creationId xmlns:a16="http://schemas.microsoft.com/office/drawing/2014/main" id="{598EB6F9-1EA8-5079-1101-D69C531B1FB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58230" y="2441942"/>
            <a:ext cx="914400" cy="914400"/>
          </a:xfrm>
          <a:prstGeom prst="rect">
            <a:avLst/>
          </a:prstGeom>
        </p:spPr>
      </p:pic>
      <p:sp>
        <p:nvSpPr>
          <p:cNvPr id="19" name="CuadroTexto 18">
            <a:extLst>
              <a:ext uri="{FF2B5EF4-FFF2-40B4-BE49-F238E27FC236}">
                <a16:creationId xmlns:a16="http://schemas.microsoft.com/office/drawing/2014/main" id="{0FBB1593-D029-A155-053C-15E7F1E689CB}"/>
              </a:ext>
            </a:extLst>
          </p:cNvPr>
          <p:cNvSpPr txBox="1"/>
          <p:nvPr/>
        </p:nvSpPr>
        <p:spPr>
          <a:xfrm>
            <a:off x="7145072" y="3424586"/>
            <a:ext cx="1656917" cy="369332"/>
          </a:xfrm>
          <a:prstGeom prst="rect">
            <a:avLst/>
          </a:prstGeom>
          <a:noFill/>
        </p:spPr>
        <p:txBody>
          <a:bodyPr wrap="square" rtlCol="0">
            <a:spAutoFit/>
          </a:bodyPr>
          <a:lstStyle/>
          <a:p>
            <a:pPr algn="ctr"/>
            <a:r>
              <a:rPr lang="es-ES" b="1" dirty="0">
                <a:latin typeface="CMU Serif" panose="02000603000000000000" pitchFamily="2" charset="0"/>
                <a:ea typeface="CMU Serif" panose="02000603000000000000" pitchFamily="2" charset="0"/>
                <a:cs typeface="CMU Serif" panose="02000603000000000000" pitchFamily="2" charset="0"/>
              </a:rPr>
              <a:t>Modelado</a:t>
            </a:r>
          </a:p>
        </p:txBody>
      </p:sp>
      <p:sp>
        <p:nvSpPr>
          <p:cNvPr id="20" name="CuadroTexto 19">
            <a:extLst>
              <a:ext uri="{FF2B5EF4-FFF2-40B4-BE49-F238E27FC236}">
                <a16:creationId xmlns:a16="http://schemas.microsoft.com/office/drawing/2014/main" id="{10E8B656-4C9A-0B6B-8388-989B0FB1A46B}"/>
              </a:ext>
            </a:extLst>
          </p:cNvPr>
          <p:cNvSpPr txBox="1"/>
          <p:nvPr/>
        </p:nvSpPr>
        <p:spPr>
          <a:xfrm>
            <a:off x="9252842" y="3436416"/>
            <a:ext cx="1656917" cy="646331"/>
          </a:xfrm>
          <a:prstGeom prst="rect">
            <a:avLst/>
          </a:prstGeom>
          <a:noFill/>
        </p:spPr>
        <p:txBody>
          <a:bodyPr wrap="square" rtlCol="0">
            <a:spAutoFit/>
          </a:bodyPr>
          <a:lstStyle/>
          <a:p>
            <a:pPr algn="ctr"/>
            <a:r>
              <a:rPr lang="es-ES" b="1" dirty="0">
                <a:solidFill>
                  <a:srgbClr val="FF6600"/>
                </a:solidFill>
                <a:latin typeface="CMU Serif" panose="02000603000000000000" pitchFamily="2" charset="0"/>
                <a:ea typeface="CMU Serif" panose="02000603000000000000" pitchFamily="2" charset="0"/>
                <a:cs typeface="CMU Serif" panose="02000603000000000000" pitchFamily="2" charset="0"/>
              </a:rPr>
              <a:t>Evaluación y XAI</a:t>
            </a:r>
          </a:p>
        </p:txBody>
      </p:sp>
      <p:pic>
        <p:nvPicPr>
          <p:cNvPr id="21" name="Gráfico 20" descr="Robot con relleno sólido">
            <a:extLst>
              <a:ext uri="{FF2B5EF4-FFF2-40B4-BE49-F238E27FC236}">
                <a16:creationId xmlns:a16="http://schemas.microsoft.com/office/drawing/2014/main" id="{2B9E69C9-E6E7-0C70-160E-B928894F89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16331" y="2485644"/>
            <a:ext cx="914400" cy="914400"/>
          </a:xfrm>
          <a:prstGeom prst="rect">
            <a:avLst/>
          </a:prstGeom>
        </p:spPr>
      </p:pic>
    </p:spTree>
    <p:extLst>
      <p:ext uri="{BB962C8B-B14F-4D97-AF65-F5344CB8AC3E}">
        <p14:creationId xmlns:p14="http://schemas.microsoft.com/office/powerpoint/2010/main" val="206400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6AB2-0920-ABA8-8AB5-BEAB3707FA3A}"/>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F8FB3500-7EFE-EB5C-B876-4F196F17CC63}"/>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9D26E622-03A3-F4E9-8622-EAAE8220DD0F}"/>
              </a:ext>
            </a:extLst>
          </p:cNvPr>
          <p:cNvSpPr>
            <a:spLocks noGrp="1"/>
          </p:cNvSpPr>
          <p:nvPr>
            <p:ph type="sldNum" sz="quarter" idx="12"/>
          </p:nvPr>
        </p:nvSpPr>
        <p:spPr/>
        <p:txBody>
          <a:bodyPr/>
          <a:lstStyle/>
          <a:p>
            <a:pPr rtl="0"/>
            <a:fld id="{DD84031F-D6BF-4677-B12E-7D8B88BA70F7}" type="slidenum">
              <a:rPr lang="en-US" smtClean="0"/>
              <a:t>21</a:t>
            </a:fld>
            <a:endParaRPr lang="en-US"/>
          </a:p>
        </p:txBody>
      </p:sp>
      <p:pic>
        <p:nvPicPr>
          <p:cNvPr id="14" name="Imagen 13">
            <a:extLst>
              <a:ext uri="{FF2B5EF4-FFF2-40B4-BE49-F238E27FC236}">
                <a16:creationId xmlns:a16="http://schemas.microsoft.com/office/drawing/2014/main" id="{80F3A36B-D3CA-9498-C6D7-C0EEF0579C5F}"/>
              </a:ext>
            </a:extLst>
          </p:cNvPr>
          <p:cNvPicPr>
            <a:picLocks noChangeAspect="1"/>
          </p:cNvPicPr>
          <p:nvPr/>
        </p:nvPicPr>
        <p:blipFill>
          <a:blip r:embed="rId2"/>
          <a:stretch>
            <a:fillRect/>
          </a:stretch>
        </p:blipFill>
        <p:spPr>
          <a:xfrm>
            <a:off x="9918084" y="99023"/>
            <a:ext cx="1871580" cy="799949"/>
          </a:xfrm>
          <a:prstGeom prst="rect">
            <a:avLst/>
          </a:prstGeom>
        </p:spPr>
      </p:pic>
      <p:sp>
        <p:nvSpPr>
          <p:cNvPr id="15" name="Título 1">
            <a:extLst>
              <a:ext uri="{FF2B5EF4-FFF2-40B4-BE49-F238E27FC236}">
                <a16:creationId xmlns:a16="http://schemas.microsoft.com/office/drawing/2014/main" id="{0CFA0DA2-68A4-B75C-26CB-6A23A4F9B86B}"/>
              </a:ext>
            </a:extLst>
          </p:cNvPr>
          <p:cNvSpPr>
            <a:spLocks noGrp="1"/>
          </p:cNvSpPr>
          <p:nvPr>
            <p:ph type="title"/>
          </p:nvPr>
        </p:nvSpPr>
        <p:spPr>
          <a:xfrm>
            <a:off x="688448" y="455398"/>
            <a:ext cx="6792069" cy="627114"/>
          </a:xfrm>
        </p:spPr>
        <p:txBody>
          <a:bodyPr anchor="b">
            <a:normAutofit/>
          </a:bodyPr>
          <a:lstStyle/>
          <a:p>
            <a:r>
              <a:rPr lang="es-ES" dirty="0"/>
              <a:t>RESULTADOS I</a:t>
            </a:r>
          </a:p>
        </p:txBody>
      </p:sp>
      <p:sp>
        <p:nvSpPr>
          <p:cNvPr id="16" name="Título 1">
            <a:extLst>
              <a:ext uri="{FF2B5EF4-FFF2-40B4-BE49-F238E27FC236}">
                <a16:creationId xmlns:a16="http://schemas.microsoft.com/office/drawing/2014/main" id="{C25B6EDB-FD4A-AD5D-7191-A9232797C093}"/>
              </a:ext>
            </a:extLst>
          </p:cNvPr>
          <p:cNvSpPr txBox="1">
            <a:spLocks/>
          </p:cNvSpPr>
          <p:nvPr/>
        </p:nvSpPr>
        <p:spPr>
          <a:xfrm>
            <a:off x="703946" y="887263"/>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AGRUPAMIENTO</a:t>
            </a:r>
          </a:p>
        </p:txBody>
      </p:sp>
      <p:cxnSp>
        <p:nvCxnSpPr>
          <p:cNvPr id="17" name="Conector recto 16">
            <a:extLst>
              <a:ext uri="{FF2B5EF4-FFF2-40B4-BE49-F238E27FC236}">
                <a16:creationId xmlns:a16="http://schemas.microsoft.com/office/drawing/2014/main" id="{4648B107-BBBE-7DA4-6F18-A6676FBD418A}"/>
              </a:ext>
            </a:extLst>
          </p:cNvPr>
          <p:cNvCxnSpPr>
            <a:cxnSpLocks/>
          </p:cNvCxnSpPr>
          <p:nvPr/>
        </p:nvCxnSpPr>
        <p:spPr>
          <a:xfrm>
            <a:off x="775028" y="1514377"/>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2" name="Imagen 1">
            <a:extLst>
              <a:ext uri="{FF2B5EF4-FFF2-40B4-BE49-F238E27FC236}">
                <a16:creationId xmlns:a16="http://schemas.microsoft.com/office/drawing/2014/main" id="{D027C09C-13C1-6763-75DD-CA2F9CE03D54}"/>
              </a:ext>
            </a:extLst>
          </p:cNvPr>
          <p:cNvPicPr>
            <a:picLocks noChangeAspect="1"/>
          </p:cNvPicPr>
          <p:nvPr/>
        </p:nvPicPr>
        <p:blipFill>
          <a:blip r:embed="rId3"/>
          <a:stretch>
            <a:fillRect/>
          </a:stretch>
        </p:blipFill>
        <p:spPr>
          <a:xfrm>
            <a:off x="688448" y="1916944"/>
            <a:ext cx="5457643" cy="4053790"/>
          </a:xfrm>
          <a:prstGeom prst="rect">
            <a:avLst/>
          </a:prstGeom>
        </p:spPr>
      </p:pic>
      <p:pic>
        <p:nvPicPr>
          <p:cNvPr id="5" name="Imagen 4">
            <a:extLst>
              <a:ext uri="{FF2B5EF4-FFF2-40B4-BE49-F238E27FC236}">
                <a16:creationId xmlns:a16="http://schemas.microsoft.com/office/drawing/2014/main" id="{656F2B17-44F4-6408-CDDF-1FE8A35EC4E8}"/>
              </a:ext>
            </a:extLst>
          </p:cNvPr>
          <p:cNvPicPr>
            <a:picLocks noChangeAspect="1"/>
          </p:cNvPicPr>
          <p:nvPr/>
        </p:nvPicPr>
        <p:blipFill>
          <a:blip r:embed="rId4"/>
          <a:stretch>
            <a:fillRect/>
          </a:stretch>
        </p:blipFill>
        <p:spPr>
          <a:xfrm>
            <a:off x="6377399" y="1916944"/>
            <a:ext cx="5391902" cy="4053786"/>
          </a:xfrm>
          <a:prstGeom prst="rect">
            <a:avLst/>
          </a:prstGeom>
        </p:spPr>
      </p:pic>
      <p:sp>
        <p:nvSpPr>
          <p:cNvPr id="3" name="CuadroTexto 2">
            <a:extLst>
              <a:ext uri="{FF2B5EF4-FFF2-40B4-BE49-F238E27FC236}">
                <a16:creationId xmlns:a16="http://schemas.microsoft.com/office/drawing/2014/main" id="{B5444E6D-1DA0-D7F8-79FB-7E86559BBC72}"/>
              </a:ext>
            </a:extLst>
          </p:cNvPr>
          <p:cNvSpPr txBox="1"/>
          <p:nvPr/>
        </p:nvSpPr>
        <p:spPr>
          <a:xfrm>
            <a:off x="2266950" y="1581150"/>
            <a:ext cx="2717800" cy="369332"/>
          </a:xfrm>
          <a:prstGeom prst="rect">
            <a:avLst/>
          </a:prstGeom>
          <a:noFill/>
        </p:spPr>
        <p:txBody>
          <a:bodyPr wrap="square" rtlCol="0">
            <a:spAutoFit/>
          </a:bodyPr>
          <a:lstStyle/>
          <a:p>
            <a:r>
              <a:rPr lang="es-ES" dirty="0"/>
              <a:t>SEMANA 1 DEL CURSO</a:t>
            </a:r>
          </a:p>
        </p:txBody>
      </p:sp>
      <p:sp>
        <p:nvSpPr>
          <p:cNvPr id="8" name="CuadroTexto 7">
            <a:extLst>
              <a:ext uri="{FF2B5EF4-FFF2-40B4-BE49-F238E27FC236}">
                <a16:creationId xmlns:a16="http://schemas.microsoft.com/office/drawing/2014/main" id="{05D799D8-F037-02AD-C93B-E7366A496925}"/>
              </a:ext>
            </a:extLst>
          </p:cNvPr>
          <p:cNvSpPr txBox="1"/>
          <p:nvPr/>
        </p:nvSpPr>
        <p:spPr>
          <a:xfrm>
            <a:off x="7785100" y="1581150"/>
            <a:ext cx="2717800" cy="369332"/>
          </a:xfrm>
          <a:prstGeom prst="rect">
            <a:avLst/>
          </a:prstGeom>
          <a:noFill/>
        </p:spPr>
        <p:txBody>
          <a:bodyPr wrap="square" rtlCol="0">
            <a:spAutoFit/>
          </a:bodyPr>
          <a:lstStyle/>
          <a:p>
            <a:r>
              <a:rPr lang="es-ES" dirty="0"/>
              <a:t>SEMANA 5 DEL CURSO</a:t>
            </a:r>
          </a:p>
        </p:txBody>
      </p:sp>
    </p:spTree>
    <p:extLst>
      <p:ext uri="{BB962C8B-B14F-4D97-AF65-F5344CB8AC3E}">
        <p14:creationId xmlns:p14="http://schemas.microsoft.com/office/powerpoint/2010/main" val="1624048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4A335-8334-8811-B6B9-059FE1F4F764}"/>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6BCF473F-E1DB-5945-3936-55FBE51211F0}"/>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19901163-E121-4370-FFBA-FF84B5721B5B}"/>
              </a:ext>
            </a:extLst>
          </p:cNvPr>
          <p:cNvSpPr>
            <a:spLocks noGrp="1"/>
          </p:cNvSpPr>
          <p:nvPr>
            <p:ph type="sldNum" sz="quarter" idx="12"/>
          </p:nvPr>
        </p:nvSpPr>
        <p:spPr/>
        <p:txBody>
          <a:bodyPr/>
          <a:lstStyle/>
          <a:p>
            <a:pPr rtl="0"/>
            <a:fld id="{DD84031F-D6BF-4677-B12E-7D8B88BA70F7}" type="slidenum">
              <a:rPr lang="en-US" smtClean="0"/>
              <a:t>22</a:t>
            </a:fld>
            <a:endParaRPr lang="en-US"/>
          </a:p>
        </p:txBody>
      </p:sp>
      <p:pic>
        <p:nvPicPr>
          <p:cNvPr id="14" name="Imagen 13">
            <a:extLst>
              <a:ext uri="{FF2B5EF4-FFF2-40B4-BE49-F238E27FC236}">
                <a16:creationId xmlns:a16="http://schemas.microsoft.com/office/drawing/2014/main" id="{BBA98E3E-A127-5294-98ED-B17DA3F354E2}"/>
              </a:ext>
            </a:extLst>
          </p:cNvPr>
          <p:cNvPicPr>
            <a:picLocks noChangeAspect="1"/>
          </p:cNvPicPr>
          <p:nvPr/>
        </p:nvPicPr>
        <p:blipFill>
          <a:blip r:embed="rId2"/>
          <a:stretch>
            <a:fillRect/>
          </a:stretch>
        </p:blipFill>
        <p:spPr>
          <a:xfrm>
            <a:off x="9918084" y="99023"/>
            <a:ext cx="1871580" cy="799949"/>
          </a:xfrm>
          <a:prstGeom prst="rect">
            <a:avLst/>
          </a:prstGeom>
        </p:spPr>
      </p:pic>
      <p:sp>
        <p:nvSpPr>
          <p:cNvPr id="15" name="Título 1">
            <a:extLst>
              <a:ext uri="{FF2B5EF4-FFF2-40B4-BE49-F238E27FC236}">
                <a16:creationId xmlns:a16="http://schemas.microsoft.com/office/drawing/2014/main" id="{3A253FAD-681E-86DB-1EEF-D69CF85A91BD}"/>
              </a:ext>
            </a:extLst>
          </p:cNvPr>
          <p:cNvSpPr>
            <a:spLocks noGrp="1"/>
          </p:cNvSpPr>
          <p:nvPr>
            <p:ph type="title"/>
          </p:nvPr>
        </p:nvSpPr>
        <p:spPr>
          <a:xfrm>
            <a:off x="688448" y="455398"/>
            <a:ext cx="6792069" cy="627114"/>
          </a:xfrm>
        </p:spPr>
        <p:txBody>
          <a:bodyPr anchor="b">
            <a:normAutofit/>
          </a:bodyPr>
          <a:lstStyle/>
          <a:p>
            <a:r>
              <a:rPr lang="es-ES" dirty="0"/>
              <a:t>RESULTADOS II</a:t>
            </a:r>
          </a:p>
        </p:txBody>
      </p:sp>
      <p:sp>
        <p:nvSpPr>
          <p:cNvPr id="16" name="Título 1">
            <a:extLst>
              <a:ext uri="{FF2B5EF4-FFF2-40B4-BE49-F238E27FC236}">
                <a16:creationId xmlns:a16="http://schemas.microsoft.com/office/drawing/2014/main" id="{BD136A12-360B-1236-FC95-CAFB9B237DBF}"/>
              </a:ext>
            </a:extLst>
          </p:cNvPr>
          <p:cNvSpPr txBox="1">
            <a:spLocks/>
          </p:cNvSpPr>
          <p:nvPr/>
        </p:nvSpPr>
        <p:spPr>
          <a:xfrm>
            <a:off x="703946" y="887263"/>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err="1">
                <a:solidFill>
                  <a:srgbClr val="FF6600"/>
                </a:solidFill>
              </a:rPr>
              <a:t>AUTOENCoDER</a:t>
            </a:r>
            <a:endParaRPr lang="es-ES" sz="2400" dirty="0">
              <a:solidFill>
                <a:srgbClr val="FF6600"/>
              </a:solidFill>
            </a:endParaRPr>
          </a:p>
        </p:txBody>
      </p:sp>
      <p:cxnSp>
        <p:nvCxnSpPr>
          <p:cNvPr id="17" name="Conector recto 16">
            <a:extLst>
              <a:ext uri="{FF2B5EF4-FFF2-40B4-BE49-F238E27FC236}">
                <a16:creationId xmlns:a16="http://schemas.microsoft.com/office/drawing/2014/main" id="{C279EE5D-FAAF-7493-6718-C5871F022551}"/>
              </a:ext>
            </a:extLst>
          </p:cNvPr>
          <p:cNvCxnSpPr>
            <a:cxnSpLocks/>
          </p:cNvCxnSpPr>
          <p:nvPr/>
        </p:nvCxnSpPr>
        <p:spPr>
          <a:xfrm>
            <a:off x="775028" y="1514377"/>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Imagen 2">
            <a:extLst>
              <a:ext uri="{FF2B5EF4-FFF2-40B4-BE49-F238E27FC236}">
                <a16:creationId xmlns:a16="http://schemas.microsoft.com/office/drawing/2014/main" id="{DAC68531-CE1F-A335-6ABF-0B5EF275D111}"/>
              </a:ext>
            </a:extLst>
          </p:cNvPr>
          <p:cNvPicPr>
            <a:picLocks noChangeAspect="1"/>
          </p:cNvPicPr>
          <p:nvPr/>
        </p:nvPicPr>
        <p:blipFill>
          <a:blip r:embed="rId3"/>
          <a:stretch>
            <a:fillRect/>
          </a:stretch>
        </p:blipFill>
        <p:spPr>
          <a:xfrm>
            <a:off x="775027" y="2017254"/>
            <a:ext cx="5393927" cy="3976967"/>
          </a:xfrm>
          <a:prstGeom prst="rect">
            <a:avLst/>
          </a:prstGeom>
        </p:spPr>
      </p:pic>
      <p:pic>
        <p:nvPicPr>
          <p:cNvPr id="9" name="Imagen 8">
            <a:extLst>
              <a:ext uri="{FF2B5EF4-FFF2-40B4-BE49-F238E27FC236}">
                <a16:creationId xmlns:a16="http://schemas.microsoft.com/office/drawing/2014/main" id="{FF8874BF-FFE5-9D6F-44FE-091F50E88485}"/>
              </a:ext>
            </a:extLst>
          </p:cNvPr>
          <p:cNvPicPr>
            <a:picLocks noChangeAspect="1"/>
          </p:cNvPicPr>
          <p:nvPr/>
        </p:nvPicPr>
        <p:blipFill>
          <a:blip r:embed="rId4"/>
          <a:stretch>
            <a:fillRect/>
          </a:stretch>
        </p:blipFill>
        <p:spPr>
          <a:xfrm>
            <a:off x="6318273" y="2017254"/>
            <a:ext cx="5393927" cy="4017796"/>
          </a:xfrm>
          <a:prstGeom prst="rect">
            <a:avLst/>
          </a:prstGeom>
        </p:spPr>
      </p:pic>
      <p:sp>
        <p:nvSpPr>
          <p:cNvPr id="2" name="CuadroTexto 1">
            <a:extLst>
              <a:ext uri="{FF2B5EF4-FFF2-40B4-BE49-F238E27FC236}">
                <a16:creationId xmlns:a16="http://schemas.microsoft.com/office/drawing/2014/main" id="{273C9AF5-1367-81D6-7B24-8C3783FBD47D}"/>
              </a:ext>
            </a:extLst>
          </p:cNvPr>
          <p:cNvSpPr txBox="1"/>
          <p:nvPr/>
        </p:nvSpPr>
        <p:spPr>
          <a:xfrm>
            <a:off x="2231439" y="1647921"/>
            <a:ext cx="2975266" cy="369332"/>
          </a:xfrm>
          <a:prstGeom prst="rect">
            <a:avLst/>
          </a:prstGeom>
          <a:noFill/>
        </p:spPr>
        <p:txBody>
          <a:bodyPr wrap="square" rtlCol="0">
            <a:spAutoFit/>
          </a:bodyPr>
          <a:lstStyle/>
          <a:p>
            <a:r>
              <a:rPr lang="es-ES" dirty="0"/>
              <a:t>SEMANA 12 DEL CURSO</a:t>
            </a:r>
          </a:p>
        </p:txBody>
      </p:sp>
      <p:sp>
        <p:nvSpPr>
          <p:cNvPr id="5" name="CuadroTexto 4">
            <a:extLst>
              <a:ext uri="{FF2B5EF4-FFF2-40B4-BE49-F238E27FC236}">
                <a16:creationId xmlns:a16="http://schemas.microsoft.com/office/drawing/2014/main" id="{6F0F9CA3-6F51-3837-AD25-AFC8D02A327A}"/>
              </a:ext>
            </a:extLst>
          </p:cNvPr>
          <p:cNvSpPr txBox="1"/>
          <p:nvPr/>
        </p:nvSpPr>
        <p:spPr>
          <a:xfrm>
            <a:off x="7720774" y="1647921"/>
            <a:ext cx="3578495" cy="369332"/>
          </a:xfrm>
          <a:prstGeom prst="rect">
            <a:avLst/>
          </a:prstGeom>
          <a:noFill/>
        </p:spPr>
        <p:txBody>
          <a:bodyPr wrap="square" rtlCol="0">
            <a:spAutoFit/>
          </a:bodyPr>
          <a:lstStyle/>
          <a:p>
            <a:r>
              <a:rPr lang="es-ES" dirty="0"/>
              <a:t>SEMANA 24 DEL CURSO</a:t>
            </a:r>
          </a:p>
        </p:txBody>
      </p:sp>
    </p:spTree>
    <p:extLst>
      <p:ext uri="{BB962C8B-B14F-4D97-AF65-F5344CB8AC3E}">
        <p14:creationId xmlns:p14="http://schemas.microsoft.com/office/powerpoint/2010/main" val="422137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3E01D-A457-07F1-9BD5-C8C88036E927}"/>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424CE9DE-9126-0BC2-D06F-18F4E4384423}"/>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DC109324-4B3D-8A0E-2807-58EA233B432E}"/>
              </a:ext>
            </a:extLst>
          </p:cNvPr>
          <p:cNvSpPr>
            <a:spLocks noGrp="1"/>
          </p:cNvSpPr>
          <p:nvPr>
            <p:ph type="sldNum" sz="quarter" idx="12"/>
          </p:nvPr>
        </p:nvSpPr>
        <p:spPr/>
        <p:txBody>
          <a:bodyPr/>
          <a:lstStyle/>
          <a:p>
            <a:pPr rtl="0"/>
            <a:fld id="{DD84031F-D6BF-4677-B12E-7D8B88BA70F7}" type="slidenum">
              <a:rPr lang="en-US" smtClean="0"/>
              <a:t>23</a:t>
            </a:fld>
            <a:endParaRPr lang="en-US"/>
          </a:p>
        </p:txBody>
      </p:sp>
      <p:pic>
        <p:nvPicPr>
          <p:cNvPr id="14" name="Imagen 13">
            <a:extLst>
              <a:ext uri="{FF2B5EF4-FFF2-40B4-BE49-F238E27FC236}">
                <a16:creationId xmlns:a16="http://schemas.microsoft.com/office/drawing/2014/main" id="{912EE2ED-14A6-7B55-17C7-5F9D3A46C1AB}"/>
              </a:ext>
            </a:extLst>
          </p:cNvPr>
          <p:cNvPicPr>
            <a:picLocks noChangeAspect="1"/>
          </p:cNvPicPr>
          <p:nvPr/>
        </p:nvPicPr>
        <p:blipFill>
          <a:blip r:embed="rId2"/>
          <a:stretch>
            <a:fillRect/>
          </a:stretch>
        </p:blipFill>
        <p:spPr>
          <a:xfrm>
            <a:off x="9918084" y="99023"/>
            <a:ext cx="1871580" cy="799949"/>
          </a:xfrm>
          <a:prstGeom prst="rect">
            <a:avLst/>
          </a:prstGeom>
        </p:spPr>
      </p:pic>
      <p:sp>
        <p:nvSpPr>
          <p:cNvPr id="15" name="Título 1">
            <a:extLst>
              <a:ext uri="{FF2B5EF4-FFF2-40B4-BE49-F238E27FC236}">
                <a16:creationId xmlns:a16="http://schemas.microsoft.com/office/drawing/2014/main" id="{CD491852-0AD7-49C3-1FE0-9AB24879B896}"/>
              </a:ext>
            </a:extLst>
          </p:cNvPr>
          <p:cNvSpPr>
            <a:spLocks noGrp="1"/>
          </p:cNvSpPr>
          <p:nvPr>
            <p:ph type="title"/>
          </p:nvPr>
        </p:nvSpPr>
        <p:spPr>
          <a:xfrm>
            <a:off x="688448" y="455398"/>
            <a:ext cx="6792069" cy="627114"/>
          </a:xfrm>
        </p:spPr>
        <p:txBody>
          <a:bodyPr anchor="b">
            <a:normAutofit/>
          </a:bodyPr>
          <a:lstStyle/>
          <a:p>
            <a:r>
              <a:rPr lang="es-ES" dirty="0"/>
              <a:t>RESULTADOS III</a:t>
            </a:r>
          </a:p>
        </p:txBody>
      </p:sp>
      <p:sp>
        <p:nvSpPr>
          <p:cNvPr id="16" name="Título 1">
            <a:extLst>
              <a:ext uri="{FF2B5EF4-FFF2-40B4-BE49-F238E27FC236}">
                <a16:creationId xmlns:a16="http://schemas.microsoft.com/office/drawing/2014/main" id="{01CCF864-8B31-A1C6-656A-14DBB15A41F2}"/>
              </a:ext>
            </a:extLst>
          </p:cNvPr>
          <p:cNvSpPr txBox="1">
            <a:spLocks/>
          </p:cNvSpPr>
          <p:nvPr/>
        </p:nvSpPr>
        <p:spPr>
          <a:xfrm>
            <a:off x="703946" y="887263"/>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CLASIFICACIÓN BINARIA</a:t>
            </a:r>
          </a:p>
        </p:txBody>
      </p:sp>
      <p:cxnSp>
        <p:nvCxnSpPr>
          <p:cNvPr id="17" name="Conector recto 16">
            <a:extLst>
              <a:ext uri="{FF2B5EF4-FFF2-40B4-BE49-F238E27FC236}">
                <a16:creationId xmlns:a16="http://schemas.microsoft.com/office/drawing/2014/main" id="{FD592CD0-A48B-AA10-87E9-9E7F265D4236}"/>
              </a:ext>
            </a:extLst>
          </p:cNvPr>
          <p:cNvCxnSpPr>
            <a:cxnSpLocks/>
          </p:cNvCxnSpPr>
          <p:nvPr/>
        </p:nvCxnSpPr>
        <p:spPr>
          <a:xfrm>
            <a:off x="775028" y="1514377"/>
            <a:ext cx="6776634"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3" name="Tabla 2">
            <a:extLst>
              <a:ext uri="{FF2B5EF4-FFF2-40B4-BE49-F238E27FC236}">
                <a16:creationId xmlns:a16="http://schemas.microsoft.com/office/drawing/2014/main" id="{41C9B126-C7B9-3F37-6FF0-2222FEAEB19F}"/>
              </a:ext>
            </a:extLst>
          </p:cNvPr>
          <p:cNvGraphicFramePr>
            <a:graphicFrameLocks noGrp="1"/>
          </p:cNvGraphicFramePr>
          <p:nvPr>
            <p:extLst>
              <p:ext uri="{D42A27DB-BD31-4B8C-83A1-F6EECF244321}">
                <p14:modId xmlns:p14="http://schemas.microsoft.com/office/powerpoint/2010/main" val="488157620"/>
              </p:ext>
            </p:extLst>
          </p:nvPr>
        </p:nvGraphicFramePr>
        <p:xfrm>
          <a:off x="775028" y="1805463"/>
          <a:ext cx="5388264" cy="4055583"/>
        </p:xfrm>
        <a:graphic>
          <a:graphicData uri="http://schemas.openxmlformats.org/drawingml/2006/table">
            <a:tbl>
              <a:tblPr firstRow="1" firstCol="1" bandRow="1">
                <a:tableStyleId>{5C22544A-7EE6-4342-B048-85BDC9FD1C3A}</a:tableStyleId>
              </a:tblPr>
              <a:tblGrid>
                <a:gridCol w="465437">
                  <a:extLst>
                    <a:ext uri="{9D8B030D-6E8A-4147-A177-3AD203B41FA5}">
                      <a16:colId xmlns:a16="http://schemas.microsoft.com/office/drawing/2014/main" val="4192790243"/>
                    </a:ext>
                  </a:extLst>
                </a:gridCol>
                <a:gridCol w="645485">
                  <a:extLst>
                    <a:ext uri="{9D8B030D-6E8A-4147-A177-3AD203B41FA5}">
                      <a16:colId xmlns:a16="http://schemas.microsoft.com/office/drawing/2014/main" val="4192119374"/>
                    </a:ext>
                  </a:extLst>
                </a:gridCol>
                <a:gridCol w="883107">
                  <a:extLst>
                    <a:ext uri="{9D8B030D-6E8A-4147-A177-3AD203B41FA5}">
                      <a16:colId xmlns:a16="http://schemas.microsoft.com/office/drawing/2014/main" val="1775970482"/>
                    </a:ext>
                  </a:extLst>
                </a:gridCol>
                <a:gridCol w="875593">
                  <a:extLst>
                    <a:ext uri="{9D8B030D-6E8A-4147-A177-3AD203B41FA5}">
                      <a16:colId xmlns:a16="http://schemas.microsoft.com/office/drawing/2014/main" val="2444441728"/>
                    </a:ext>
                  </a:extLst>
                </a:gridCol>
                <a:gridCol w="876212">
                  <a:extLst>
                    <a:ext uri="{9D8B030D-6E8A-4147-A177-3AD203B41FA5}">
                      <a16:colId xmlns:a16="http://schemas.microsoft.com/office/drawing/2014/main" val="878983363"/>
                    </a:ext>
                  </a:extLst>
                </a:gridCol>
                <a:gridCol w="788465">
                  <a:extLst>
                    <a:ext uri="{9D8B030D-6E8A-4147-A177-3AD203B41FA5}">
                      <a16:colId xmlns:a16="http://schemas.microsoft.com/office/drawing/2014/main" val="2331284889"/>
                    </a:ext>
                  </a:extLst>
                </a:gridCol>
                <a:gridCol w="853965">
                  <a:extLst>
                    <a:ext uri="{9D8B030D-6E8A-4147-A177-3AD203B41FA5}">
                      <a16:colId xmlns:a16="http://schemas.microsoft.com/office/drawing/2014/main" val="3115967874"/>
                    </a:ext>
                  </a:extLst>
                </a:gridCol>
              </a:tblGrid>
              <a:tr h="554569">
                <a:tc>
                  <a:txBody>
                    <a:bodyPr/>
                    <a:lstStyle/>
                    <a:p>
                      <a:pPr algn="just">
                        <a:lnSpc>
                          <a:spcPct val="150000"/>
                        </a:lnSpc>
                        <a:spcAft>
                          <a:spcPts val="1000"/>
                        </a:spcAft>
                        <a:buNone/>
                      </a:pPr>
                      <a:r>
                        <a:rPr lang="es-ES" sz="1000" dirty="0" err="1">
                          <a:effectLst/>
                        </a:rPr>
                        <a:t>week</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000" dirty="0" err="1">
                          <a:effectLst/>
                        </a:rPr>
                        <a:t>n_samples</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000" dirty="0" err="1">
                          <a:effectLst/>
                        </a:rPr>
                        <a:t>accuracy</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spcAft>
                          <a:spcPts val="1000"/>
                        </a:spcAft>
                        <a:buNone/>
                      </a:pPr>
                      <a:r>
                        <a:rPr lang="es-ES" sz="1000" dirty="0" err="1">
                          <a:effectLst/>
                        </a:rPr>
                        <a:t>Balanced</a:t>
                      </a:r>
                      <a:br>
                        <a:rPr lang="es-ES" sz="1000" dirty="0">
                          <a:effectLst/>
                        </a:rPr>
                      </a:br>
                      <a:r>
                        <a:rPr lang="es-ES" sz="1000" dirty="0" err="1">
                          <a:effectLst/>
                        </a:rPr>
                        <a:t>accuracy</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000" dirty="0" err="1">
                          <a:effectLst/>
                        </a:rPr>
                        <a:t>precision</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000" dirty="0" err="1">
                          <a:effectLst/>
                        </a:rPr>
                        <a:t>recall</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000" dirty="0" err="1">
                          <a:effectLst/>
                        </a:rPr>
                        <a:t>auc</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03011468"/>
                  </a:ext>
                </a:extLst>
              </a:tr>
              <a:tr h="318274">
                <a:tc>
                  <a:txBody>
                    <a:bodyPr/>
                    <a:lstStyle/>
                    <a:p>
                      <a:pPr algn="just">
                        <a:lnSpc>
                          <a:spcPct val="150000"/>
                        </a:lnSpc>
                        <a:spcAft>
                          <a:spcPts val="1000"/>
                        </a:spcAft>
                        <a:buNone/>
                      </a:pPr>
                      <a:r>
                        <a:rPr lang="es-ES" sz="1200" dirty="0">
                          <a:effectLst/>
                        </a:rPr>
                        <a:t>1</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2774</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0.695025</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0.634221</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0.553603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0.396725</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0.713280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55615043"/>
                  </a:ext>
                </a:extLst>
              </a:tr>
              <a:tr h="318274">
                <a:tc>
                  <a:txBody>
                    <a:bodyPr/>
                    <a:lstStyle/>
                    <a:p>
                      <a:pPr algn="just">
                        <a:lnSpc>
                          <a:spcPct val="150000"/>
                        </a:lnSpc>
                        <a:spcAft>
                          <a:spcPts val="1000"/>
                        </a:spcAft>
                        <a:buNone/>
                      </a:pPr>
                      <a:r>
                        <a:rPr lang="es-ES" sz="1200" dirty="0">
                          <a:effectLst/>
                        </a:rPr>
                        <a:t>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3203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0.726506</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0.719960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0.567568</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0.654206</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0.783230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33960971"/>
                  </a:ext>
                </a:extLst>
              </a:tr>
              <a:tr h="318274">
                <a:tc>
                  <a:txBody>
                    <a:bodyPr/>
                    <a:lstStyle/>
                    <a:p>
                      <a:pPr algn="just">
                        <a:lnSpc>
                          <a:spcPct val="150000"/>
                        </a:lnSpc>
                        <a:spcAft>
                          <a:spcPts val="1000"/>
                        </a:spcAft>
                        <a:buNone/>
                      </a:pPr>
                      <a:r>
                        <a:rPr lang="es-ES" sz="1200" dirty="0">
                          <a:effectLst/>
                        </a:rPr>
                        <a:t>5</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3252</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0.803813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0.761390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0.682875</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0.655172</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0.832960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15260086"/>
                  </a:ext>
                </a:extLst>
              </a:tr>
              <a:tr h="318274">
                <a:tc>
                  <a:txBody>
                    <a:bodyPr/>
                    <a:lstStyle/>
                    <a:p>
                      <a:pPr algn="just">
                        <a:lnSpc>
                          <a:spcPct val="150000"/>
                        </a:lnSpc>
                        <a:spcAft>
                          <a:spcPts val="1000"/>
                        </a:spcAft>
                        <a:buNone/>
                      </a:pPr>
                      <a:r>
                        <a:rPr lang="es-ES" sz="1200" dirty="0">
                          <a:effectLst/>
                        </a:rPr>
                        <a:t>8</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3283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0.845263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0.807918</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0.732932</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0.732197</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0.877149</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65400095"/>
                  </a:ext>
                </a:extLst>
              </a:tr>
              <a:tr h="318274">
                <a:tc>
                  <a:txBody>
                    <a:bodyPr/>
                    <a:lstStyle/>
                    <a:p>
                      <a:pPr algn="just">
                        <a:lnSpc>
                          <a:spcPct val="150000"/>
                        </a:lnSpc>
                        <a:spcAft>
                          <a:spcPts val="1000"/>
                        </a:spcAft>
                        <a:buNone/>
                      </a:pPr>
                      <a:r>
                        <a:rPr lang="es-ES" sz="1200">
                          <a:effectLst/>
                        </a:rPr>
                        <a:t>10</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3290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0.864134</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0.840348</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0.777555</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0.777555</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0.900789</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02774471"/>
                  </a:ext>
                </a:extLst>
              </a:tr>
              <a:tr h="318274">
                <a:tc>
                  <a:txBody>
                    <a:bodyPr/>
                    <a:lstStyle/>
                    <a:p>
                      <a:pPr algn="just">
                        <a:lnSpc>
                          <a:spcPct val="150000"/>
                        </a:lnSpc>
                        <a:spcAft>
                          <a:spcPts val="1000"/>
                        </a:spcAft>
                        <a:buNone/>
                      </a:pPr>
                      <a:r>
                        <a:rPr lang="es-ES" sz="1200">
                          <a:effectLst/>
                        </a:rPr>
                        <a:t>12</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3291</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0.881191</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0.844570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0.839866</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0.751503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0.908812</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88300707"/>
                  </a:ext>
                </a:extLst>
              </a:tr>
              <a:tr h="318274">
                <a:tc>
                  <a:txBody>
                    <a:bodyPr/>
                    <a:lstStyle/>
                    <a:p>
                      <a:pPr algn="just">
                        <a:lnSpc>
                          <a:spcPct val="150000"/>
                        </a:lnSpc>
                        <a:spcAft>
                          <a:spcPts val="1000"/>
                        </a:spcAft>
                        <a:buNone/>
                      </a:pPr>
                      <a:r>
                        <a:rPr lang="es-ES" sz="1200">
                          <a:effectLst/>
                        </a:rPr>
                        <a:t>15</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3295</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0.891958</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0.871739</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0.843424</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0.808809</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0.934743</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54475431"/>
                  </a:ext>
                </a:extLst>
              </a:tr>
              <a:tr h="318274">
                <a:tc>
                  <a:txBody>
                    <a:bodyPr/>
                    <a:lstStyle/>
                    <a:p>
                      <a:pPr algn="just">
                        <a:lnSpc>
                          <a:spcPct val="150000"/>
                        </a:lnSpc>
                        <a:spcAft>
                          <a:spcPts val="1000"/>
                        </a:spcAft>
                        <a:buNone/>
                      </a:pPr>
                      <a:r>
                        <a:rPr lang="es-ES" sz="1200">
                          <a:effectLst/>
                        </a:rPr>
                        <a:t>18</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3297</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0.909918</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0.897196</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0.849112</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0.861000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0.954141</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8755912"/>
                  </a:ext>
                </a:extLst>
              </a:tr>
              <a:tr h="318274">
                <a:tc>
                  <a:txBody>
                    <a:bodyPr/>
                    <a:lstStyle/>
                    <a:p>
                      <a:pPr algn="just">
                        <a:lnSpc>
                          <a:spcPct val="150000"/>
                        </a:lnSpc>
                        <a:spcAft>
                          <a:spcPts val="1000"/>
                        </a:spcAft>
                        <a:buNone/>
                      </a:pPr>
                      <a:r>
                        <a:rPr lang="es-ES" sz="1200">
                          <a:effectLst/>
                        </a:rPr>
                        <a:t>20</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3299</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0.933010</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0.920534</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0.897566</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0.885000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0.966172</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6277460"/>
                  </a:ext>
                </a:extLst>
              </a:tr>
              <a:tr h="318274">
                <a:tc>
                  <a:txBody>
                    <a:bodyPr/>
                    <a:lstStyle/>
                    <a:p>
                      <a:pPr algn="just">
                        <a:lnSpc>
                          <a:spcPct val="150000"/>
                        </a:lnSpc>
                        <a:spcAft>
                          <a:spcPts val="1000"/>
                        </a:spcAft>
                        <a:buNone/>
                      </a:pPr>
                      <a:r>
                        <a:rPr lang="es-ES" sz="1200">
                          <a:effectLst/>
                        </a:rPr>
                        <a:t>24</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3299</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0.947560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0.948014</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0.916503</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0.933000</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0.985396</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96717618"/>
                  </a:ext>
                </a:extLst>
              </a:tr>
              <a:tr h="318274">
                <a:tc>
                  <a:txBody>
                    <a:bodyPr/>
                    <a:lstStyle/>
                    <a:p>
                      <a:pPr algn="just">
                        <a:lnSpc>
                          <a:spcPct val="150000"/>
                        </a:lnSpc>
                        <a:spcAft>
                          <a:spcPts val="1000"/>
                        </a:spcAft>
                        <a:buNone/>
                      </a:pPr>
                      <a:r>
                        <a:rPr lang="es-ES" sz="1200">
                          <a:effectLst/>
                        </a:rPr>
                        <a:t>28</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3299</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0.968172</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0.962908</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0.948949</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a:effectLst/>
                        </a:rPr>
                        <a:t>0.948000</a:t>
                      </a:r>
                      <a:endParaRPr lang="es-ES" sz="120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1000"/>
                        </a:spcAft>
                        <a:buNone/>
                      </a:pPr>
                      <a:r>
                        <a:rPr lang="es-ES" sz="1200" dirty="0">
                          <a:effectLst/>
                        </a:rPr>
                        <a:t>0.990856</a:t>
                      </a:r>
                      <a:endParaRPr lang="es-ES" sz="1200" dirty="0">
                        <a:effectLst/>
                        <a:latin typeface="CMU Serif" panose="02000603000000000000" pitchFamily="2"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40415166"/>
                  </a:ext>
                </a:extLst>
              </a:tr>
            </a:tbl>
          </a:graphicData>
        </a:graphic>
      </p:graphicFrame>
      <p:pic>
        <p:nvPicPr>
          <p:cNvPr id="2" name="Imagen 1">
            <a:extLst>
              <a:ext uri="{FF2B5EF4-FFF2-40B4-BE49-F238E27FC236}">
                <a16:creationId xmlns:a16="http://schemas.microsoft.com/office/drawing/2014/main" id="{12F7FE1D-FB5F-8F0C-FD9D-955B57E4720A}"/>
              </a:ext>
            </a:extLst>
          </p:cNvPr>
          <p:cNvPicPr>
            <a:picLocks noChangeAspect="1"/>
          </p:cNvPicPr>
          <p:nvPr/>
        </p:nvPicPr>
        <p:blipFill>
          <a:blip r:embed="rId3"/>
          <a:stretch>
            <a:fillRect/>
          </a:stretch>
        </p:blipFill>
        <p:spPr>
          <a:xfrm>
            <a:off x="6482449" y="4621751"/>
            <a:ext cx="4934521" cy="1239295"/>
          </a:xfrm>
          <a:prstGeom prst="rect">
            <a:avLst/>
          </a:prstGeom>
        </p:spPr>
      </p:pic>
      <p:pic>
        <p:nvPicPr>
          <p:cNvPr id="8" name="Imagen 7">
            <a:extLst>
              <a:ext uri="{FF2B5EF4-FFF2-40B4-BE49-F238E27FC236}">
                <a16:creationId xmlns:a16="http://schemas.microsoft.com/office/drawing/2014/main" id="{11711223-29C8-8451-ABFC-91195E00EC52}"/>
              </a:ext>
            </a:extLst>
          </p:cNvPr>
          <p:cNvPicPr>
            <a:picLocks noChangeAspect="1"/>
          </p:cNvPicPr>
          <p:nvPr/>
        </p:nvPicPr>
        <p:blipFill>
          <a:blip r:embed="rId4"/>
          <a:stretch>
            <a:fillRect/>
          </a:stretch>
        </p:blipFill>
        <p:spPr>
          <a:xfrm>
            <a:off x="6368343" y="1709626"/>
            <a:ext cx="5162735" cy="2903785"/>
          </a:xfrm>
          <a:prstGeom prst="rect">
            <a:avLst/>
          </a:prstGeom>
        </p:spPr>
      </p:pic>
    </p:spTree>
    <p:extLst>
      <p:ext uri="{BB962C8B-B14F-4D97-AF65-F5344CB8AC3E}">
        <p14:creationId xmlns:p14="http://schemas.microsoft.com/office/powerpoint/2010/main" val="325981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48F6-CF08-E684-7F8B-670AC452CB5C}"/>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6B819928-DD29-6980-1CCF-6EC7AEF59BA9}"/>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7093D989-421A-3210-F404-1BEB56E4914D}"/>
              </a:ext>
            </a:extLst>
          </p:cNvPr>
          <p:cNvSpPr>
            <a:spLocks noGrp="1"/>
          </p:cNvSpPr>
          <p:nvPr>
            <p:ph type="sldNum" sz="quarter" idx="12"/>
          </p:nvPr>
        </p:nvSpPr>
        <p:spPr/>
        <p:txBody>
          <a:bodyPr/>
          <a:lstStyle/>
          <a:p>
            <a:pPr rtl="0"/>
            <a:fld id="{DD84031F-D6BF-4677-B12E-7D8B88BA70F7}" type="slidenum">
              <a:rPr lang="en-US" smtClean="0"/>
              <a:t>24</a:t>
            </a:fld>
            <a:endParaRPr lang="en-US"/>
          </a:p>
        </p:txBody>
      </p:sp>
      <p:pic>
        <p:nvPicPr>
          <p:cNvPr id="14" name="Imagen 13">
            <a:extLst>
              <a:ext uri="{FF2B5EF4-FFF2-40B4-BE49-F238E27FC236}">
                <a16:creationId xmlns:a16="http://schemas.microsoft.com/office/drawing/2014/main" id="{D2D25AF8-8632-8DEF-CA5C-A1215B9D8EA6}"/>
              </a:ext>
            </a:extLst>
          </p:cNvPr>
          <p:cNvPicPr>
            <a:picLocks noChangeAspect="1"/>
          </p:cNvPicPr>
          <p:nvPr/>
        </p:nvPicPr>
        <p:blipFill>
          <a:blip r:embed="rId2"/>
          <a:stretch>
            <a:fillRect/>
          </a:stretch>
        </p:blipFill>
        <p:spPr>
          <a:xfrm>
            <a:off x="9918084" y="99023"/>
            <a:ext cx="1871580" cy="799949"/>
          </a:xfrm>
          <a:prstGeom prst="rect">
            <a:avLst/>
          </a:prstGeom>
        </p:spPr>
      </p:pic>
      <p:sp>
        <p:nvSpPr>
          <p:cNvPr id="15" name="Título 1">
            <a:extLst>
              <a:ext uri="{FF2B5EF4-FFF2-40B4-BE49-F238E27FC236}">
                <a16:creationId xmlns:a16="http://schemas.microsoft.com/office/drawing/2014/main" id="{054857E0-89F0-7E8C-E31F-13C50F7A627D}"/>
              </a:ext>
            </a:extLst>
          </p:cNvPr>
          <p:cNvSpPr>
            <a:spLocks noGrp="1"/>
          </p:cNvSpPr>
          <p:nvPr>
            <p:ph type="title"/>
          </p:nvPr>
        </p:nvSpPr>
        <p:spPr>
          <a:xfrm>
            <a:off x="688448" y="455398"/>
            <a:ext cx="6792069" cy="627114"/>
          </a:xfrm>
        </p:spPr>
        <p:txBody>
          <a:bodyPr anchor="b">
            <a:normAutofit/>
          </a:bodyPr>
          <a:lstStyle/>
          <a:p>
            <a:r>
              <a:rPr lang="es-ES" dirty="0"/>
              <a:t>XAI (IA Explicable) I</a:t>
            </a:r>
          </a:p>
        </p:txBody>
      </p:sp>
      <p:sp>
        <p:nvSpPr>
          <p:cNvPr id="16" name="Título 1">
            <a:extLst>
              <a:ext uri="{FF2B5EF4-FFF2-40B4-BE49-F238E27FC236}">
                <a16:creationId xmlns:a16="http://schemas.microsoft.com/office/drawing/2014/main" id="{E95ADACD-8045-7212-FA68-C152E9A9B026}"/>
              </a:ext>
            </a:extLst>
          </p:cNvPr>
          <p:cNvSpPr txBox="1">
            <a:spLocks/>
          </p:cNvSpPr>
          <p:nvPr/>
        </p:nvSpPr>
        <p:spPr>
          <a:xfrm>
            <a:off x="703946" y="887263"/>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CLUSTERING</a:t>
            </a:r>
          </a:p>
        </p:txBody>
      </p:sp>
      <p:cxnSp>
        <p:nvCxnSpPr>
          <p:cNvPr id="17" name="Conector recto 16">
            <a:extLst>
              <a:ext uri="{FF2B5EF4-FFF2-40B4-BE49-F238E27FC236}">
                <a16:creationId xmlns:a16="http://schemas.microsoft.com/office/drawing/2014/main" id="{D5BB2F4B-F5DD-C50B-8C16-ADEA4C6EBE1F}"/>
              </a:ext>
            </a:extLst>
          </p:cNvPr>
          <p:cNvCxnSpPr>
            <a:cxnSpLocks/>
          </p:cNvCxnSpPr>
          <p:nvPr/>
        </p:nvCxnSpPr>
        <p:spPr>
          <a:xfrm>
            <a:off x="775028" y="1514377"/>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2" name="Imagen 1">
            <a:extLst>
              <a:ext uri="{FF2B5EF4-FFF2-40B4-BE49-F238E27FC236}">
                <a16:creationId xmlns:a16="http://schemas.microsoft.com/office/drawing/2014/main" id="{14C91374-8DF9-4EB6-BE39-0569DD7AFEA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946" y="1632798"/>
            <a:ext cx="5564440" cy="4674871"/>
          </a:xfrm>
          <a:prstGeom prst="rect">
            <a:avLst/>
          </a:prstGeom>
          <a:noFill/>
          <a:ln>
            <a:noFill/>
          </a:ln>
        </p:spPr>
      </p:pic>
      <p:graphicFrame>
        <p:nvGraphicFramePr>
          <p:cNvPr id="5" name="Tabla 4">
            <a:extLst>
              <a:ext uri="{FF2B5EF4-FFF2-40B4-BE49-F238E27FC236}">
                <a16:creationId xmlns:a16="http://schemas.microsoft.com/office/drawing/2014/main" id="{A287189F-B74F-D7DC-67C1-D3E62AAA1F5D}"/>
              </a:ext>
            </a:extLst>
          </p:cNvPr>
          <p:cNvGraphicFramePr>
            <a:graphicFrameLocks noGrp="1"/>
          </p:cNvGraphicFramePr>
          <p:nvPr>
            <p:extLst>
              <p:ext uri="{D42A27DB-BD31-4B8C-83A1-F6EECF244321}">
                <p14:modId xmlns:p14="http://schemas.microsoft.com/office/powerpoint/2010/main" val="3921623018"/>
              </p:ext>
            </p:extLst>
          </p:nvPr>
        </p:nvGraphicFramePr>
        <p:xfrm>
          <a:off x="6612030" y="1614317"/>
          <a:ext cx="4885309" cy="4149090"/>
        </p:xfrm>
        <a:graphic>
          <a:graphicData uri="http://schemas.openxmlformats.org/drawingml/2006/table">
            <a:tbl>
              <a:tblPr firstRow="1" firstCol="1" bandRow="1">
                <a:tableStyleId>{5C22544A-7EE6-4342-B048-85BDC9FD1C3A}</a:tableStyleId>
              </a:tblPr>
              <a:tblGrid>
                <a:gridCol w="1490243">
                  <a:extLst>
                    <a:ext uri="{9D8B030D-6E8A-4147-A177-3AD203B41FA5}">
                      <a16:colId xmlns:a16="http://schemas.microsoft.com/office/drawing/2014/main" val="2671347421"/>
                    </a:ext>
                  </a:extLst>
                </a:gridCol>
                <a:gridCol w="3395066">
                  <a:extLst>
                    <a:ext uri="{9D8B030D-6E8A-4147-A177-3AD203B41FA5}">
                      <a16:colId xmlns:a16="http://schemas.microsoft.com/office/drawing/2014/main" val="1359485639"/>
                    </a:ext>
                  </a:extLst>
                </a:gridCol>
              </a:tblGrid>
              <a:tr h="228505">
                <a:tc>
                  <a:txBody>
                    <a:bodyPr/>
                    <a:lstStyle/>
                    <a:p>
                      <a:pPr algn="just">
                        <a:lnSpc>
                          <a:spcPct val="150000"/>
                        </a:lnSpc>
                        <a:spcAft>
                          <a:spcPts val="1000"/>
                        </a:spcAft>
                        <a:buNone/>
                      </a:pPr>
                      <a:r>
                        <a:rPr lang="es-ES" sz="1100" dirty="0">
                          <a:effectLst/>
                        </a:rPr>
                        <a:t>Clúster</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tc>
                  <a:txBody>
                    <a:bodyPr/>
                    <a:lstStyle/>
                    <a:p>
                      <a:pPr algn="just">
                        <a:lnSpc>
                          <a:spcPct val="150000"/>
                        </a:lnSpc>
                        <a:spcAft>
                          <a:spcPts val="1000"/>
                        </a:spcAft>
                        <a:buNone/>
                      </a:pPr>
                      <a:r>
                        <a:rPr lang="es-ES" sz="1100" dirty="0">
                          <a:effectLst/>
                        </a:rPr>
                        <a:t>Acciones</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extLst>
                  <a:ext uri="{0D108BD9-81ED-4DB2-BD59-A6C34878D82A}">
                    <a16:rowId xmlns:a16="http://schemas.microsoft.com/office/drawing/2014/main" val="3496142139"/>
                  </a:ext>
                </a:extLst>
              </a:tr>
              <a:tr h="727061">
                <a:tc>
                  <a:txBody>
                    <a:bodyPr/>
                    <a:lstStyle/>
                    <a:p>
                      <a:pPr algn="just">
                        <a:lnSpc>
                          <a:spcPct val="150000"/>
                        </a:lnSpc>
                        <a:spcAft>
                          <a:spcPts val="1000"/>
                        </a:spcAft>
                        <a:buNone/>
                      </a:pPr>
                      <a:r>
                        <a:rPr lang="es-ES" sz="1100" dirty="0">
                          <a:effectLst/>
                        </a:rPr>
                        <a:t>Riesgo crítico (inactivos)</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tc>
                  <a:txBody>
                    <a:bodyPr/>
                    <a:lstStyle/>
                    <a:p>
                      <a:pPr marL="342900" lvl="0" indent="-342900" algn="just">
                        <a:lnSpc>
                          <a:spcPct val="150000"/>
                        </a:lnSpc>
                        <a:buFont typeface="Wingdings" panose="05000000000000000000" pitchFamily="2" charset="2"/>
                        <a:buChar char=""/>
                      </a:pPr>
                      <a:r>
                        <a:rPr lang="es-ES" sz="1100" dirty="0">
                          <a:effectLst/>
                        </a:rPr>
                        <a:t>Mensajes personalizados de reenganche</a:t>
                      </a:r>
                    </a:p>
                    <a:p>
                      <a:pPr marL="342900" lvl="0" indent="-342900" algn="just">
                        <a:lnSpc>
                          <a:spcPct val="150000"/>
                        </a:lnSpc>
                        <a:buFont typeface="Wingdings" panose="05000000000000000000" pitchFamily="2" charset="2"/>
                        <a:buChar char=""/>
                      </a:pPr>
                      <a:r>
                        <a:rPr lang="es-ES" sz="1100" dirty="0">
                          <a:effectLst/>
                        </a:rPr>
                        <a:t>Alertas tempranas por inactividad</a:t>
                      </a:r>
                    </a:p>
                    <a:p>
                      <a:pPr marL="342900" lvl="0" indent="-342900" algn="just">
                        <a:lnSpc>
                          <a:spcPct val="150000"/>
                        </a:lnSpc>
                        <a:spcAft>
                          <a:spcPts val="1000"/>
                        </a:spcAft>
                        <a:buFont typeface="Wingdings" panose="05000000000000000000" pitchFamily="2" charset="2"/>
                        <a:buChar char=""/>
                      </a:pPr>
                      <a:r>
                        <a:rPr lang="es-ES" sz="1100" dirty="0">
                          <a:effectLst/>
                        </a:rPr>
                        <a:t>Tutorías breves de seguimiento</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extLst>
                  <a:ext uri="{0D108BD9-81ED-4DB2-BD59-A6C34878D82A}">
                    <a16:rowId xmlns:a16="http://schemas.microsoft.com/office/drawing/2014/main" val="3907935041"/>
                  </a:ext>
                </a:extLst>
              </a:tr>
              <a:tr h="727061">
                <a:tc>
                  <a:txBody>
                    <a:bodyPr/>
                    <a:lstStyle/>
                    <a:p>
                      <a:pPr algn="just">
                        <a:lnSpc>
                          <a:spcPct val="150000"/>
                        </a:lnSpc>
                        <a:spcAft>
                          <a:spcPts val="1000"/>
                        </a:spcAft>
                        <a:buNone/>
                      </a:pPr>
                      <a:r>
                        <a:rPr lang="es-ES" sz="1100" dirty="0">
                          <a:effectLst/>
                        </a:rPr>
                        <a:t>Perfil intermedio A</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tc>
                  <a:txBody>
                    <a:bodyPr/>
                    <a:lstStyle/>
                    <a:p>
                      <a:pPr marL="342900" lvl="0" indent="-342900" algn="just">
                        <a:lnSpc>
                          <a:spcPct val="150000"/>
                        </a:lnSpc>
                        <a:buFont typeface="Wingdings" panose="05000000000000000000" pitchFamily="2" charset="2"/>
                        <a:buChar char=""/>
                      </a:pPr>
                      <a:r>
                        <a:rPr lang="es-ES" sz="1100" dirty="0">
                          <a:effectLst/>
                        </a:rPr>
                        <a:t>Secuencias de tareas cortas y guiadas</a:t>
                      </a:r>
                    </a:p>
                    <a:p>
                      <a:pPr marL="342900" lvl="0" indent="-342900" algn="just">
                        <a:lnSpc>
                          <a:spcPct val="150000"/>
                        </a:lnSpc>
                        <a:buFont typeface="Wingdings" panose="05000000000000000000" pitchFamily="2" charset="2"/>
                        <a:buChar char=""/>
                      </a:pPr>
                      <a:r>
                        <a:rPr lang="es-ES" sz="1100" dirty="0">
                          <a:effectLst/>
                        </a:rPr>
                        <a:t>Recordatorios periódicos</a:t>
                      </a:r>
                    </a:p>
                    <a:p>
                      <a:pPr marL="342900" lvl="0" indent="-342900" algn="just">
                        <a:lnSpc>
                          <a:spcPct val="150000"/>
                        </a:lnSpc>
                        <a:spcAft>
                          <a:spcPts val="1000"/>
                        </a:spcAft>
                        <a:buFont typeface="Wingdings" panose="05000000000000000000" pitchFamily="2" charset="2"/>
                        <a:buChar char=""/>
                      </a:pPr>
                      <a:r>
                        <a:rPr lang="es-ES" sz="1100" dirty="0">
                          <a:effectLst/>
                        </a:rPr>
                        <a:t>Retroalimentación frecuente</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extLst>
                  <a:ext uri="{0D108BD9-81ED-4DB2-BD59-A6C34878D82A}">
                    <a16:rowId xmlns:a16="http://schemas.microsoft.com/office/drawing/2014/main" val="3061105306"/>
                  </a:ext>
                </a:extLst>
              </a:tr>
              <a:tr h="727061">
                <a:tc>
                  <a:txBody>
                    <a:bodyPr/>
                    <a:lstStyle/>
                    <a:p>
                      <a:pPr algn="just">
                        <a:lnSpc>
                          <a:spcPct val="150000"/>
                        </a:lnSpc>
                        <a:spcAft>
                          <a:spcPts val="1000"/>
                        </a:spcAft>
                        <a:buNone/>
                      </a:pPr>
                      <a:r>
                        <a:rPr lang="es-ES" sz="1100" dirty="0">
                          <a:effectLst/>
                        </a:rPr>
                        <a:t>Perfil intermedio B</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tc>
                  <a:txBody>
                    <a:bodyPr/>
                    <a:lstStyle/>
                    <a:p>
                      <a:pPr marL="342900" lvl="0" indent="-342900" algn="just">
                        <a:lnSpc>
                          <a:spcPct val="150000"/>
                        </a:lnSpc>
                        <a:buFont typeface="Wingdings" panose="05000000000000000000" pitchFamily="2" charset="2"/>
                        <a:buChar char=""/>
                      </a:pPr>
                      <a:r>
                        <a:rPr lang="es-ES" sz="1100" dirty="0">
                          <a:effectLst/>
                        </a:rPr>
                        <a:t>Actividades de aplicación práctica</a:t>
                      </a:r>
                    </a:p>
                    <a:p>
                      <a:pPr marL="342900" lvl="0" indent="-342900" algn="just">
                        <a:lnSpc>
                          <a:spcPct val="150000"/>
                        </a:lnSpc>
                        <a:buFont typeface="Wingdings" panose="05000000000000000000" pitchFamily="2" charset="2"/>
                        <a:buChar char=""/>
                      </a:pPr>
                      <a:r>
                        <a:rPr lang="es-ES" sz="1100" dirty="0">
                          <a:effectLst/>
                        </a:rPr>
                        <a:t>Integración de recursos del curso</a:t>
                      </a:r>
                    </a:p>
                    <a:p>
                      <a:pPr marL="342900" lvl="0" indent="-342900" algn="just">
                        <a:lnSpc>
                          <a:spcPct val="150000"/>
                        </a:lnSpc>
                        <a:spcAft>
                          <a:spcPts val="1000"/>
                        </a:spcAft>
                        <a:buFont typeface="Wingdings" panose="05000000000000000000" pitchFamily="2" charset="2"/>
                        <a:buChar char=""/>
                      </a:pPr>
                      <a:r>
                        <a:rPr lang="es-ES" sz="1100" dirty="0">
                          <a:effectLst/>
                        </a:rPr>
                        <a:t>Tareas de autoevaluación</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extLst>
                  <a:ext uri="{0D108BD9-81ED-4DB2-BD59-A6C34878D82A}">
                    <a16:rowId xmlns:a16="http://schemas.microsoft.com/office/drawing/2014/main" val="1460718398"/>
                  </a:ext>
                </a:extLst>
              </a:tr>
              <a:tr h="727061">
                <a:tc>
                  <a:txBody>
                    <a:bodyPr/>
                    <a:lstStyle/>
                    <a:p>
                      <a:pPr algn="just">
                        <a:lnSpc>
                          <a:spcPct val="150000"/>
                        </a:lnSpc>
                        <a:spcAft>
                          <a:spcPts val="1000"/>
                        </a:spcAft>
                        <a:buNone/>
                      </a:pPr>
                      <a:r>
                        <a:rPr lang="es-ES" sz="1100" dirty="0">
                          <a:effectLst/>
                        </a:rPr>
                        <a:t>Perfil intermedio C</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tc>
                  <a:txBody>
                    <a:bodyPr/>
                    <a:lstStyle/>
                    <a:p>
                      <a:pPr marL="342900" lvl="0" indent="-342900" algn="just">
                        <a:lnSpc>
                          <a:spcPct val="150000"/>
                        </a:lnSpc>
                        <a:buFont typeface="Wingdings" panose="05000000000000000000" pitchFamily="2" charset="2"/>
                        <a:buChar char=""/>
                      </a:pPr>
                      <a:r>
                        <a:rPr lang="es-ES" sz="1100" dirty="0">
                          <a:effectLst/>
                        </a:rPr>
                        <a:t>Tareas abiertas con mayor autonomía</a:t>
                      </a:r>
                    </a:p>
                    <a:p>
                      <a:pPr marL="342900" lvl="0" indent="-342900" algn="just">
                        <a:lnSpc>
                          <a:spcPct val="150000"/>
                        </a:lnSpc>
                        <a:buFont typeface="Wingdings" panose="05000000000000000000" pitchFamily="2" charset="2"/>
                        <a:buChar char=""/>
                      </a:pPr>
                      <a:r>
                        <a:rPr lang="es-ES" sz="1100" dirty="0">
                          <a:effectLst/>
                        </a:rPr>
                        <a:t>Actividades con elección de itinerario</a:t>
                      </a:r>
                    </a:p>
                    <a:p>
                      <a:pPr marL="342900" lvl="0" indent="-342900" algn="just">
                        <a:lnSpc>
                          <a:spcPct val="150000"/>
                        </a:lnSpc>
                        <a:spcAft>
                          <a:spcPts val="1000"/>
                        </a:spcAft>
                        <a:buFont typeface="Wingdings" panose="05000000000000000000" pitchFamily="2" charset="2"/>
                        <a:buChar char=""/>
                      </a:pPr>
                      <a:r>
                        <a:rPr lang="es-ES" sz="1100" dirty="0">
                          <a:effectLst/>
                        </a:rPr>
                        <a:t>Dinámicas de coevaluación</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extLst>
                  <a:ext uri="{0D108BD9-81ED-4DB2-BD59-A6C34878D82A}">
                    <a16:rowId xmlns:a16="http://schemas.microsoft.com/office/drawing/2014/main" val="2163953394"/>
                  </a:ext>
                </a:extLst>
              </a:tr>
              <a:tr h="976339">
                <a:tc>
                  <a:txBody>
                    <a:bodyPr/>
                    <a:lstStyle/>
                    <a:p>
                      <a:pPr algn="just">
                        <a:lnSpc>
                          <a:spcPct val="150000"/>
                        </a:lnSpc>
                        <a:spcAft>
                          <a:spcPts val="1000"/>
                        </a:spcAft>
                        <a:buNone/>
                      </a:pPr>
                      <a:r>
                        <a:rPr lang="es-ES" sz="1100" dirty="0">
                          <a:effectLst/>
                        </a:rPr>
                        <a:t>Alto rendimiento</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tc>
                  <a:txBody>
                    <a:bodyPr/>
                    <a:lstStyle/>
                    <a:p>
                      <a:pPr marL="342900" lvl="0" indent="-342900" algn="just">
                        <a:lnSpc>
                          <a:spcPct val="150000"/>
                        </a:lnSpc>
                        <a:buFont typeface="Wingdings" panose="05000000000000000000" pitchFamily="2" charset="2"/>
                        <a:buChar char=""/>
                      </a:pPr>
                      <a:r>
                        <a:rPr lang="es-ES" sz="1100" dirty="0">
                          <a:effectLst/>
                        </a:rPr>
                        <a:t>Actividades optativas de profundización</a:t>
                      </a:r>
                    </a:p>
                    <a:p>
                      <a:pPr marL="342900" lvl="0" indent="-342900" algn="just">
                        <a:lnSpc>
                          <a:spcPct val="150000"/>
                        </a:lnSpc>
                        <a:buFont typeface="Wingdings" panose="05000000000000000000" pitchFamily="2" charset="2"/>
                        <a:buChar char=""/>
                      </a:pPr>
                      <a:r>
                        <a:rPr lang="es-ES" sz="1100" dirty="0">
                          <a:effectLst/>
                        </a:rPr>
                        <a:t>Mentoría entre iguales</a:t>
                      </a:r>
                    </a:p>
                    <a:p>
                      <a:pPr marL="342900" lvl="0" indent="-342900" algn="just">
                        <a:lnSpc>
                          <a:spcPct val="150000"/>
                        </a:lnSpc>
                        <a:spcAft>
                          <a:spcPts val="1000"/>
                        </a:spcAft>
                        <a:buFont typeface="Wingdings" panose="05000000000000000000" pitchFamily="2" charset="2"/>
                        <a:buChar char=""/>
                      </a:pPr>
                      <a:r>
                        <a:rPr lang="es-ES" sz="1100" dirty="0">
                          <a:effectLst/>
                        </a:rPr>
                        <a:t>Tutoría o apoyo guiado a grupos intermedios o en riesgo</a:t>
                      </a:r>
                      <a:endParaRPr lang="es-ES" sz="1100" dirty="0">
                        <a:effectLst/>
                        <a:latin typeface="CMU Serif" panose="02000603000000000000" pitchFamily="2" charset="0"/>
                        <a:ea typeface="Calibri" panose="020F0502020204030204" pitchFamily="34" charset="0"/>
                        <a:cs typeface="Arial" panose="020B0604020202020204" pitchFamily="34" charset="0"/>
                      </a:endParaRPr>
                    </a:p>
                  </a:txBody>
                  <a:tcPr marL="66843" marR="66843" marT="0" marB="0"/>
                </a:tc>
                <a:extLst>
                  <a:ext uri="{0D108BD9-81ED-4DB2-BD59-A6C34878D82A}">
                    <a16:rowId xmlns:a16="http://schemas.microsoft.com/office/drawing/2014/main" val="431064118"/>
                  </a:ext>
                </a:extLst>
              </a:tr>
            </a:tbl>
          </a:graphicData>
        </a:graphic>
      </p:graphicFrame>
      <p:sp>
        <p:nvSpPr>
          <p:cNvPr id="3" name="CuadroTexto 2">
            <a:extLst>
              <a:ext uri="{FF2B5EF4-FFF2-40B4-BE49-F238E27FC236}">
                <a16:creationId xmlns:a16="http://schemas.microsoft.com/office/drawing/2014/main" id="{FFE08B20-0B6F-61C4-7897-E4C0EFF69EBB}"/>
              </a:ext>
            </a:extLst>
          </p:cNvPr>
          <p:cNvSpPr txBox="1"/>
          <p:nvPr/>
        </p:nvSpPr>
        <p:spPr>
          <a:xfrm>
            <a:off x="6612030" y="5970737"/>
            <a:ext cx="2722220" cy="369332"/>
          </a:xfrm>
          <a:prstGeom prst="rect">
            <a:avLst/>
          </a:prstGeom>
          <a:noFill/>
        </p:spPr>
        <p:txBody>
          <a:bodyPr wrap="none" rtlCol="0">
            <a:spAutoFit/>
          </a:bodyPr>
          <a:lstStyle/>
          <a:p>
            <a:r>
              <a:rPr lang="es-ES" dirty="0"/>
              <a:t>Necesidad de pedagogos</a:t>
            </a:r>
          </a:p>
        </p:txBody>
      </p:sp>
    </p:spTree>
    <p:extLst>
      <p:ext uri="{BB962C8B-B14F-4D97-AF65-F5344CB8AC3E}">
        <p14:creationId xmlns:p14="http://schemas.microsoft.com/office/powerpoint/2010/main" val="3559796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E2C9D-EE6A-4D3F-35C0-D8E154ECA1C9}"/>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9BAF16B7-9501-ABDC-C715-83E6F4CFC521}"/>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6EA9B171-FCB0-63BB-BB23-0648BF2DB5A7}"/>
              </a:ext>
            </a:extLst>
          </p:cNvPr>
          <p:cNvSpPr>
            <a:spLocks noGrp="1"/>
          </p:cNvSpPr>
          <p:nvPr>
            <p:ph type="sldNum" sz="quarter" idx="12"/>
          </p:nvPr>
        </p:nvSpPr>
        <p:spPr/>
        <p:txBody>
          <a:bodyPr/>
          <a:lstStyle/>
          <a:p>
            <a:pPr rtl="0"/>
            <a:fld id="{DD84031F-D6BF-4677-B12E-7D8B88BA70F7}" type="slidenum">
              <a:rPr lang="en-US" smtClean="0"/>
              <a:t>25</a:t>
            </a:fld>
            <a:endParaRPr lang="en-US"/>
          </a:p>
        </p:txBody>
      </p:sp>
      <p:pic>
        <p:nvPicPr>
          <p:cNvPr id="14" name="Imagen 13">
            <a:extLst>
              <a:ext uri="{FF2B5EF4-FFF2-40B4-BE49-F238E27FC236}">
                <a16:creationId xmlns:a16="http://schemas.microsoft.com/office/drawing/2014/main" id="{21D307BC-C41F-6D72-DF12-4B4D3F180A99}"/>
              </a:ext>
            </a:extLst>
          </p:cNvPr>
          <p:cNvPicPr>
            <a:picLocks noChangeAspect="1"/>
          </p:cNvPicPr>
          <p:nvPr/>
        </p:nvPicPr>
        <p:blipFill>
          <a:blip r:embed="rId2"/>
          <a:stretch>
            <a:fillRect/>
          </a:stretch>
        </p:blipFill>
        <p:spPr>
          <a:xfrm>
            <a:off x="9918084" y="99023"/>
            <a:ext cx="1871580" cy="799949"/>
          </a:xfrm>
          <a:prstGeom prst="rect">
            <a:avLst/>
          </a:prstGeom>
        </p:spPr>
      </p:pic>
      <p:sp>
        <p:nvSpPr>
          <p:cNvPr id="15" name="Título 1">
            <a:extLst>
              <a:ext uri="{FF2B5EF4-FFF2-40B4-BE49-F238E27FC236}">
                <a16:creationId xmlns:a16="http://schemas.microsoft.com/office/drawing/2014/main" id="{3C6E6659-4F5D-5ADC-FE79-2F452AFB9CB2}"/>
              </a:ext>
            </a:extLst>
          </p:cNvPr>
          <p:cNvSpPr>
            <a:spLocks noGrp="1"/>
          </p:cNvSpPr>
          <p:nvPr>
            <p:ph type="title"/>
          </p:nvPr>
        </p:nvSpPr>
        <p:spPr>
          <a:xfrm>
            <a:off x="688448" y="455398"/>
            <a:ext cx="6792069" cy="627114"/>
          </a:xfrm>
        </p:spPr>
        <p:txBody>
          <a:bodyPr anchor="b">
            <a:normAutofit/>
          </a:bodyPr>
          <a:lstStyle/>
          <a:p>
            <a:r>
              <a:rPr lang="es-ES" dirty="0"/>
              <a:t>XAI (IA Explicable)</a:t>
            </a:r>
          </a:p>
        </p:txBody>
      </p:sp>
      <p:sp>
        <p:nvSpPr>
          <p:cNvPr id="16" name="Título 1">
            <a:extLst>
              <a:ext uri="{FF2B5EF4-FFF2-40B4-BE49-F238E27FC236}">
                <a16:creationId xmlns:a16="http://schemas.microsoft.com/office/drawing/2014/main" id="{4556F79C-A4DA-C713-38B5-FE2FD6C44C10}"/>
              </a:ext>
            </a:extLst>
          </p:cNvPr>
          <p:cNvSpPr txBox="1">
            <a:spLocks/>
          </p:cNvSpPr>
          <p:nvPr/>
        </p:nvSpPr>
        <p:spPr>
          <a:xfrm>
            <a:off x="703946" y="887263"/>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VARIABLES ESTÁTICAS</a:t>
            </a:r>
          </a:p>
        </p:txBody>
      </p:sp>
      <p:cxnSp>
        <p:nvCxnSpPr>
          <p:cNvPr id="17" name="Conector recto 16">
            <a:extLst>
              <a:ext uri="{FF2B5EF4-FFF2-40B4-BE49-F238E27FC236}">
                <a16:creationId xmlns:a16="http://schemas.microsoft.com/office/drawing/2014/main" id="{9F91C319-701E-EAF2-342C-9DB4F3F24977}"/>
              </a:ext>
            </a:extLst>
          </p:cNvPr>
          <p:cNvCxnSpPr>
            <a:cxnSpLocks/>
          </p:cNvCxnSpPr>
          <p:nvPr/>
        </p:nvCxnSpPr>
        <p:spPr>
          <a:xfrm>
            <a:off x="775028" y="1514377"/>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2" name="Imagen 1">
            <a:extLst>
              <a:ext uri="{FF2B5EF4-FFF2-40B4-BE49-F238E27FC236}">
                <a16:creationId xmlns:a16="http://schemas.microsoft.com/office/drawing/2014/main" id="{7C094E4C-374F-92F4-F2AA-05D84E04C863}"/>
              </a:ext>
            </a:extLst>
          </p:cNvPr>
          <p:cNvPicPr>
            <a:picLocks noChangeAspect="1"/>
          </p:cNvPicPr>
          <p:nvPr/>
        </p:nvPicPr>
        <p:blipFill rotWithShape="1">
          <a:blip r:embed="rId3"/>
          <a:srcRect r="16823"/>
          <a:stretch>
            <a:fillRect/>
          </a:stretch>
        </p:blipFill>
        <p:spPr bwMode="auto">
          <a:xfrm>
            <a:off x="775028" y="1987835"/>
            <a:ext cx="7245000" cy="3592744"/>
          </a:xfrm>
          <a:prstGeom prst="rect">
            <a:avLst/>
          </a:prstGeom>
          <a:ln>
            <a:noFill/>
          </a:ln>
          <a:extLst>
            <a:ext uri="{53640926-AAD7-44D8-BBD7-CCE9431645EC}">
              <a14:shadowObscured xmlns:a14="http://schemas.microsoft.com/office/drawing/2010/main"/>
            </a:ext>
          </a:extLst>
        </p:spPr>
      </p:pic>
      <p:graphicFrame>
        <p:nvGraphicFramePr>
          <p:cNvPr id="3" name="Tabla 2">
            <a:extLst>
              <a:ext uri="{FF2B5EF4-FFF2-40B4-BE49-F238E27FC236}">
                <a16:creationId xmlns:a16="http://schemas.microsoft.com/office/drawing/2014/main" id="{E62A2EC9-3B45-69CE-5F81-14189F63013C}"/>
              </a:ext>
            </a:extLst>
          </p:cNvPr>
          <p:cNvGraphicFramePr>
            <a:graphicFrameLocks noGrp="1"/>
          </p:cNvGraphicFramePr>
          <p:nvPr>
            <p:extLst>
              <p:ext uri="{D42A27DB-BD31-4B8C-83A1-F6EECF244321}">
                <p14:modId xmlns:p14="http://schemas.microsoft.com/office/powerpoint/2010/main" val="936983161"/>
              </p:ext>
            </p:extLst>
          </p:nvPr>
        </p:nvGraphicFramePr>
        <p:xfrm>
          <a:off x="8223024" y="1987835"/>
          <a:ext cx="3390119" cy="3665025"/>
        </p:xfrm>
        <a:graphic>
          <a:graphicData uri="http://schemas.openxmlformats.org/drawingml/2006/table">
            <a:tbl>
              <a:tblPr firstRow="1" firstCol="1" bandRow="1">
                <a:tableStyleId>{5C22544A-7EE6-4342-B048-85BDC9FD1C3A}</a:tableStyleId>
              </a:tblPr>
              <a:tblGrid>
                <a:gridCol w="955324">
                  <a:extLst>
                    <a:ext uri="{9D8B030D-6E8A-4147-A177-3AD203B41FA5}">
                      <a16:colId xmlns:a16="http://schemas.microsoft.com/office/drawing/2014/main" val="3186602159"/>
                    </a:ext>
                  </a:extLst>
                </a:gridCol>
                <a:gridCol w="2434795">
                  <a:extLst>
                    <a:ext uri="{9D8B030D-6E8A-4147-A177-3AD203B41FA5}">
                      <a16:colId xmlns:a16="http://schemas.microsoft.com/office/drawing/2014/main" val="1328091503"/>
                    </a:ext>
                  </a:extLst>
                </a:gridCol>
              </a:tblGrid>
              <a:tr h="322054">
                <a:tc>
                  <a:txBody>
                    <a:bodyPr/>
                    <a:lstStyle/>
                    <a:p>
                      <a:pPr algn="just">
                        <a:lnSpc>
                          <a:spcPct val="150000"/>
                        </a:lnSpc>
                        <a:spcBef>
                          <a:spcPts val="600"/>
                        </a:spcBef>
                        <a:spcAft>
                          <a:spcPts val="600"/>
                        </a:spcAft>
                        <a:buNone/>
                      </a:pPr>
                      <a:r>
                        <a:rPr lang="es-ES" sz="900" dirty="0">
                          <a:effectLst/>
                        </a:rPr>
                        <a:t>Ventana temporal</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ctr">
                        <a:lnSpc>
                          <a:spcPct val="150000"/>
                        </a:lnSpc>
                        <a:spcBef>
                          <a:spcPts val="600"/>
                        </a:spcBef>
                        <a:spcAft>
                          <a:spcPts val="600"/>
                        </a:spcAft>
                        <a:buNone/>
                      </a:pPr>
                      <a:r>
                        <a:rPr lang="es-ES" sz="900" dirty="0">
                          <a:effectLst/>
                        </a:rPr>
                        <a:t>Acción principal (estáticas/acumulativas)</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4158381578"/>
                  </a:ext>
                </a:extLst>
              </a:tr>
              <a:tr h="1221583">
                <a:tc>
                  <a:txBody>
                    <a:bodyPr/>
                    <a:lstStyle/>
                    <a:p>
                      <a:pPr algn="just">
                        <a:lnSpc>
                          <a:spcPct val="150000"/>
                        </a:lnSpc>
                        <a:spcBef>
                          <a:spcPts val="600"/>
                        </a:spcBef>
                        <a:spcAft>
                          <a:spcPts val="600"/>
                        </a:spcAft>
                        <a:buNone/>
                      </a:pPr>
                      <a:r>
                        <a:rPr lang="es-ES" sz="1000" dirty="0">
                          <a:effectLst/>
                        </a:rPr>
                        <a:t>Semanas 1-8</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just">
                        <a:lnSpc>
                          <a:spcPct val="150000"/>
                        </a:lnSpc>
                        <a:spcBef>
                          <a:spcPts val="600"/>
                        </a:spcBef>
                        <a:spcAft>
                          <a:spcPts val="600"/>
                        </a:spcAft>
                        <a:buNone/>
                      </a:pPr>
                      <a:r>
                        <a:rPr lang="es-ES" sz="1000" dirty="0">
                          <a:effectLst/>
                        </a:rPr>
                        <a:t>Envío de un correo de seguimiento inicial con orientación sobre el arranque del curso, organización del trabajo y recursos de apoyo.</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1177269713"/>
                  </a:ext>
                </a:extLst>
              </a:tr>
              <a:tr h="1119128">
                <a:tc>
                  <a:txBody>
                    <a:bodyPr/>
                    <a:lstStyle/>
                    <a:p>
                      <a:pPr algn="just">
                        <a:lnSpc>
                          <a:spcPct val="150000"/>
                        </a:lnSpc>
                        <a:spcBef>
                          <a:spcPts val="600"/>
                        </a:spcBef>
                        <a:spcAft>
                          <a:spcPts val="600"/>
                        </a:spcAft>
                        <a:buNone/>
                      </a:pPr>
                      <a:r>
                        <a:rPr lang="es-ES" sz="1000">
                          <a:effectLst/>
                        </a:rPr>
                        <a:t>Semanas 10-20</a:t>
                      </a:r>
                      <a:endParaRPr lang="es-ES" sz="100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just">
                        <a:lnSpc>
                          <a:spcPct val="150000"/>
                        </a:lnSpc>
                        <a:spcBef>
                          <a:spcPts val="600"/>
                        </a:spcBef>
                        <a:spcAft>
                          <a:spcPts val="600"/>
                        </a:spcAft>
                        <a:buNone/>
                      </a:pPr>
                      <a:r>
                        <a:rPr lang="es-ES" sz="1000" dirty="0">
                          <a:effectLst/>
                        </a:rPr>
                        <a:t>Envío de una alerta personalizada al detectar retrasos en entregas, inactividad o empeoramiento del rendimiento, junto con una tutoría breve de seguimiento.</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2405539319"/>
                  </a:ext>
                </a:extLst>
              </a:tr>
              <a:tr h="929979">
                <a:tc>
                  <a:txBody>
                    <a:bodyPr/>
                    <a:lstStyle/>
                    <a:p>
                      <a:pPr algn="just">
                        <a:lnSpc>
                          <a:spcPct val="150000"/>
                        </a:lnSpc>
                        <a:spcBef>
                          <a:spcPts val="600"/>
                        </a:spcBef>
                        <a:spcAft>
                          <a:spcPts val="600"/>
                        </a:spcAft>
                        <a:buNone/>
                      </a:pPr>
                      <a:r>
                        <a:rPr lang="es-ES" sz="1000" dirty="0">
                          <a:effectLst/>
                        </a:rPr>
                        <a:t>Semanas 21-28</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just">
                        <a:lnSpc>
                          <a:spcPct val="150000"/>
                        </a:lnSpc>
                        <a:spcBef>
                          <a:spcPts val="600"/>
                        </a:spcBef>
                        <a:spcAft>
                          <a:spcPts val="600"/>
                        </a:spcAft>
                        <a:buNone/>
                      </a:pPr>
                      <a:r>
                        <a:rPr lang="es-ES" sz="1000" dirty="0">
                          <a:effectLst/>
                        </a:rPr>
                        <a:t>Contacto individual urgente para reactivar la participación y priorizar tareas pendientes, con acompañamiento intensivo de cierre si es necesario.</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2461937641"/>
                  </a:ext>
                </a:extLst>
              </a:tr>
            </a:tbl>
          </a:graphicData>
        </a:graphic>
      </p:graphicFrame>
    </p:spTree>
    <p:extLst>
      <p:ext uri="{BB962C8B-B14F-4D97-AF65-F5344CB8AC3E}">
        <p14:creationId xmlns:p14="http://schemas.microsoft.com/office/powerpoint/2010/main" val="3089612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ABC4F-C820-D102-32A0-5600784B3628}"/>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43AEA879-E807-50FE-071C-4CD5DEFA821C}"/>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7F57B3AF-0637-D297-953D-AA8F20F12938}"/>
              </a:ext>
            </a:extLst>
          </p:cNvPr>
          <p:cNvSpPr>
            <a:spLocks noGrp="1"/>
          </p:cNvSpPr>
          <p:nvPr>
            <p:ph type="sldNum" sz="quarter" idx="12"/>
          </p:nvPr>
        </p:nvSpPr>
        <p:spPr/>
        <p:txBody>
          <a:bodyPr/>
          <a:lstStyle/>
          <a:p>
            <a:pPr rtl="0"/>
            <a:fld id="{DD84031F-D6BF-4677-B12E-7D8B88BA70F7}" type="slidenum">
              <a:rPr lang="en-US" smtClean="0"/>
              <a:t>26</a:t>
            </a:fld>
            <a:endParaRPr lang="en-US"/>
          </a:p>
        </p:txBody>
      </p:sp>
      <p:pic>
        <p:nvPicPr>
          <p:cNvPr id="14" name="Imagen 13">
            <a:extLst>
              <a:ext uri="{FF2B5EF4-FFF2-40B4-BE49-F238E27FC236}">
                <a16:creationId xmlns:a16="http://schemas.microsoft.com/office/drawing/2014/main" id="{B863A84E-A5AE-DCAA-F486-3E9ED885395B}"/>
              </a:ext>
            </a:extLst>
          </p:cNvPr>
          <p:cNvPicPr>
            <a:picLocks noChangeAspect="1"/>
          </p:cNvPicPr>
          <p:nvPr/>
        </p:nvPicPr>
        <p:blipFill>
          <a:blip r:embed="rId2"/>
          <a:stretch>
            <a:fillRect/>
          </a:stretch>
        </p:blipFill>
        <p:spPr>
          <a:xfrm>
            <a:off x="9918084" y="99023"/>
            <a:ext cx="1871580" cy="799949"/>
          </a:xfrm>
          <a:prstGeom prst="rect">
            <a:avLst/>
          </a:prstGeom>
        </p:spPr>
      </p:pic>
      <p:pic>
        <p:nvPicPr>
          <p:cNvPr id="3" name="Imagen 2">
            <a:extLst>
              <a:ext uri="{FF2B5EF4-FFF2-40B4-BE49-F238E27FC236}">
                <a16:creationId xmlns:a16="http://schemas.microsoft.com/office/drawing/2014/main" id="{C0B96C4B-184B-9F75-C0A7-1AC0C35AA820}"/>
              </a:ext>
            </a:extLst>
          </p:cNvPr>
          <p:cNvPicPr>
            <a:picLocks noChangeAspect="1"/>
          </p:cNvPicPr>
          <p:nvPr/>
        </p:nvPicPr>
        <p:blipFill>
          <a:blip r:embed="rId3"/>
          <a:stretch>
            <a:fillRect/>
          </a:stretch>
        </p:blipFill>
        <p:spPr>
          <a:xfrm>
            <a:off x="4933507" y="1871209"/>
            <a:ext cx="6912608" cy="3766185"/>
          </a:xfrm>
          <a:prstGeom prst="rect">
            <a:avLst/>
          </a:prstGeom>
        </p:spPr>
      </p:pic>
      <p:graphicFrame>
        <p:nvGraphicFramePr>
          <p:cNvPr id="5" name="Tabla 4">
            <a:extLst>
              <a:ext uri="{FF2B5EF4-FFF2-40B4-BE49-F238E27FC236}">
                <a16:creationId xmlns:a16="http://schemas.microsoft.com/office/drawing/2014/main" id="{81F33CDC-9B79-E30E-DA76-82B0FB0C6C6F}"/>
              </a:ext>
            </a:extLst>
          </p:cNvPr>
          <p:cNvGraphicFramePr>
            <a:graphicFrameLocks noGrp="1"/>
          </p:cNvGraphicFramePr>
          <p:nvPr>
            <p:extLst>
              <p:ext uri="{D42A27DB-BD31-4B8C-83A1-F6EECF244321}">
                <p14:modId xmlns:p14="http://schemas.microsoft.com/office/powerpoint/2010/main" val="2272469461"/>
              </p:ext>
            </p:extLst>
          </p:nvPr>
        </p:nvGraphicFramePr>
        <p:xfrm>
          <a:off x="688447" y="1871209"/>
          <a:ext cx="4137142" cy="3766186"/>
        </p:xfrm>
        <a:graphic>
          <a:graphicData uri="http://schemas.openxmlformats.org/drawingml/2006/table">
            <a:tbl>
              <a:tblPr firstRow="1" bandRow="1">
                <a:tableStyleId>{5C22544A-7EE6-4342-B048-85BDC9FD1C3A}</a:tableStyleId>
              </a:tblPr>
              <a:tblGrid>
                <a:gridCol w="1211237">
                  <a:extLst>
                    <a:ext uri="{9D8B030D-6E8A-4147-A177-3AD203B41FA5}">
                      <a16:colId xmlns:a16="http://schemas.microsoft.com/office/drawing/2014/main" val="844871110"/>
                    </a:ext>
                  </a:extLst>
                </a:gridCol>
                <a:gridCol w="2925905">
                  <a:extLst>
                    <a:ext uri="{9D8B030D-6E8A-4147-A177-3AD203B41FA5}">
                      <a16:colId xmlns:a16="http://schemas.microsoft.com/office/drawing/2014/main" val="3711896988"/>
                    </a:ext>
                  </a:extLst>
                </a:gridCol>
              </a:tblGrid>
              <a:tr h="482128">
                <a:tc>
                  <a:txBody>
                    <a:bodyPr/>
                    <a:lstStyle/>
                    <a:p>
                      <a:pPr algn="just">
                        <a:lnSpc>
                          <a:spcPct val="150000"/>
                        </a:lnSpc>
                        <a:spcBef>
                          <a:spcPts val="600"/>
                        </a:spcBef>
                        <a:spcAft>
                          <a:spcPts val="600"/>
                        </a:spcAft>
                        <a:buNone/>
                      </a:pPr>
                      <a:r>
                        <a:rPr lang="es-ES" sz="900" dirty="0">
                          <a:effectLst/>
                        </a:rPr>
                        <a:t>Ventana temporal</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ctr">
                        <a:lnSpc>
                          <a:spcPct val="150000"/>
                        </a:lnSpc>
                        <a:spcBef>
                          <a:spcPts val="600"/>
                        </a:spcBef>
                        <a:spcAft>
                          <a:spcPts val="600"/>
                        </a:spcAft>
                        <a:buNone/>
                      </a:pPr>
                      <a:r>
                        <a:rPr lang="es-ES" sz="900">
                          <a:effectLst/>
                        </a:rPr>
                        <a:t>Acción complementaria (secuenciales)</a:t>
                      </a:r>
                      <a:endParaRPr lang="es-ES" sz="100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1080067012"/>
                  </a:ext>
                </a:extLst>
              </a:tr>
              <a:tr h="1094686">
                <a:tc>
                  <a:txBody>
                    <a:bodyPr/>
                    <a:lstStyle/>
                    <a:p>
                      <a:pPr algn="just">
                        <a:lnSpc>
                          <a:spcPct val="150000"/>
                        </a:lnSpc>
                        <a:spcBef>
                          <a:spcPts val="600"/>
                        </a:spcBef>
                        <a:spcAft>
                          <a:spcPts val="600"/>
                        </a:spcAft>
                        <a:buNone/>
                      </a:pPr>
                      <a:r>
                        <a:rPr lang="es-ES" sz="1000" dirty="0">
                          <a:effectLst/>
                        </a:rPr>
                        <a:t>Semanas 1-8</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just">
                        <a:lnSpc>
                          <a:spcPct val="150000"/>
                        </a:lnSpc>
                        <a:spcBef>
                          <a:spcPts val="600"/>
                        </a:spcBef>
                        <a:spcAft>
                          <a:spcPts val="600"/>
                        </a:spcAft>
                        <a:buNone/>
                      </a:pPr>
                      <a:r>
                        <a:rPr lang="es-ES" sz="1000" dirty="0">
                          <a:effectLst/>
                        </a:rPr>
                        <a:t>Envió de correo para animar a participar en los foros y tutoriales para conocer la página de inicio de la plataforma universitaria.</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2282855715"/>
                  </a:ext>
                </a:extLst>
              </a:tr>
              <a:tr h="1094686">
                <a:tc>
                  <a:txBody>
                    <a:bodyPr/>
                    <a:lstStyle/>
                    <a:p>
                      <a:pPr algn="just">
                        <a:lnSpc>
                          <a:spcPct val="150000"/>
                        </a:lnSpc>
                        <a:spcBef>
                          <a:spcPts val="600"/>
                        </a:spcBef>
                        <a:spcAft>
                          <a:spcPts val="600"/>
                        </a:spcAft>
                        <a:buNone/>
                      </a:pPr>
                      <a:r>
                        <a:rPr lang="es-ES" sz="1000" dirty="0">
                          <a:effectLst/>
                        </a:rPr>
                        <a:t>Semanas 10-20</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just">
                        <a:lnSpc>
                          <a:spcPct val="150000"/>
                        </a:lnSpc>
                        <a:spcBef>
                          <a:spcPts val="600"/>
                        </a:spcBef>
                        <a:spcAft>
                          <a:spcPts val="600"/>
                        </a:spcAft>
                        <a:buNone/>
                      </a:pPr>
                      <a:r>
                        <a:rPr lang="es-ES" sz="1000" dirty="0">
                          <a:effectLst/>
                        </a:rPr>
                        <a:t>Mensaje de seguimiento si se observa un patrón de uso irregular o fragmentado en actividades concretas del curso.</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1897189913"/>
                  </a:ext>
                </a:extLst>
              </a:tr>
              <a:tr h="1094686">
                <a:tc>
                  <a:txBody>
                    <a:bodyPr/>
                    <a:lstStyle/>
                    <a:p>
                      <a:pPr algn="just">
                        <a:lnSpc>
                          <a:spcPct val="150000"/>
                        </a:lnSpc>
                        <a:spcBef>
                          <a:spcPts val="600"/>
                        </a:spcBef>
                        <a:spcAft>
                          <a:spcPts val="600"/>
                        </a:spcAft>
                        <a:buNone/>
                      </a:pPr>
                      <a:r>
                        <a:rPr lang="es-ES" sz="1000" dirty="0">
                          <a:effectLst/>
                        </a:rPr>
                        <a:t>Semanas 21-28</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tc>
                  <a:txBody>
                    <a:bodyPr/>
                    <a:lstStyle/>
                    <a:p>
                      <a:pPr algn="just">
                        <a:lnSpc>
                          <a:spcPct val="150000"/>
                        </a:lnSpc>
                        <a:spcBef>
                          <a:spcPts val="600"/>
                        </a:spcBef>
                        <a:spcAft>
                          <a:spcPts val="600"/>
                        </a:spcAft>
                        <a:buNone/>
                      </a:pPr>
                      <a:r>
                        <a:rPr lang="es-ES" sz="1000" dirty="0">
                          <a:effectLst/>
                        </a:rPr>
                        <a:t>Mensaje de reenganche centrado en tareas finales cuando la interacción en la plataforma sea residual o poco sostenida.</a:t>
                      </a:r>
                      <a:endParaRPr lang="es-ES" sz="1000" dirty="0">
                        <a:effectLst/>
                        <a:latin typeface="CMU Serif" panose="02000603000000000000" pitchFamily="2" charset="0"/>
                        <a:ea typeface="Calibri" panose="020F0502020204030204" pitchFamily="34" charset="0"/>
                        <a:cs typeface="Arial" panose="020B0604020202020204" pitchFamily="34" charset="0"/>
                      </a:endParaRPr>
                    </a:p>
                  </a:txBody>
                  <a:tcPr marL="57900" marR="57900" marT="0" marB="0"/>
                </a:tc>
                <a:extLst>
                  <a:ext uri="{0D108BD9-81ED-4DB2-BD59-A6C34878D82A}">
                    <a16:rowId xmlns:a16="http://schemas.microsoft.com/office/drawing/2014/main" val="3574798655"/>
                  </a:ext>
                </a:extLst>
              </a:tr>
            </a:tbl>
          </a:graphicData>
        </a:graphic>
      </p:graphicFrame>
      <p:sp>
        <p:nvSpPr>
          <p:cNvPr id="2" name="Título 1">
            <a:extLst>
              <a:ext uri="{FF2B5EF4-FFF2-40B4-BE49-F238E27FC236}">
                <a16:creationId xmlns:a16="http://schemas.microsoft.com/office/drawing/2014/main" id="{854F7028-C88B-C520-B87C-DF59F59A8B72}"/>
              </a:ext>
            </a:extLst>
          </p:cNvPr>
          <p:cNvSpPr>
            <a:spLocks noGrp="1"/>
          </p:cNvSpPr>
          <p:nvPr>
            <p:ph type="title"/>
          </p:nvPr>
        </p:nvSpPr>
        <p:spPr>
          <a:xfrm>
            <a:off x="688448" y="455398"/>
            <a:ext cx="6792069" cy="627114"/>
          </a:xfrm>
        </p:spPr>
        <p:txBody>
          <a:bodyPr anchor="b">
            <a:normAutofit/>
          </a:bodyPr>
          <a:lstStyle/>
          <a:p>
            <a:r>
              <a:rPr lang="es-ES" dirty="0"/>
              <a:t>XAI (IA Explicable)</a:t>
            </a:r>
          </a:p>
        </p:txBody>
      </p:sp>
      <p:sp>
        <p:nvSpPr>
          <p:cNvPr id="8" name="Título 1">
            <a:extLst>
              <a:ext uri="{FF2B5EF4-FFF2-40B4-BE49-F238E27FC236}">
                <a16:creationId xmlns:a16="http://schemas.microsoft.com/office/drawing/2014/main" id="{DB53F4E4-B6B6-FBD0-DC5A-5F0FB6D115B4}"/>
              </a:ext>
            </a:extLst>
          </p:cNvPr>
          <p:cNvSpPr txBox="1">
            <a:spLocks/>
          </p:cNvSpPr>
          <p:nvPr/>
        </p:nvSpPr>
        <p:spPr>
          <a:xfrm>
            <a:off x="703946" y="887263"/>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sz="2400" dirty="0">
                <a:solidFill>
                  <a:srgbClr val="FF6600"/>
                </a:solidFill>
              </a:rPr>
              <a:t>VARIABLES SECUENCIALES</a:t>
            </a:r>
          </a:p>
        </p:txBody>
      </p:sp>
      <p:cxnSp>
        <p:nvCxnSpPr>
          <p:cNvPr id="9" name="Conector recto 8">
            <a:extLst>
              <a:ext uri="{FF2B5EF4-FFF2-40B4-BE49-F238E27FC236}">
                <a16:creationId xmlns:a16="http://schemas.microsoft.com/office/drawing/2014/main" id="{F713D972-99B3-484E-28AA-C4FD3CB51A32}"/>
              </a:ext>
            </a:extLst>
          </p:cNvPr>
          <p:cNvCxnSpPr>
            <a:cxnSpLocks/>
          </p:cNvCxnSpPr>
          <p:nvPr/>
        </p:nvCxnSpPr>
        <p:spPr>
          <a:xfrm>
            <a:off x="775028" y="1514377"/>
            <a:ext cx="677663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3656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13A31-6BD5-ECD9-B2DC-3C561C73BB78}"/>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135DF7AE-7DDE-9E45-761E-DE728E88FC45}"/>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1E31A3D4-8F71-DF1F-64D7-E61488EF5469}"/>
              </a:ext>
            </a:extLst>
          </p:cNvPr>
          <p:cNvSpPr>
            <a:spLocks noGrp="1"/>
          </p:cNvSpPr>
          <p:nvPr>
            <p:ph type="sldNum" sz="quarter" idx="12"/>
          </p:nvPr>
        </p:nvSpPr>
        <p:spPr/>
        <p:txBody>
          <a:bodyPr/>
          <a:lstStyle/>
          <a:p>
            <a:pPr rtl="0"/>
            <a:fld id="{DD84031F-D6BF-4677-B12E-7D8B88BA70F7}" type="slidenum">
              <a:rPr lang="en-US" smtClean="0"/>
              <a:t>27</a:t>
            </a:fld>
            <a:endParaRPr lang="en-US"/>
          </a:p>
        </p:txBody>
      </p:sp>
      <p:pic>
        <p:nvPicPr>
          <p:cNvPr id="14" name="Imagen 13">
            <a:extLst>
              <a:ext uri="{FF2B5EF4-FFF2-40B4-BE49-F238E27FC236}">
                <a16:creationId xmlns:a16="http://schemas.microsoft.com/office/drawing/2014/main" id="{CCB6C9C0-6D3F-4E46-B6E4-5ABA78BA5543}"/>
              </a:ext>
            </a:extLst>
          </p:cNvPr>
          <p:cNvPicPr>
            <a:picLocks noChangeAspect="1"/>
          </p:cNvPicPr>
          <p:nvPr/>
        </p:nvPicPr>
        <p:blipFill>
          <a:blip r:embed="rId2"/>
          <a:stretch>
            <a:fillRect/>
          </a:stretch>
        </p:blipFill>
        <p:spPr>
          <a:xfrm>
            <a:off x="9918084" y="99023"/>
            <a:ext cx="1871580" cy="799949"/>
          </a:xfrm>
          <a:prstGeom prst="rect">
            <a:avLst/>
          </a:prstGeom>
        </p:spPr>
      </p:pic>
      <p:sp>
        <p:nvSpPr>
          <p:cNvPr id="15" name="Título 1">
            <a:extLst>
              <a:ext uri="{FF2B5EF4-FFF2-40B4-BE49-F238E27FC236}">
                <a16:creationId xmlns:a16="http://schemas.microsoft.com/office/drawing/2014/main" id="{B3FD0581-B348-400A-6777-C6C85DB948DF}"/>
              </a:ext>
            </a:extLst>
          </p:cNvPr>
          <p:cNvSpPr>
            <a:spLocks noGrp="1"/>
          </p:cNvSpPr>
          <p:nvPr>
            <p:ph type="title"/>
          </p:nvPr>
        </p:nvSpPr>
        <p:spPr>
          <a:xfrm>
            <a:off x="688448" y="455398"/>
            <a:ext cx="6792069" cy="627114"/>
          </a:xfrm>
        </p:spPr>
        <p:txBody>
          <a:bodyPr anchor="b">
            <a:normAutofit/>
          </a:bodyPr>
          <a:lstStyle/>
          <a:p>
            <a:r>
              <a:rPr lang="es-ES" dirty="0"/>
              <a:t>CONCLUSIONES Y LIMITACIONES</a:t>
            </a:r>
          </a:p>
        </p:txBody>
      </p:sp>
      <p:sp>
        <p:nvSpPr>
          <p:cNvPr id="3" name="Título 1">
            <a:extLst>
              <a:ext uri="{FF2B5EF4-FFF2-40B4-BE49-F238E27FC236}">
                <a16:creationId xmlns:a16="http://schemas.microsoft.com/office/drawing/2014/main" id="{E07E4AF2-B54A-3570-CFB3-1C0037E11316}"/>
              </a:ext>
            </a:extLst>
          </p:cNvPr>
          <p:cNvSpPr txBox="1">
            <a:spLocks/>
          </p:cNvSpPr>
          <p:nvPr/>
        </p:nvSpPr>
        <p:spPr>
          <a:xfrm>
            <a:off x="688448" y="1248870"/>
            <a:ext cx="5612753" cy="732094"/>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CONCLUSIONES</a:t>
            </a:r>
          </a:p>
        </p:txBody>
      </p:sp>
      <p:sp>
        <p:nvSpPr>
          <p:cNvPr id="5" name="CuadroTexto 4">
            <a:extLst>
              <a:ext uri="{FF2B5EF4-FFF2-40B4-BE49-F238E27FC236}">
                <a16:creationId xmlns:a16="http://schemas.microsoft.com/office/drawing/2014/main" id="{DA67F3C4-5A25-7554-0908-757F7670EA2B}"/>
              </a:ext>
            </a:extLst>
          </p:cNvPr>
          <p:cNvSpPr txBox="1"/>
          <p:nvPr/>
        </p:nvSpPr>
        <p:spPr>
          <a:xfrm>
            <a:off x="434857" y="1999686"/>
            <a:ext cx="5114441" cy="4426405"/>
          </a:xfrm>
          <a:prstGeom prst="rect">
            <a:avLst/>
          </a:prstGeom>
          <a:noFill/>
        </p:spPr>
        <p:txBody>
          <a:bodyPr wrap="square" rtlCol="0">
            <a:spAutoFit/>
          </a:bodyPr>
          <a:lstStyle/>
          <a:p>
            <a:pPr marL="285750" indent="-285750">
              <a:lnSpc>
                <a:spcPct val="150000"/>
              </a:lnSpc>
              <a:spcAft>
                <a:spcPts val="600"/>
              </a:spcAft>
              <a:buFont typeface="Arial" panose="020B0604020202020204" pitchFamily="34" charset="0"/>
              <a:buChar char="•"/>
            </a:pPr>
            <a:r>
              <a:rPr lang="es-ES" dirty="0"/>
              <a:t>El valor principal está en el ecosistema completo: segmentación, predicción secuencial e interpretabilidad</a:t>
            </a:r>
            <a:r>
              <a:rPr lang="es-ES" b="1" dirty="0"/>
              <a:t>.</a:t>
            </a:r>
          </a:p>
          <a:p>
            <a:pPr marL="285750" indent="-285750">
              <a:lnSpc>
                <a:spcPct val="150000"/>
              </a:lnSpc>
              <a:spcAft>
                <a:spcPts val="600"/>
              </a:spcAft>
              <a:buFont typeface="Arial" panose="020B0604020202020204" pitchFamily="34" charset="0"/>
              <a:buChar char="•"/>
            </a:pPr>
            <a:r>
              <a:rPr lang="es-ES" dirty="0"/>
              <a:t>El </a:t>
            </a:r>
            <a:r>
              <a:rPr lang="es-ES" dirty="0" err="1"/>
              <a:t>Autoencoder</a:t>
            </a:r>
            <a:r>
              <a:rPr lang="es-ES" dirty="0"/>
              <a:t> obtiene representaciones útiles para </a:t>
            </a:r>
            <a:r>
              <a:rPr lang="es-ES" dirty="0" err="1"/>
              <a:t>clustering</a:t>
            </a:r>
            <a:r>
              <a:rPr lang="es-ES" dirty="0"/>
              <a:t> frente a PCA.</a:t>
            </a:r>
          </a:p>
          <a:p>
            <a:pPr marL="285750" indent="-285750">
              <a:lnSpc>
                <a:spcPct val="150000"/>
              </a:lnSpc>
              <a:spcAft>
                <a:spcPts val="600"/>
              </a:spcAft>
              <a:buFont typeface="Arial" panose="020B0604020202020204" pitchFamily="34" charset="0"/>
              <a:buChar char="•"/>
            </a:pPr>
            <a:r>
              <a:rPr lang="es-ES" dirty="0"/>
              <a:t>El agrupamiento por </a:t>
            </a:r>
            <a:r>
              <a:rPr lang="es-ES" dirty="0" err="1"/>
              <a:t>clustering</a:t>
            </a:r>
            <a:r>
              <a:rPr lang="es-ES" dirty="0"/>
              <a:t> desde fases tempranas ya muestra resultados prometedores.</a:t>
            </a:r>
          </a:p>
          <a:p>
            <a:pPr marL="285750" indent="-285750">
              <a:lnSpc>
                <a:spcPct val="150000"/>
              </a:lnSpc>
              <a:spcAft>
                <a:spcPts val="600"/>
              </a:spcAft>
              <a:buFont typeface="Arial" panose="020B0604020202020204" pitchFamily="34" charset="0"/>
              <a:buChar char="•"/>
            </a:pPr>
            <a:r>
              <a:rPr lang="es-ES" dirty="0"/>
              <a:t>XAI permite traducir señales técnicas en hipótesis de intervención pedagógica.</a:t>
            </a:r>
          </a:p>
        </p:txBody>
      </p:sp>
      <p:sp>
        <p:nvSpPr>
          <p:cNvPr id="2" name="CuadroTexto 1">
            <a:extLst>
              <a:ext uri="{FF2B5EF4-FFF2-40B4-BE49-F238E27FC236}">
                <a16:creationId xmlns:a16="http://schemas.microsoft.com/office/drawing/2014/main" id="{5F9A206F-436A-AA98-74AA-36F3965A69C6}"/>
              </a:ext>
            </a:extLst>
          </p:cNvPr>
          <p:cNvSpPr txBox="1"/>
          <p:nvPr/>
        </p:nvSpPr>
        <p:spPr>
          <a:xfrm>
            <a:off x="6022756" y="2093065"/>
            <a:ext cx="5612753" cy="3077766"/>
          </a:xfrm>
          <a:prstGeom prst="rect">
            <a:avLst/>
          </a:prstGeom>
          <a:solidFill>
            <a:schemeClr val="bg1"/>
          </a:solidFill>
        </p:spPr>
        <p:txBody>
          <a:bodyPr wrap="square" rtlCol="0">
            <a:spAutoFit/>
          </a:bodyPr>
          <a:lstStyle/>
          <a:p>
            <a:pPr marL="285750" indent="-285750">
              <a:spcAft>
                <a:spcPts val="1200"/>
              </a:spcAft>
              <a:buFont typeface="Arial" panose="020B0604020202020204" pitchFamily="34" charset="0"/>
              <a:buChar char="•"/>
            </a:pPr>
            <a:r>
              <a:rPr lang="es-ES" dirty="0"/>
              <a:t>Posible </a:t>
            </a:r>
            <a:r>
              <a:rPr lang="es-ES" dirty="0" err="1"/>
              <a:t>sobreingeniería</a:t>
            </a:r>
            <a:r>
              <a:rPr lang="es-ES" dirty="0"/>
              <a:t> en ventanas cortas; arquitectura interesante para secuencias más largas y escalabilidad. </a:t>
            </a:r>
          </a:p>
          <a:p>
            <a:pPr marL="285750" indent="-285750">
              <a:spcAft>
                <a:spcPts val="1200"/>
              </a:spcAft>
              <a:buFont typeface="Arial" panose="020B0604020202020204" pitchFamily="34" charset="0"/>
              <a:buChar char="•"/>
            </a:pPr>
            <a:r>
              <a:rPr lang="es-ES" dirty="0"/>
              <a:t>Dependencia de OULAD</a:t>
            </a:r>
          </a:p>
          <a:p>
            <a:pPr marL="285750" indent="-285750">
              <a:spcAft>
                <a:spcPts val="1200"/>
              </a:spcAft>
              <a:buFont typeface="Arial" panose="020B0604020202020204" pitchFamily="34" charset="0"/>
              <a:buChar char="•"/>
            </a:pPr>
            <a:r>
              <a:rPr lang="es-ES" dirty="0"/>
              <a:t>Aprender a trabajar con resultados imperfectos.</a:t>
            </a:r>
          </a:p>
          <a:p>
            <a:pPr marL="285750" indent="-285750">
              <a:spcAft>
                <a:spcPts val="1200"/>
              </a:spcAft>
              <a:buFont typeface="Arial" panose="020B0604020202020204" pitchFamily="34" charset="0"/>
              <a:buChar char="•"/>
            </a:pPr>
            <a:r>
              <a:rPr lang="es-ES" dirty="0"/>
              <a:t>Elección de número de clústeres. </a:t>
            </a:r>
          </a:p>
          <a:p>
            <a:pPr marL="285750" indent="-285750">
              <a:spcAft>
                <a:spcPts val="1200"/>
              </a:spcAft>
              <a:buFont typeface="Arial" panose="020B0604020202020204" pitchFamily="34" charset="0"/>
              <a:buChar char="•"/>
            </a:pPr>
            <a:r>
              <a:rPr lang="es-ES" dirty="0"/>
              <a:t>Control de fuga de datos.</a:t>
            </a:r>
          </a:p>
          <a:p>
            <a:pPr marL="285750" indent="-285750">
              <a:spcAft>
                <a:spcPts val="1200"/>
              </a:spcAft>
              <a:buFont typeface="Arial" panose="020B0604020202020204" pitchFamily="34" charset="0"/>
              <a:buChar char="•"/>
            </a:pPr>
            <a:r>
              <a:rPr lang="es-ES" dirty="0"/>
              <a:t>Acciones pedagógicas recomendadas</a:t>
            </a:r>
          </a:p>
        </p:txBody>
      </p:sp>
      <p:sp>
        <p:nvSpPr>
          <p:cNvPr id="8" name="Título 1">
            <a:extLst>
              <a:ext uri="{FF2B5EF4-FFF2-40B4-BE49-F238E27FC236}">
                <a16:creationId xmlns:a16="http://schemas.microsoft.com/office/drawing/2014/main" id="{D8B627FD-DAF9-D1FF-A323-F9BDC2BA3C47}"/>
              </a:ext>
            </a:extLst>
          </p:cNvPr>
          <p:cNvSpPr txBox="1">
            <a:spLocks/>
          </p:cNvSpPr>
          <p:nvPr/>
        </p:nvSpPr>
        <p:spPr>
          <a:xfrm>
            <a:off x="688447" y="823211"/>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s-ES" dirty="0"/>
          </a:p>
        </p:txBody>
      </p:sp>
      <p:cxnSp>
        <p:nvCxnSpPr>
          <p:cNvPr id="9" name="Conector recto 8">
            <a:extLst>
              <a:ext uri="{FF2B5EF4-FFF2-40B4-BE49-F238E27FC236}">
                <a16:creationId xmlns:a16="http://schemas.microsoft.com/office/drawing/2014/main" id="{6491FA4B-EB77-A931-B30A-EF7C39C88F80}"/>
              </a:ext>
            </a:extLst>
          </p:cNvPr>
          <p:cNvCxnSpPr>
            <a:cxnSpLocks/>
          </p:cNvCxnSpPr>
          <p:nvPr/>
        </p:nvCxnSpPr>
        <p:spPr>
          <a:xfrm>
            <a:off x="775027" y="1136768"/>
            <a:ext cx="677663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Título 1">
            <a:extLst>
              <a:ext uri="{FF2B5EF4-FFF2-40B4-BE49-F238E27FC236}">
                <a16:creationId xmlns:a16="http://schemas.microsoft.com/office/drawing/2014/main" id="{F52B0446-694C-797B-2D7E-49F7E842F07A}"/>
              </a:ext>
            </a:extLst>
          </p:cNvPr>
          <p:cNvSpPr txBox="1">
            <a:spLocks/>
          </p:cNvSpPr>
          <p:nvPr/>
        </p:nvSpPr>
        <p:spPr>
          <a:xfrm>
            <a:off x="6301201" y="1303127"/>
            <a:ext cx="5733288" cy="627114"/>
          </a:xfrm>
          <a:prstGeom prst="rect">
            <a:avLst/>
          </a:prstGeom>
          <a:solidFill>
            <a:schemeClr val="bg1"/>
          </a:solidFill>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solidFill>
                  <a:srgbClr val="FF6600"/>
                </a:solidFill>
              </a:rPr>
              <a:t>LIMITACIONES</a:t>
            </a:r>
          </a:p>
        </p:txBody>
      </p:sp>
    </p:spTree>
    <p:extLst>
      <p:ext uri="{BB962C8B-B14F-4D97-AF65-F5344CB8AC3E}">
        <p14:creationId xmlns:p14="http://schemas.microsoft.com/office/powerpoint/2010/main" val="3894156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82F2B-BD3B-F1EB-9991-B518BBA6BF92}"/>
            </a:ext>
          </a:extLst>
        </p:cNvPr>
        <p:cNvGrpSpPr/>
        <p:nvPr/>
      </p:nvGrpSpPr>
      <p:grpSpPr>
        <a:xfrm>
          <a:off x="0" y="0"/>
          <a:ext cx="0" cy="0"/>
          <a:chOff x="0" y="0"/>
          <a:chExt cx="0" cy="0"/>
        </a:xfrm>
      </p:grpSpPr>
      <p:sp>
        <p:nvSpPr>
          <p:cNvPr id="6" name="Marcador de fecha 5">
            <a:extLst>
              <a:ext uri="{FF2B5EF4-FFF2-40B4-BE49-F238E27FC236}">
                <a16:creationId xmlns:a16="http://schemas.microsoft.com/office/drawing/2014/main" id="{CEEBF946-4491-D86F-01F0-7C1A704AE820}"/>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049E68FF-9259-4FA1-54E8-74C6415134FC}"/>
              </a:ext>
            </a:extLst>
          </p:cNvPr>
          <p:cNvSpPr>
            <a:spLocks noGrp="1"/>
          </p:cNvSpPr>
          <p:nvPr>
            <p:ph type="sldNum" sz="quarter" idx="12"/>
          </p:nvPr>
        </p:nvSpPr>
        <p:spPr/>
        <p:txBody>
          <a:bodyPr/>
          <a:lstStyle/>
          <a:p>
            <a:pPr rtl="0"/>
            <a:fld id="{DD84031F-D6BF-4677-B12E-7D8B88BA70F7}" type="slidenum">
              <a:rPr lang="en-US" smtClean="0"/>
              <a:t>28</a:t>
            </a:fld>
            <a:endParaRPr lang="en-US"/>
          </a:p>
        </p:txBody>
      </p:sp>
      <p:pic>
        <p:nvPicPr>
          <p:cNvPr id="14" name="Imagen 13">
            <a:extLst>
              <a:ext uri="{FF2B5EF4-FFF2-40B4-BE49-F238E27FC236}">
                <a16:creationId xmlns:a16="http://schemas.microsoft.com/office/drawing/2014/main" id="{A710D3AB-4691-10CC-4E33-94C85515B10C}"/>
              </a:ext>
            </a:extLst>
          </p:cNvPr>
          <p:cNvPicPr>
            <a:picLocks noChangeAspect="1"/>
          </p:cNvPicPr>
          <p:nvPr/>
        </p:nvPicPr>
        <p:blipFill>
          <a:blip r:embed="rId2"/>
          <a:stretch>
            <a:fillRect/>
          </a:stretch>
        </p:blipFill>
        <p:spPr>
          <a:xfrm>
            <a:off x="9918084" y="99023"/>
            <a:ext cx="1871580" cy="799949"/>
          </a:xfrm>
          <a:prstGeom prst="rect">
            <a:avLst/>
          </a:prstGeom>
        </p:spPr>
      </p:pic>
      <p:sp>
        <p:nvSpPr>
          <p:cNvPr id="12" name="CuadroTexto 11">
            <a:extLst>
              <a:ext uri="{FF2B5EF4-FFF2-40B4-BE49-F238E27FC236}">
                <a16:creationId xmlns:a16="http://schemas.microsoft.com/office/drawing/2014/main" id="{0FBDE1E0-D33E-F5F7-FE43-AE7287106925}"/>
              </a:ext>
            </a:extLst>
          </p:cNvPr>
          <p:cNvSpPr txBox="1"/>
          <p:nvPr/>
        </p:nvSpPr>
        <p:spPr>
          <a:xfrm>
            <a:off x="434857" y="2019528"/>
            <a:ext cx="5197847" cy="2923877"/>
          </a:xfrm>
          <a:prstGeom prst="rect">
            <a:avLst/>
          </a:prstGeom>
          <a:solidFill>
            <a:schemeClr val="bg1"/>
          </a:solidFill>
        </p:spPr>
        <p:txBody>
          <a:bodyPr wrap="square" rtlCol="0">
            <a:spAutoFit/>
          </a:bodyPr>
          <a:lstStyle/>
          <a:p>
            <a:pPr marL="285750" indent="-285750">
              <a:spcAft>
                <a:spcPts val="1200"/>
              </a:spcAft>
              <a:buFont typeface="Arial" panose="020B0604020202020204" pitchFamily="34" charset="0"/>
              <a:buChar char="•"/>
            </a:pPr>
            <a:r>
              <a:rPr lang="es-ES" dirty="0"/>
              <a:t>Validación externa: Testeo en otros LMS e instituciones.</a:t>
            </a:r>
          </a:p>
          <a:p>
            <a:pPr marL="285750" indent="-285750">
              <a:spcAft>
                <a:spcPts val="1200"/>
              </a:spcAft>
              <a:buFont typeface="Arial" panose="020B0604020202020204" pitchFamily="34" charset="0"/>
              <a:buChar char="•"/>
            </a:pPr>
            <a:r>
              <a:rPr lang="es-ES" dirty="0"/>
              <a:t>Mejora UX para docentes.</a:t>
            </a:r>
          </a:p>
          <a:p>
            <a:pPr marL="285750" indent="-285750">
              <a:spcAft>
                <a:spcPts val="1200"/>
              </a:spcAft>
              <a:buFont typeface="Arial" panose="020B0604020202020204" pitchFamily="34" charset="0"/>
              <a:buChar char="•"/>
            </a:pPr>
            <a:r>
              <a:rPr lang="es-ES" dirty="0"/>
              <a:t>Unión de salidas de Aprendizaje supervisado y no supervisado. </a:t>
            </a:r>
          </a:p>
          <a:p>
            <a:pPr marL="285750" indent="-285750">
              <a:spcAft>
                <a:spcPts val="1200"/>
              </a:spcAft>
              <a:buFont typeface="Arial" panose="020B0604020202020204" pitchFamily="34" charset="0"/>
              <a:buChar char="•"/>
            </a:pPr>
            <a:r>
              <a:rPr lang="es-ES" dirty="0"/>
              <a:t>Refinamiento de acciones pedagógicas con expertos en la materia</a:t>
            </a:r>
          </a:p>
          <a:p>
            <a:pPr marL="285750" indent="-285750">
              <a:spcAft>
                <a:spcPts val="1200"/>
              </a:spcAft>
              <a:buFont typeface="Arial" panose="020B0604020202020204" pitchFamily="34" charset="0"/>
              <a:buChar char="•"/>
            </a:pPr>
            <a:r>
              <a:rPr lang="es-ES" dirty="0"/>
              <a:t>Sistema de retroalimentación año tras año.</a:t>
            </a:r>
          </a:p>
        </p:txBody>
      </p:sp>
      <p:sp>
        <p:nvSpPr>
          <p:cNvPr id="2" name="Título 1">
            <a:extLst>
              <a:ext uri="{FF2B5EF4-FFF2-40B4-BE49-F238E27FC236}">
                <a16:creationId xmlns:a16="http://schemas.microsoft.com/office/drawing/2014/main" id="{EDE4BD5A-F860-5ADF-971E-E4D352A7A61A}"/>
              </a:ext>
            </a:extLst>
          </p:cNvPr>
          <p:cNvSpPr txBox="1">
            <a:spLocks/>
          </p:cNvSpPr>
          <p:nvPr/>
        </p:nvSpPr>
        <p:spPr>
          <a:xfrm>
            <a:off x="688447" y="823211"/>
            <a:ext cx="6792069" cy="6271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s-ES" dirty="0"/>
              <a:t>LÍNEAS DE TRABAJO A FUTURO</a:t>
            </a:r>
          </a:p>
        </p:txBody>
      </p:sp>
      <p:cxnSp>
        <p:nvCxnSpPr>
          <p:cNvPr id="5" name="Conector recto 4">
            <a:extLst>
              <a:ext uri="{FF2B5EF4-FFF2-40B4-BE49-F238E27FC236}">
                <a16:creationId xmlns:a16="http://schemas.microsoft.com/office/drawing/2014/main" id="{8BD40825-6C90-712D-6255-BCA96F9A90E6}"/>
              </a:ext>
            </a:extLst>
          </p:cNvPr>
          <p:cNvCxnSpPr>
            <a:cxnSpLocks/>
          </p:cNvCxnSpPr>
          <p:nvPr/>
        </p:nvCxnSpPr>
        <p:spPr>
          <a:xfrm>
            <a:off x="775027" y="1476198"/>
            <a:ext cx="6776634" cy="0"/>
          </a:xfrm>
          <a:prstGeom prst="line">
            <a:avLst/>
          </a:prstGeom>
        </p:spPr>
        <p:style>
          <a:lnRef idx="2">
            <a:schemeClr val="accent1"/>
          </a:lnRef>
          <a:fillRef idx="0">
            <a:schemeClr val="accent1"/>
          </a:fillRef>
          <a:effectRef idx="1">
            <a:schemeClr val="accent1"/>
          </a:effectRef>
          <a:fontRef idx="minor">
            <a:schemeClr val="tx1"/>
          </a:fontRef>
        </p:style>
      </p:cxnSp>
      <p:pic>
        <p:nvPicPr>
          <p:cNvPr id="9" name="Imagen 8">
            <a:extLst>
              <a:ext uri="{FF2B5EF4-FFF2-40B4-BE49-F238E27FC236}">
                <a16:creationId xmlns:a16="http://schemas.microsoft.com/office/drawing/2014/main" id="{E01AD569-7E32-820C-DCD9-CFE90F1BA500}"/>
              </a:ext>
            </a:extLst>
          </p:cNvPr>
          <p:cNvPicPr>
            <a:picLocks noChangeAspect="1"/>
          </p:cNvPicPr>
          <p:nvPr/>
        </p:nvPicPr>
        <p:blipFill>
          <a:blip r:embed="rId3"/>
          <a:stretch>
            <a:fillRect/>
          </a:stretch>
        </p:blipFill>
        <p:spPr>
          <a:xfrm>
            <a:off x="5934456" y="1877572"/>
            <a:ext cx="5612898" cy="3065833"/>
          </a:xfrm>
          <a:prstGeom prst="rect">
            <a:avLst/>
          </a:prstGeom>
        </p:spPr>
      </p:pic>
    </p:spTree>
    <p:extLst>
      <p:ext uri="{BB962C8B-B14F-4D97-AF65-F5344CB8AC3E}">
        <p14:creationId xmlns:p14="http://schemas.microsoft.com/office/powerpoint/2010/main" val="386023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5BF17C-1E38-9BA6-BA54-507AE720F31A}"/>
              </a:ext>
            </a:extLst>
          </p:cNvPr>
          <p:cNvSpPr>
            <a:spLocks noGrp="1"/>
          </p:cNvSpPr>
          <p:nvPr>
            <p:ph type="title"/>
          </p:nvPr>
        </p:nvSpPr>
        <p:spPr>
          <a:xfrm>
            <a:off x="318499" y="1668999"/>
            <a:ext cx="11471165" cy="1834999"/>
          </a:xfrm>
          <a:solidFill>
            <a:schemeClr val="bg1"/>
          </a:solidFill>
        </p:spPr>
        <p:txBody>
          <a:bodyPr>
            <a:normAutofit fontScale="90000"/>
          </a:bodyPr>
          <a:lstStyle/>
          <a:p>
            <a:pPr algn="ctr"/>
            <a:r>
              <a:rPr lang="es-ES" sz="5400" dirty="0"/>
              <a:t>¿Preguntas?</a:t>
            </a:r>
            <a:br>
              <a:rPr lang="es-ES" sz="5400" dirty="0"/>
            </a:br>
            <a:br>
              <a:rPr lang="es-ES" sz="5400" dirty="0"/>
            </a:br>
            <a:r>
              <a:rPr lang="es-ES" sz="5400" dirty="0"/>
              <a:t>MUCHAS GRACIAS</a:t>
            </a:r>
          </a:p>
        </p:txBody>
      </p:sp>
      <p:sp>
        <p:nvSpPr>
          <p:cNvPr id="6" name="Marcador de fecha 5">
            <a:extLst>
              <a:ext uri="{FF2B5EF4-FFF2-40B4-BE49-F238E27FC236}">
                <a16:creationId xmlns:a16="http://schemas.microsoft.com/office/drawing/2014/main" id="{863C3F4D-07C3-82E9-001C-5E0FE0F118E7}"/>
              </a:ext>
            </a:extLst>
          </p:cNvPr>
          <p:cNvSpPr>
            <a:spLocks noGrp="1"/>
          </p:cNvSpPr>
          <p:nvPr>
            <p:ph type="dt" sz="half" idx="10"/>
          </p:nvPr>
        </p:nvSpPr>
        <p:spPr/>
        <p:txBody>
          <a:bodyPr/>
          <a:lstStyle/>
          <a:p>
            <a:pPr rtl="0"/>
            <a:r>
              <a:rPr lang="es-ES"/>
              <a:t>4/8/2025</a:t>
            </a:r>
            <a:endParaRPr lang="en-US"/>
          </a:p>
        </p:txBody>
      </p:sp>
      <p:sp>
        <p:nvSpPr>
          <p:cNvPr id="7" name="Marcador de número de diapositiva 6">
            <a:extLst>
              <a:ext uri="{FF2B5EF4-FFF2-40B4-BE49-F238E27FC236}">
                <a16:creationId xmlns:a16="http://schemas.microsoft.com/office/drawing/2014/main" id="{E6A7E4BA-18C5-9E56-9A7F-DCB6DB9189C9}"/>
              </a:ext>
            </a:extLst>
          </p:cNvPr>
          <p:cNvSpPr>
            <a:spLocks noGrp="1"/>
          </p:cNvSpPr>
          <p:nvPr>
            <p:ph type="sldNum" sz="quarter" idx="12"/>
          </p:nvPr>
        </p:nvSpPr>
        <p:spPr/>
        <p:txBody>
          <a:bodyPr/>
          <a:lstStyle/>
          <a:p>
            <a:pPr rtl="0"/>
            <a:fld id="{DD84031F-D6BF-4677-B12E-7D8B88BA70F7}" type="slidenum">
              <a:rPr lang="en-US" smtClean="0"/>
              <a:t>29</a:t>
            </a:fld>
            <a:endParaRPr lang="en-US"/>
          </a:p>
        </p:txBody>
      </p:sp>
      <p:pic>
        <p:nvPicPr>
          <p:cNvPr id="3" name="Imagen 2">
            <a:extLst>
              <a:ext uri="{FF2B5EF4-FFF2-40B4-BE49-F238E27FC236}">
                <a16:creationId xmlns:a16="http://schemas.microsoft.com/office/drawing/2014/main" id="{179DFEC1-04B7-DE56-1E18-2F6FEF7B9B9F}"/>
              </a:ext>
            </a:extLst>
          </p:cNvPr>
          <p:cNvPicPr>
            <a:picLocks noChangeAspect="1"/>
          </p:cNvPicPr>
          <p:nvPr/>
        </p:nvPicPr>
        <p:blipFill>
          <a:blip r:embed="rId2"/>
          <a:stretch>
            <a:fillRect/>
          </a:stretch>
        </p:blipFill>
        <p:spPr>
          <a:xfrm>
            <a:off x="9918084" y="99023"/>
            <a:ext cx="1871580" cy="799949"/>
          </a:xfrm>
          <a:prstGeom prst="rect">
            <a:avLst/>
          </a:prstGeom>
        </p:spPr>
      </p:pic>
      <p:pic>
        <p:nvPicPr>
          <p:cNvPr id="9" name="Imagen 8">
            <a:extLst>
              <a:ext uri="{FF2B5EF4-FFF2-40B4-BE49-F238E27FC236}">
                <a16:creationId xmlns:a16="http://schemas.microsoft.com/office/drawing/2014/main" id="{D131A5B6-FDE6-C62C-BD85-C479A9C3814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4449" y="3873330"/>
            <a:ext cx="2072212" cy="2072212"/>
          </a:xfrm>
          <a:prstGeom prst="rect">
            <a:avLst/>
          </a:prstGeom>
          <a:noFill/>
          <a:ln>
            <a:noFill/>
          </a:ln>
        </p:spPr>
      </p:pic>
      <p:sp>
        <p:nvSpPr>
          <p:cNvPr id="10" name="CuadroTexto 9">
            <a:extLst>
              <a:ext uri="{FF2B5EF4-FFF2-40B4-BE49-F238E27FC236}">
                <a16:creationId xmlns:a16="http://schemas.microsoft.com/office/drawing/2014/main" id="{915C1649-BB4C-189F-EAF0-64FF12129697}"/>
              </a:ext>
            </a:extLst>
          </p:cNvPr>
          <p:cNvSpPr txBox="1"/>
          <p:nvPr/>
        </p:nvSpPr>
        <p:spPr>
          <a:xfrm>
            <a:off x="9302984" y="5945542"/>
            <a:ext cx="2155142" cy="369332"/>
          </a:xfrm>
          <a:prstGeom prst="rect">
            <a:avLst/>
          </a:prstGeom>
          <a:noFill/>
        </p:spPr>
        <p:txBody>
          <a:bodyPr wrap="none" rtlCol="0">
            <a:spAutoFit/>
          </a:bodyPr>
          <a:lstStyle/>
          <a:p>
            <a:r>
              <a:rPr lang="es-ES" dirty="0"/>
              <a:t>Repositorio del TFM</a:t>
            </a:r>
          </a:p>
        </p:txBody>
      </p:sp>
    </p:spTree>
    <p:extLst>
      <p:ext uri="{BB962C8B-B14F-4D97-AF65-F5344CB8AC3E}">
        <p14:creationId xmlns:p14="http://schemas.microsoft.com/office/powerpoint/2010/main" val="3791859124"/>
      </p:ext>
    </p:extLst>
  </p:cSld>
  <p:clrMapOvr>
    <a:masterClrMapping/>
  </p:clrMapOvr>
</p:sld>
</file>

<file path=ppt/theme/theme1.xml><?xml version="1.0" encoding="utf-8"?>
<a:theme xmlns:a="http://schemas.openxmlformats.org/drawingml/2006/main" name="Línea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4682</TotalTime>
  <Words>2665</Words>
  <Application>Microsoft Office PowerPoint</Application>
  <PresentationFormat>Panorámica</PresentationFormat>
  <Paragraphs>419</Paragraphs>
  <Slides>29</Slides>
  <Notes>12</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29</vt:i4>
      </vt:variant>
    </vt:vector>
  </HeadingPairs>
  <TitlesOfParts>
    <vt:vector size="39" baseType="lpstr">
      <vt:lpstr>Aptos</vt:lpstr>
      <vt:lpstr>Arial</vt:lpstr>
      <vt:lpstr>Arial Nova Light</vt:lpstr>
      <vt:lpstr>CMU Serif</vt:lpstr>
      <vt:lpstr>Courier New</vt:lpstr>
      <vt:lpstr>Google Sans Text</vt:lpstr>
      <vt:lpstr>Segoe UI</vt:lpstr>
      <vt:lpstr>Univers Condensed</vt:lpstr>
      <vt:lpstr>Wingdings</vt:lpstr>
      <vt:lpstr>Líneas</vt:lpstr>
      <vt:lpstr>Presentación de PowerPoint</vt:lpstr>
      <vt:lpstr>Presentación de PowerPoint</vt:lpstr>
      <vt:lpstr>Objetivos</vt:lpstr>
      <vt:lpstr>ESTADO DEL ARTE y Aportación</vt:lpstr>
      <vt:lpstr>DATASET OULAD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MODELADO II</vt:lpstr>
      <vt:lpstr>MODELADO III</vt:lpstr>
      <vt:lpstr>MODELADO IV</vt:lpstr>
      <vt:lpstr>MODELADO V</vt:lpstr>
      <vt:lpstr>Presentación de PowerPoint</vt:lpstr>
      <vt:lpstr>RESULTADOS I</vt:lpstr>
      <vt:lpstr>RESULTADOS II</vt:lpstr>
      <vt:lpstr>RESULTADOS III</vt:lpstr>
      <vt:lpstr>XAI (IA Explicable) I</vt:lpstr>
      <vt:lpstr>XAI (IA Explicable)</vt:lpstr>
      <vt:lpstr>XAI (IA Explicable)</vt:lpstr>
      <vt:lpstr>CONCLUSIONES Y LIMITACIONES</vt:lpstr>
      <vt:lpstr>Presentación de PowerPoint</vt:lpstr>
      <vt:lpstr>¿Preguntas?  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Luis González</dc:creator>
  <cp:lastModifiedBy>Michael Luis González</cp:lastModifiedBy>
  <cp:revision>40</cp:revision>
  <dcterms:created xsi:type="dcterms:W3CDTF">2026-03-19T12:48:53Z</dcterms:created>
  <dcterms:modified xsi:type="dcterms:W3CDTF">2026-04-25T12:10:11Z</dcterms:modified>
</cp:coreProperties>
</file>